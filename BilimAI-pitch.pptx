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Hours per week</c:v>
                </c:pt>
              </c:strCache>
            </c:strRef>
          </c:tx>
          <c:spPr>
            <a:solidFill>
              <a:srgbClr val="2158E8"/>
            </a:solidFill>
            <a:effectLst/>
          </c:spPr>
          <c:invertIfNegative val="0"/>
          <c:dLbls>
            <c:numFmt formatCode="General" sourceLinked="0"/>
            <c:txPr>
              <a:bodyPr/>
              <a:lstStyle/>
              <a:p>
                <a:pPr>
                  <a:defRPr b="1" i="0" strike="noStrike" sz="1200" u="none">
                    <a:solidFill>
                      <a:srgbClr val="111A33"/>
                    </a:solidFill>
                    <a:latin typeface="Arial"/>
                  </a:defRPr>
                </a:pPr>
              </a:p>
            </c:txPr>
            <c:showLegendKey val="0"/>
            <c:showVal val="1"/>
            <c:showCatName val="0"/>
            <c:showSerName val="0"/>
            <c:showPercent val="0"/>
            <c:showBubbleSize val="0"/>
            <c:showLeaderLines val="0"/>
          </c:dLbls>
          <c:cat>
            <c:multiLvlStrRef>
              <c:f>Sheet1!$A$2:$A$4</c:f>
              <c:multiLvlStrCache>
                <c:ptCount val="3"/>
                <c:lvl>
                  <c:pt idx="0">
                    <c:v>England</c:v>
                  </c:pt>
                  <c:pt idx="1">
                    <c:v>Singapore</c:v>
                  </c:pt>
                  <c:pt idx="2">
                    <c:v>OECD average</c:v>
                  </c:pt>
                </c:lvl>
              </c:multiLvlStrCache>
            </c:multiLvlStrRef>
          </c:cat>
          <c:val>
            <c:numRef>
              <c:f>Sheet1!$B$2:$B$4</c:f>
              <c:numCache>
                <c:formatCode>General</c:formatCode>
                <c:ptCount val="3"/>
                <c:pt idx="0">
                  <c:v>49.5</c:v>
                </c:pt>
                <c:pt idx="1">
                  <c:v>47</c:v>
                </c:pt>
                <c:pt idx="2">
                  <c:v>41</c:v>
                </c:pt>
              </c:numCache>
            </c:numRef>
          </c:val>
        </c:ser>
        <c:dLbls>
          <c:numFmt formatCode="General" sourceLinked="0"/>
          <c:txPr>
            <a:bodyPr/>
            <a:lstStyle/>
            <a:p>
              <a:pPr>
                <a:defRPr b="1" i="0" strike="noStrike" sz="1200" u="none">
                  <a:solidFill>
                    <a:srgbClr val="111A33"/>
                  </a:solidFill>
                  <a:latin typeface="Arial"/>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6304A"/>
                </a:solidFill>
                <a:latin typeface="Arial"/>
              </a:defRPr>
            </a:pPr>
            <a:endParaRPr lang="en-US"/>
          </a:p>
        </c:txPr>
        <c:crossAx val="2094734552"/>
        <c:crosses val="autoZero"/>
        <c:auto val="1"/>
        <c:lblAlgn val="ctr"/>
        <c:noMultiLvlLbl val="1"/>
      </c:catAx>
      <c:valAx>
        <c:axId val="2094734552"/>
        <c:scaling>
          <c:orientation val="minMax"/>
          <c:max val="55"/>
          <c:min val="0"/>
        </c:scaling>
        <c:delete val="0"/>
        <c:axPos val="b"/>
        <c:majorGridlines>
          <c:spPr>
            <a:ln w="6350" cap="flat">
              <a:solidFill>
                <a:srgbClr val="E3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Schools</c:v>
                </c:pt>
              </c:strCache>
            </c:strRef>
          </c:tx>
          <c:spPr>
            <a:solidFill>
              <a:schemeClr val="accent1"/>
            </a:solidFill>
            <a:ln w="9525" cap="flat">
              <a:solidFill>
                <a:srgbClr val="F9F9F9"/>
              </a:solidFill>
              <a:prstDash val="solid"/>
              <a:round/>
            </a:ln>
            <a:effectLst/>
          </c:spPr>
          <c:dPt>
            <c:idx val="0"/>
            <c:bubble3D val="0"/>
            <c:spPr>
              <a:solidFill>
                <a:srgbClr val="2158E8"/>
              </a:solidFill>
              <a:effectLst/>
            </c:spPr>
          </c:dPt>
          <c:dPt>
            <c:idx val="1"/>
            <c:bubble3D val="0"/>
            <c:spPr>
              <a:solidFill>
                <a:srgbClr val="CBD5E1"/>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In the trial</c:v>
                </c:pt>
                <c:pt idx="1">
                  <c:v>Other schools</c:v>
                </c:pt>
              </c:strCache>
            </c:strRef>
          </c:cat>
          <c:val>
            <c:numRef>
              <c:f>Sheet1!$B$2:$B$3</c:f>
              <c:numCache>
                <c:ptCount val="2"/>
                <c:pt idx="0">
                  <c:v>25</c:v>
                </c:pt>
                <c:pt idx="1">
                  <c:v>75</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Effect size</c:v>
                </c:pt>
              </c:strCache>
            </c:strRef>
          </c:tx>
          <c:spPr>
            <a:solidFill>
              <a:srgbClr val="2158E8"/>
            </a:solidFill>
            <a:effectLst/>
          </c:spPr>
          <c:invertIfNegative val="0"/>
          <c:dLbls>
            <c:numFmt formatCode="0.00" sourceLinked="0"/>
            <c:txPr>
              <a:bodyPr/>
              <a:lstStyle/>
              <a:p>
                <a:pPr>
                  <a:defRPr b="1" i="0" strike="noStrike" sz="1200" u="none">
                    <a:solidFill>
                      <a:srgbClr val="111A33"/>
                    </a:solidFill>
                    <a:latin typeface="Arial"/>
                  </a:defRPr>
                </a:pPr>
              </a:p>
            </c:txPr>
            <c:showLegendKey val="0"/>
            <c:showVal val="1"/>
            <c:showCatName val="0"/>
            <c:showSerName val="0"/>
            <c:showPercent val="0"/>
            <c:showBubbleSize val="0"/>
            <c:showLeaderLines val="0"/>
          </c:dLbls>
          <c:cat>
            <c:multiLvlStrRef>
              <c:f>Sheet1!$A$2:$A$3</c:f>
              <c:multiLvlStrCache>
                <c:ptCount val="2"/>
                <c:lvl>
                  <c:pt idx="0">
                    <c:v>Fleckenstein et al. 2023
(20 studies, n=2,828)</c:v>
                  </c:pt>
                  <c:pt idx="1">
                    <c:v>Zhai &amp; Ma 2023
(26 studies, n=2,468)</c:v>
                  </c:pt>
                </c:lvl>
              </c:multiLvlStrCache>
            </c:multiLvlStrRef>
          </c:cat>
          <c:val>
            <c:numRef>
              <c:f>Sheet1!$B$2:$B$3</c:f>
              <c:numCache>
                <c:formatCode>General</c:formatCode>
                <c:ptCount val="2"/>
                <c:pt idx="0">
                  <c:v>0.55</c:v>
                </c:pt>
                <c:pt idx="1">
                  <c:v>0.861</c:v>
                </c:pt>
              </c:numCache>
            </c:numRef>
          </c:val>
        </c:ser>
        <c:dLbls>
          <c:numFmt formatCode="0.00" sourceLinked="0"/>
          <c:txPr>
            <a:bodyPr/>
            <a:lstStyle/>
            <a:p>
              <a:pPr>
                <a:defRPr b="1" i="0" strike="noStrike" sz="1200" u="none">
                  <a:solidFill>
                    <a:srgbClr val="111A33"/>
                  </a:solidFill>
                  <a:latin typeface="Arial"/>
                </a:defRPr>
              </a:pPr>
            </a:p>
          </c:txPr>
          <c:showLegendKey val="0"/>
          <c:showVal val="1"/>
          <c:showCatName val="0"/>
          <c:showSerName val="0"/>
          <c:showPercent val="0"/>
          <c:showBubbleSize val="0"/>
          <c:showLeaderLines val="0"/>
        </c:dLbls>
        <c:gapWidth val="11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6304A"/>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E3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Hours per week</c:v>
                </c:pt>
              </c:strCache>
            </c:strRef>
          </c:tx>
          <c:spPr>
            <a:solidFill>
              <a:srgbClr val="2158E8"/>
            </a:solidFill>
            <a:effectLst/>
          </c:spPr>
          <c:invertIfNegative val="0"/>
          <c:dLbls>
            <c:numFmt formatCode="General" sourceLinked="0"/>
            <c:txPr>
              <a:bodyPr/>
              <a:lstStyle/>
              <a:p>
                <a:pPr>
                  <a:defRPr b="1" i="0" strike="noStrike" sz="1200" u="none">
                    <a:solidFill>
                      <a:srgbClr val="111A33"/>
                    </a:solidFill>
                    <a:latin typeface="Arial"/>
                  </a:defRPr>
                </a:pPr>
              </a:p>
            </c:txPr>
            <c:showLegendKey val="0"/>
            <c:showVal val="1"/>
            <c:showCatName val="0"/>
            <c:showSerName val="0"/>
            <c:showPercent val="0"/>
            <c:showBubbleSize val="0"/>
            <c:showLeaderLines val="0"/>
          </c:dLbls>
          <c:dPt>
            <c:idx val="0"/>
            <c:invertIfNegative val="0"/>
            <c:bubble3D val="0"/>
            <c:spPr>
              <a:solidFill>
                <a:srgbClr val="2158E8"/>
              </a:solidFill>
              <a:effectLst/>
            </c:spPr>
          </c:dPt>
          <c:dPt>
            <c:idx val="1"/>
            <c:invertIfNegative val="0"/>
            <c:bubble3D val="0"/>
            <c:spPr>
              <a:solidFill>
                <a:srgbClr val="D97706"/>
              </a:solidFill>
              <a:effectLst/>
            </c:spPr>
          </c:dPt>
          <c:cat>
            <c:multiLvlStrRef>
              <c:f>Sheet1!$A$2:$A$3</c:f>
              <c:multiLvlStrCache>
                <c:ptCount val="2"/>
                <c:lvl>
                  <c:pt idx="0">
                    <c:v>Today (typical)</c:v>
                  </c:pt>
                  <c:pt idx="1">
                    <c:v>With BilimAI</c:v>
                  </c:pt>
                </c:lvl>
              </c:multiLvlStrCache>
            </c:multiLvlStrRef>
          </c:cat>
          <c:val>
            <c:numRef>
              <c:f>Sheet1!$B$2:$B$3</c:f>
              <c:numCache>
                <c:formatCode>General</c:formatCode>
                <c:ptCount val="2"/>
                <c:pt idx="0">
                  <c:v>5</c:v>
                </c:pt>
                <c:pt idx="1">
                  <c:v>1.25</c:v>
                </c:pt>
              </c:numCache>
            </c:numRef>
          </c:val>
        </c:ser>
        <c:dLbls>
          <c:numFmt formatCode="General" sourceLinked="0"/>
          <c:txPr>
            <a:bodyPr/>
            <a:lstStyle/>
            <a:p>
              <a:pPr>
                <a:defRPr b="1" i="0" strike="noStrike" sz="1200" u="none">
                  <a:solidFill>
                    <a:srgbClr val="111A33"/>
                  </a:solidFill>
                  <a:latin typeface="Arial"/>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6304A"/>
                </a:solidFill>
                <a:latin typeface="Arial"/>
              </a:defRPr>
            </a:pPr>
            <a:endParaRPr lang="en-US"/>
          </a:p>
        </c:txPr>
        <c:crossAx val="2094734552"/>
        <c:crosses val="autoZero"/>
        <c:auto val="1"/>
        <c:lblAlgn val="ctr"/>
        <c:noMultiLvlLbl val="1"/>
      </c:catAx>
      <c:valAx>
        <c:axId val="2094734552"/>
        <c:scaling>
          <c:orientation val="minMax"/>
          <c:max val="6"/>
          <c:min val="0"/>
        </c:scaling>
        <c:delete val="0"/>
        <c:axPos val="b"/>
        <c:majorGridlines>
          <c:spPr>
            <a:ln w="6350" cap="flat">
              <a:solidFill>
                <a:srgbClr val="E3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Market size ($B)</c:v>
                </c:pt>
              </c:strCache>
            </c:strRef>
          </c:tx>
          <c:spPr>
            <a:solidFill>
              <a:srgbClr val="2158E8"/>
            </a:solidFill>
            <a:effectLst/>
          </c:spPr>
          <c:invertIfNegative val="0"/>
          <c:dLbls>
            <c:numFmt formatCode="General" sourceLinked="0"/>
            <c:txPr>
              <a:bodyPr/>
              <a:lstStyle/>
              <a:p>
                <a:pPr>
                  <a:defRPr b="1" i="0" strike="noStrike" sz="1050" u="none">
                    <a:solidFill>
                      <a:srgbClr val="111A33"/>
                    </a:solidFill>
                    <a:latin typeface="Arial"/>
                  </a:defRPr>
                </a:pPr>
              </a:p>
            </c:txPr>
            <c:showLegendKey val="0"/>
            <c:showVal val="1"/>
            <c:showCatName val="0"/>
            <c:showSerName val="0"/>
            <c:showPercent val="0"/>
            <c:showBubbleSize val="0"/>
            <c:showLeaderLines val="0"/>
          </c:dLbls>
          <c:cat>
            <c:multiLvlStrRef>
              <c:f>Sheet1!$A$2:$A$8</c:f>
              <c:multiLvlStrCache>
                <c:ptCount val="7"/>
                <c:lvl>
                  <c:pt idx="0">
                    <c:v>2024</c:v>
                  </c:pt>
                  <c:pt idx="1">
                    <c:v>2025</c:v>
                  </c:pt>
                  <c:pt idx="2">
                    <c:v>2026</c:v>
                  </c:pt>
                  <c:pt idx="3">
                    <c:v>2027</c:v>
                  </c:pt>
                  <c:pt idx="4">
                    <c:v>2028</c:v>
                  </c:pt>
                  <c:pt idx="5">
                    <c:v>2029</c:v>
                  </c:pt>
                  <c:pt idx="6">
                    <c:v>2030</c:v>
                  </c:pt>
                </c:lvl>
              </c:multiLvlStrCache>
            </c:multiLvlStrRef>
          </c:cat>
          <c:val>
            <c:numRef>
              <c:f>Sheet1!$B$2:$B$8</c:f>
              <c:numCache>
                <c:formatCode>General</c:formatCode>
                <c:ptCount val="7"/>
                <c:pt idx="0">
                  <c:v>5.9</c:v>
                </c:pt>
                <c:pt idx="1">
                  <c:v>7.8</c:v>
                </c:pt>
                <c:pt idx="2">
                  <c:v>10.4</c:v>
                </c:pt>
                <c:pt idx="3">
                  <c:v>13.8</c:v>
                </c:pt>
                <c:pt idx="4">
                  <c:v>18.3</c:v>
                </c:pt>
                <c:pt idx="5">
                  <c:v>24.3</c:v>
                </c:pt>
                <c:pt idx="6">
                  <c:v>32.3</c:v>
                </c:pt>
              </c:numCache>
            </c:numRef>
          </c:val>
        </c:ser>
        <c:dLbls>
          <c:numFmt formatCode="General" sourceLinked="0"/>
          <c:txPr>
            <a:bodyPr/>
            <a:lstStyle/>
            <a:p>
              <a:pPr>
                <a:defRPr b="1" i="0" strike="noStrike" sz="1050" u="none">
                  <a:solidFill>
                    <a:srgbClr val="111A3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6304A"/>
                </a:solidFill>
                <a:latin typeface="Arial"/>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6350" cap="flat">
              <a:solidFill>
                <a:srgbClr val="E3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BilimAI: AI grading assistant for written assignments. Pitch to government-sponsored investors.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A33"/>
        </a:solidFill>
      </p:bgPr>
    </p:bg>
    <p:spTree>
      <p:nvGrpSpPr>
        <p:cNvPr id="1" name=""/>
        <p:cNvGrpSpPr/>
        <p:nvPr/>
      </p:nvGrpSpPr>
      <p:grpSpPr>
        <a:xfrm>
          <a:off x="0" y="0"/>
          <a:ext cx="0" cy="0"/>
          <a:chOff x="0" y="0"/>
          <a:chExt cx="0" cy="0"/>
        </a:xfrm>
      </p:grpSpPr>
      <p:sp>
        <p:nvSpPr>
          <p:cNvPr id="2" name="Shape 0"/>
          <p:cNvSpPr/>
          <p:nvPr/>
        </p:nvSpPr>
        <p:spPr>
          <a:xfrm>
            <a:off x="9052560" y="0"/>
            <a:ext cx="3136392" cy="6858000"/>
          </a:xfrm>
          <a:prstGeom prst="rect">
            <a:avLst/>
          </a:prstGeom>
          <a:solidFill>
            <a:srgbClr val="18244A"/>
          </a:solidFill>
          <a:ln/>
        </p:spPr>
      </p:sp>
      <p:sp>
        <p:nvSpPr>
          <p:cNvPr id="3" name="Shape 1"/>
          <p:cNvSpPr/>
          <p:nvPr/>
        </p:nvSpPr>
        <p:spPr>
          <a:xfrm>
            <a:off x="9646920" y="2542032"/>
            <a:ext cx="1920240" cy="1920240"/>
          </a:xfrm>
          <a:prstGeom prst="ellipse">
            <a:avLst/>
          </a:prstGeom>
          <a:solidFill>
            <a:srgbClr val="22315E"/>
          </a:solidFill>
          <a:ln/>
        </p:spPr>
      </p:sp>
      <p:pic>
        <p:nvPicPr>
          <p:cNvPr id="4" name="Image 0" descr="/private/tmp/claude-501/-Users-furb-x-Desktop-My-Projects/d365b27d-a89f-47fc-8734-df20f634a92b/scratchpad/bilimai/icons/pencil-cream.png">    </p:cNvPr>
          <p:cNvPicPr>
            <a:picLocks noChangeAspect="1"/>
          </p:cNvPicPr>
          <p:nvPr/>
        </p:nvPicPr>
        <p:blipFill>
          <a:blip r:embed="rId1"/>
          <a:stretch>
            <a:fillRect/>
          </a:stretch>
        </p:blipFill>
        <p:spPr>
          <a:xfrm>
            <a:off x="10168128" y="3063240"/>
            <a:ext cx="877824" cy="877824"/>
          </a:xfrm>
          <a:prstGeom prst="rect">
            <a:avLst/>
          </a:prstGeom>
        </p:spPr>
      </p:pic>
      <p:sp>
        <p:nvSpPr>
          <p:cNvPr id="5" name="Text 2"/>
          <p:cNvSpPr/>
          <p:nvPr/>
        </p:nvSpPr>
        <p:spPr>
          <a:xfrm>
            <a:off x="822960" y="1554480"/>
            <a:ext cx="7315200" cy="320040"/>
          </a:xfrm>
          <a:prstGeom prst="rect">
            <a:avLst/>
          </a:prstGeom>
          <a:noFill/>
          <a:ln/>
        </p:spPr>
        <p:txBody>
          <a:bodyPr wrap="square" lIns="0" tIns="0" rIns="0" bIns="0" rtlCol="0" anchor="ctr"/>
          <a:lstStyle/>
          <a:p>
            <a:pPr indent="0" marL="0">
              <a:buNone/>
            </a:pPr>
            <a:r>
              <a:rPr lang="en-US" sz="1400" b="1" spc="300" kern="0" dirty="0">
                <a:solidFill>
                  <a:srgbClr val="8FB0F0"/>
                </a:solidFill>
                <a:latin typeface="Calibri" pitchFamily="34" charset="0"/>
                <a:ea typeface="Calibri" pitchFamily="34" charset="-122"/>
                <a:cs typeface="Calibri" pitchFamily="34" charset="-120"/>
              </a:rPr>
              <a:t>BILIMAI · TASHKENT · 2026</a:t>
            </a:r>
            <a:endParaRPr lang="en-US" sz="1400" dirty="0"/>
          </a:p>
        </p:txBody>
      </p:sp>
      <p:sp>
        <p:nvSpPr>
          <p:cNvPr id="6" name="Text 3"/>
          <p:cNvSpPr/>
          <p:nvPr/>
        </p:nvSpPr>
        <p:spPr>
          <a:xfrm>
            <a:off x="777240" y="1920240"/>
            <a:ext cx="7863840" cy="1371600"/>
          </a:xfrm>
          <a:prstGeom prst="rect">
            <a:avLst/>
          </a:prstGeom>
          <a:noFill/>
          <a:ln/>
        </p:spPr>
        <p:txBody>
          <a:bodyPr wrap="square" lIns="0" tIns="0" rIns="0" bIns="0" rtlCol="0" anchor="ctr"/>
          <a:lstStyle/>
          <a:p>
            <a:pPr indent="0" marL="0">
              <a:buNone/>
            </a:pPr>
            <a:r>
              <a:rPr lang="en-US" sz="8000" b="1" dirty="0">
                <a:solidFill>
                  <a:srgbClr val="FFFFFF"/>
                </a:solidFill>
                <a:latin typeface="Calibri" pitchFamily="34" charset="0"/>
                <a:ea typeface="Calibri" pitchFamily="34" charset="-122"/>
                <a:cs typeface="Calibri" pitchFamily="34" charset="-120"/>
              </a:rPr>
              <a:t>Bilim</a:t>
            </a:r>
            <a:pPr indent="0" marL="0">
              <a:buNone/>
            </a:pPr>
            <a:r>
              <a:rPr lang="en-US" sz="8000" b="1" dirty="0">
                <a:solidFill>
                  <a:srgbClr val="5B8BF5"/>
                </a:solidFill>
                <a:latin typeface="Calibri" pitchFamily="34" charset="0"/>
                <a:ea typeface="Calibri" pitchFamily="34" charset="-122"/>
                <a:cs typeface="Calibri" pitchFamily="34" charset="-120"/>
              </a:rPr>
              <a:t>AI</a:t>
            </a:r>
            <a:endParaRPr lang="en-US" sz="8000" dirty="0"/>
          </a:p>
        </p:txBody>
      </p:sp>
      <p:sp>
        <p:nvSpPr>
          <p:cNvPr id="7" name="Text 4"/>
          <p:cNvSpPr/>
          <p:nvPr/>
        </p:nvSpPr>
        <p:spPr>
          <a:xfrm>
            <a:off x="822960" y="3429000"/>
            <a:ext cx="7406640" cy="914400"/>
          </a:xfrm>
          <a:prstGeom prst="rect">
            <a:avLst/>
          </a:prstGeom>
          <a:noFill/>
          <a:ln/>
        </p:spPr>
        <p:txBody>
          <a:bodyPr wrap="square" lIns="0" tIns="0" rIns="0" bIns="0" rtlCol="0" anchor="ctr"/>
          <a:lstStyle/>
          <a:p>
            <a:pPr indent="0" marL="0">
              <a:buNone/>
            </a:pPr>
            <a:r>
              <a:rPr lang="en-US" sz="2200" dirty="0">
                <a:solidFill>
                  <a:srgbClr val="D8E4FA"/>
                </a:solidFill>
                <a:latin typeface="Calibri" pitchFamily="34" charset="0"/>
                <a:ea typeface="Calibri" pitchFamily="34" charset="-122"/>
                <a:cs typeface="Calibri" pitchFamily="34" charset="-120"/>
              </a:rPr>
              <a:t>AI that reads, checks and grades students’ written work — so teachers can teach.</a:t>
            </a:r>
            <a:endParaRPr lang="en-US" sz="2200" dirty="0"/>
          </a:p>
        </p:txBody>
      </p:sp>
      <p:sp>
        <p:nvSpPr>
          <p:cNvPr id="8" name="Text 5"/>
          <p:cNvSpPr/>
          <p:nvPr/>
        </p:nvSpPr>
        <p:spPr>
          <a:xfrm>
            <a:off x="822960" y="5394960"/>
            <a:ext cx="7315200" cy="365760"/>
          </a:xfrm>
          <a:prstGeom prst="rect">
            <a:avLst/>
          </a:prstGeom>
          <a:noFill/>
          <a:ln/>
        </p:spPr>
        <p:txBody>
          <a:bodyPr wrap="square" lIns="0" tIns="0" rIns="0" bIns="0" rtlCol="0" anchor="ctr"/>
          <a:lstStyle/>
          <a:p>
            <a:pPr indent="0" marL="0">
              <a:buNone/>
            </a:pPr>
            <a:r>
              <a:rPr lang="en-US" sz="1400" dirty="0">
                <a:solidFill>
                  <a:srgbClr val="8FA3C8"/>
                </a:solidFill>
                <a:latin typeface="Calibri" pitchFamily="34" charset="0"/>
                <a:ea typeface="Calibri" pitchFamily="34" charset="-122"/>
                <a:cs typeface="Calibri" pitchFamily="34" charset="-120"/>
              </a:rPr>
              <a:t>Investment proposal for government-sponsored investors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indent="0" marL="0">
              <a:buNone/>
            </a:pPr>
            <a:r>
              <a:rPr lang="en-US" sz="1300" b="1" spc="200" kern="0" dirty="0">
                <a:solidFill>
                  <a:srgbClr val="2158E8"/>
                </a:solidFill>
                <a:latin typeface="Calibri" pitchFamily="34" charset="0"/>
                <a:ea typeface="Calibri" pitchFamily="34" charset="-122"/>
                <a:cs typeface="Calibri" pitchFamily="34" charset="-120"/>
              </a:rPr>
              <a:t>THE PROBLEM</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11A33"/>
                </a:solidFill>
                <a:latin typeface="Calibri" pitchFamily="34" charset="0"/>
                <a:ea typeface="Calibri" pitchFamily="34" charset="-122"/>
                <a:cs typeface="Calibri" pitchFamily="34" charset="-120"/>
              </a:rPr>
              <a:t>Teachers spend their evenings marking, not teaching</a:t>
            </a:r>
            <a:endParaRPr lang="en-US" sz="3400" dirty="0"/>
          </a:p>
        </p:txBody>
      </p:sp>
      <p:sp>
        <p:nvSpPr>
          <p:cNvPr id="4" name="Text 2"/>
          <p:cNvSpPr/>
          <p:nvPr/>
        </p:nvSpPr>
        <p:spPr>
          <a:xfrm>
            <a:off x="548640" y="1783080"/>
            <a:ext cx="3291840" cy="658368"/>
          </a:xfrm>
          <a:prstGeom prst="rect">
            <a:avLst/>
          </a:prstGeom>
          <a:noFill/>
          <a:ln/>
        </p:spPr>
        <p:txBody>
          <a:bodyPr wrap="square" lIns="0" tIns="0" rIns="0" bIns="0" rtlCol="0" anchor="ctr"/>
          <a:lstStyle/>
          <a:p>
            <a:pPr indent="0" marL="0">
              <a:buNone/>
            </a:pPr>
            <a:r>
              <a:rPr lang="en-US" sz="4400" b="1" dirty="0">
                <a:solidFill>
                  <a:srgbClr val="2158E8"/>
                </a:solidFill>
                <a:latin typeface="Calibri" pitchFamily="34" charset="0"/>
                <a:ea typeface="Calibri" pitchFamily="34" charset="-122"/>
                <a:cs typeface="Calibri" pitchFamily="34" charset="-120"/>
              </a:rPr>
              <a:t>41 h</a:t>
            </a:r>
            <a:endParaRPr lang="en-US" sz="4400" dirty="0"/>
          </a:p>
        </p:txBody>
      </p:sp>
      <p:sp>
        <p:nvSpPr>
          <p:cNvPr id="5" name="Text 3"/>
          <p:cNvSpPr/>
          <p:nvPr/>
        </p:nvSpPr>
        <p:spPr>
          <a:xfrm>
            <a:off x="548640" y="2441448"/>
            <a:ext cx="329184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average teacher working week across OECD systems — up from 38.8 h in 2018</a:t>
            </a:r>
            <a:endParaRPr lang="en-US" sz="1250" dirty="0"/>
          </a:p>
        </p:txBody>
      </p:sp>
      <p:sp>
        <p:nvSpPr>
          <p:cNvPr id="6" name="Text 4"/>
          <p:cNvSpPr/>
          <p:nvPr/>
        </p:nvSpPr>
        <p:spPr>
          <a:xfrm>
            <a:off x="548640" y="3246120"/>
            <a:ext cx="3291840" cy="658368"/>
          </a:xfrm>
          <a:prstGeom prst="rect">
            <a:avLst/>
          </a:prstGeom>
          <a:noFill/>
          <a:ln/>
        </p:spPr>
        <p:txBody>
          <a:bodyPr wrap="square" lIns="0" tIns="0" rIns="0" bIns="0" rtlCol="0" anchor="ctr"/>
          <a:lstStyle/>
          <a:p>
            <a:pPr indent="0" marL="0">
              <a:buNone/>
            </a:pPr>
            <a:r>
              <a:rPr lang="en-US" sz="4400" b="1" dirty="0">
                <a:solidFill>
                  <a:srgbClr val="2158E8"/>
                </a:solidFill>
                <a:latin typeface="Calibri" pitchFamily="34" charset="0"/>
                <a:ea typeface="Calibri" pitchFamily="34" charset="-122"/>
                <a:cs typeface="Calibri" pitchFamily="34" charset="-120"/>
              </a:rPr>
              <a:t>~half</a:t>
            </a:r>
            <a:endParaRPr lang="en-US" sz="4400" dirty="0"/>
          </a:p>
        </p:txBody>
      </p:sp>
      <p:sp>
        <p:nvSpPr>
          <p:cNvPr id="7" name="Text 5"/>
          <p:cNvSpPr/>
          <p:nvPr/>
        </p:nvSpPr>
        <p:spPr>
          <a:xfrm>
            <a:off x="548640" y="3904488"/>
            <a:ext cx="329184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of that week is spent on tasks other than teaching — marking, admin, paperwork</a:t>
            </a:r>
            <a:endParaRPr lang="en-US" sz="1250" dirty="0"/>
          </a:p>
        </p:txBody>
      </p:sp>
      <p:sp>
        <p:nvSpPr>
          <p:cNvPr id="8" name="Text 6"/>
          <p:cNvSpPr/>
          <p:nvPr/>
        </p:nvSpPr>
        <p:spPr>
          <a:xfrm>
            <a:off x="548640" y="4709160"/>
            <a:ext cx="3291840" cy="658368"/>
          </a:xfrm>
          <a:prstGeom prst="rect">
            <a:avLst/>
          </a:prstGeom>
          <a:noFill/>
          <a:ln/>
        </p:spPr>
        <p:txBody>
          <a:bodyPr wrap="square" lIns="0" tIns="0" rIns="0" bIns="0" rtlCol="0" anchor="ctr"/>
          <a:lstStyle/>
          <a:p>
            <a:pPr indent="0" marL="0">
              <a:buNone/>
            </a:pPr>
            <a:r>
              <a:rPr lang="en-US" sz="4400" b="1" dirty="0">
                <a:solidFill>
                  <a:srgbClr val="2158E8"/>
                </a:solidFill>
                <a:latin typeface="Calibri" pitchFamily="34" charset="0"/>
                <a:ea typeface="Calibri" pitchFamily="34" charset="-122"/>
                <a:cs typeface="Calibri" pitchFamily="34" charset="-120"/>
              </a:rPr>
              <a:t>16 : 6</a:t>
            </a:r>
            <a:endParaRPr lang="en-US" sz="4400" dirty="0"/>
          </a:p>
        </p:txBody>
      </p:sp>
      <p:sp>
        <p:nvSpPr>
          <p:cNvPr id="9" name="Text 7"/>
          <p:cNvSpPr/>
          <p:nvPr/>
        </p:nvSpPr>
        <p:spPr>
          <a:xfrm>
            <a:off x="548640" y="5367528"/>
            <a:ext cx="329184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education systems where marking time rose since 2018, versus only 6 where it fell</a:t>
            </a:r>
            <a:endParaRPr lang="en-US" sz="1250" dirty="0"/>
          </a:p>
        </p:txBody>
      </p:sp>
      <p:sp>
        <p:nvSpPr>
          <p:cNvPr id="10" name="Shape 8"/>
          <p:cNvSpPr/>
          <p:nvPr/>
        </p:nvSpPr>
        <p:spPr>
          <a:xfrm>
            <a:off x="4297680" y="1691640"/>
            <a:ext cx="7342632" cy="4526280"/>
          </a:xfrm>
          <a:prstGeom prst="roundRect">
            <a:avLst>
              <a:gd name="adj" fmla="val 2424"/>
            </a:avLst>
          </a:prstGeom>
          <a:solidFill>
            <a:srgbClr val="EDF3FC"/>
          </a:solidFill>
          <a:ln/>
        </p:spPr>
      </p:sp>
      <p:sp>
        <p:nvSpPr>
          <p:cNvPr id="11" name="Text 9"/>
          <p:cNvSpPr/>
          <p:nvPr/>
        </p:nvSpPr>
        <p:spPr>
          <a:xfrm>
            <a:off x="4572000" y="1874520"/>
            <a:ext cx="6766560" cy="320040"/>
          </a:xfrm>
          <a:prstGeom prst="rect">
            <a:avLst/>
          </a:prstGeom>
          <a:noFill/>
          <a:ln/>
        </p:spPr>
        <p:txBody>
          <a:bodyPr wrap="square" lIns="0" tIns="0" rIns="0" bIns="0" rtlCol="0" anchor="ctr"/>
          <a:lstStyle/>
          <a:p>
            <a:pPr indent="0" marL="0">
              <a:buNone/>
            </a:pPr>
            <a:r>
              <a:rPr lang="en-US" sz="1400" b="1" dirty="0">
                <a:solidFill>
                  <a:srgbClr val="111A33"/>
                </a:solidFill>
                <a:latin typeface="Calibri" pitchFamily="34" charset="0"/>
                <a:ea typeface="Calibri" pitchFamily="34" charset="-122"/>
                <a:cs typeface="Calibri" pitchFamily="34" charset="-120"/>
              </a:rPr>
              <a:t>Teacher working hours per week (term time)</a:t>
            </a:r>
            <a:endParaRPr lang="en-US" sz="1400" dirty="0"/>
          </a:p>
        </p:txBody>
      </p:sp>
      <p:graphicFrame>
        <p:nvGraphicFramePr>
          <p:cNvPr id="12" name="Chart 0" descr=""/>
          <p:cNvGraphicFramePr/>
          <p:nvPr/>
        </p:nvGraphicFramePr>
        <p:xfrm>
          <a:off x="4572000" y="2286000"/>
          <a:ext cx="6812280" cy="329184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p:nvPr/>
        </p:nvSpPr>
        <p:spPr>
          <a:xfrm>
            <a:off x="4572000" y="5623560"/>
            <a:ext cx="6766560" cy="320040"/>
          </a:xfrm>
          <a:prstGeom prst="rect">
            <a:avLst/>
          </a:prstGeom>
          <a:noFill/>
          <a:ln/>
        </p:spPr>
        <p:txBody>
          <a:bodyPr wrap="square" lIns="0" tIns="0" rIns="0" bIns="0" rtlCol="0" anchor="ctr"/>
          <a:lstStyle/>
          <a:p>
            <a:pPr indent="0" marL="0">
              <a:buNone/>
            </a:pPr>
            <a:r>
              <a:rPr lang="en-US" sz="1250" i="1" dirty="0">
                <a:solidFill>
                  <a:srgbClr val="26304A"/>
                </a:solidFill>
                <a:latin typeface="Calibri" pitchFamily="34" charset="0"/>
                <a:ea typeface="Calibri" pitchFamily="34" charset="-122"/>
                <a:cs typeface="Calibri" pitchFamily="34" charset="-120"/>
              </a:rPr>
              <a:t>Singapore teachers alone report 6.4 h of marking every week.</a:t>
            </a:r>
            <a:endParaRPr lang="en-US" sz="1250" dirty="0"/>
          </a:p>
        </p:txBody>
      </p:sp>
      <p:sp>
        <p:nvSpPr>
          <p:cNvPr id="14" name="Text 11"/>
          <p:cNvSpPr/>
          <p:nvPr/>
        </p:nvSpPr>
        <p:spPr>
          <a:xfrm>
            <a:off x="548640" y="6455664"/>
            <a:ext cx="1106424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Sources: OECD TALIS 2018 &amp; TALIS 2024; UK DfE Teacher Workload Survey 2019. Full citations on the Sources slide.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indent="0" marL="0">
              <a:buNone/>
            </a:pPr>
            <a:r>
              <a:rPr lang="en-US" sz="1300" b="1" spc="200" kern="0" dirty="0">
                <a:solidFill>
                  <a:srgbClr val="2158E8"/>
                </a:solidFill>
                <a:latin typeface="Calibri" pitchFamily="34" charset="0"/>
                <a:ea typeface="Calibri" pitchFamily="34" charset="-122"/>
                <a:cs typeface="Calibri" pitchFamily="34" charset="-120"/>
              </a:rPr>
              <a:t>THE SOLUTION</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11A33"/>
                </a:solidFill>
                <a:latin typeface="Calibri" pitchFamily="34" charset="0"/>
                <a:ea typeface="Calibri" pitchFamily="34" charset="-122"/>
                <a:cs typeface="Calibri" pitchFamily="34" charset="-120"/>
              </a:rPr>
              <a:t>BilimAI — a marking assistant for every teacher</a:t>
            </a:r>
            <a:endParaRPr lang="en-US" sz="3400" dirty="0"/>
          </a:p>
        </p:txBody>
      </p:sp>
      <p:sp>
        <p:nvSpPr>
          <p:cNvPr id="4" name="Shape 2"/>
          <p:cNvSpPr/>
          <p:nvPr/>
        </p:nvSpPr>
        <p:spPr>
          <a:xfrm>
            <a:off x="548640" y="1828800"/>
            <a:ext cx="2551176" cy="3200400"/>
          </a:xfrm>
          <a:prstGeom prst="roundRect">
            <a:avLst>
              <a:gd name="adj" fmla="val 4301"/>
            </a:avLst>
          </a:prstGeom>
          <a:solidFill>
            <a:srgbClr val="EDF3FC"/>
          </a:solidFill>
          <a:ln/>
        </p:spPr>
      </p:sp>
      <p:sp>
        <p:nvSpPr>
          <p:cNvPr id="5" name="Shape 3"/>
          <p:cNvSpPr/>
          <p:nvPr/>
        </p:nvSpPr>
        <p:spPr>
          <a:xfrm>
            <a:off x="804672" y="2103120"/>
            <a:ext cx="640080" cy="640080"/>
          </a:xfrm>
          <a:prstGeom prst="ellipse">
            <a:avLst/>
          </a:prstGeom>
          <a:solidFill>
            <a:srgbClr val="DCE8FA"/>
          </a:solidFill>
          <a:ln/>
        </p:spPr>
      </p:sp>
      <p:pic>
        <p:nvPicPr>
          <p:cNvPr id="6" name="Image 0" descr="/private/tmp/claude-501/-Users-furb-x-Desktop-My-Projects/d365b27d-a89f-47fc-8734-df20f634a92b/scratchpad/bilimai/icons/scan-blue.png">    </p:cNvPr>
          <p:cNvPicPr>
            <a:picLocks noChangeAspect="1"/>
          </p:cNvPicPr>
          <p:nvPr/>
        </p:nvPicPr>
        <p:blipFill>
          <a:blip r:embed="rId1"/>
          <a:stretch>
            <a:fillRect/>
          </a:stretch>
        </p:blipFill>
        <p:spPr>
          <a:xfrm>
            <a:off x="971093" y="2269541"/>
            <a:ext cx="307238" cy="307238"/>
          </a:xfrm>
          <a:prstGeom prst="rect">
            <a:avLst/>
          </a:prstGeom>
        </p:spPr>
      </p:pic>
      <p:sp>
        <p:nvSpPr>
          <p:cNvPr id="7" name="Text 4"/>
          <p:cNvSpPr/>
          <p:nvPr/>
        </p:nvSpPr>
        <p:spPr>
          <a:xfrm>
            <a:off x="804672" y="2880360"/>
            <a:ext cx="2039112" cy="365760"/>
          </a:xfrm>
          <a:prstGeom prst="rect">
            <a:avLst/>
          </a:prstGeom>
          <a:noFill/>
          <a:ln/>
        </p:spPr>
        <p:txBody>
          <a:bodyPr wrap="square" lIns="0" tIns="0" rIns="0" bIns="0" rtlCol="0" anchor="ctr"/>
          <a:lstStyle/>
          <a:p>
            <a:pPr indent="0" marL="0">
              <a:buNone/>
            </a:pPr>
            <a:r>
              <a:rPr lang="en-US" sz="1800" b="1" dirty="0">
                <a:solidFill>
                  <a:srgbClr val="111A33"/>
                </a:solidFill>
                <a:latin typeface="Calibri" pitchFamily="34" charset="0"/>
                <a:ea typeface="Calibri" pitchFamily="34" charset="-122"/>
                <a:cs typeface="Calibri" pitchFamily="34" charset="-120"/>
              </a:rPr>
              <a:t>Reads</a:t>
            </a:r>
            <a:endParaRPr lang="en-US" sz="1800" dirty="0"/>
          </a:p>
        </p:txBody>
      </p:sp>
      <p:sp>
        <p:nvSpPr>
          <p:cNvPr id="8" name="Text 5"/>
          <p:cNvSpPr/>
          <p:nvPr/>
        </p:nvSpPr>
        <p:spPr>
          <a:xfrm>
            <a:off x="804672" y="3291840"/>
            <a:ext cx="2039112" cy="1600200"/>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Understands handwritten and typed assignments in Uzbek and Russian — essays, short answers, problem sets.</a:t>
            </a:r>
            <a:endParaRPr lang="en-US" sz="1250" dirty="0"/>
          </a:p>
        </p:txBody>
      </p:sp>
      <p:sp>
        <p:nvSpPr>
          <p:cNvPr id="9" name="Shape 6"/>
          <p:cNvSpPr/>
          <p:nvPr/>
        </p:nvSpPr>
        <p:spPr>
          <a:xfrm>
            <a:off x="3392424" y="1828800"/>
            <a:ext cx="2551176" cy="3200400"/>
          </a:xfrm>
          <a:prstGeom prst="roundRect">
            <a:avLst>
              <a:gd name="adj" fmla="val 4301"/>
            </a:avLst>
          </a:prstGeom>
          <a:solidFill>
            <a:srgbClr val="EDF3FC"/>
          </a:solidFill>
          <a:ln/>
        </p:spPr>
      </p:sp>
      <p:sp>
        <p:nvSpPr>
          <p:cNvPr id="10" name="Shape 7"/>
          <p:cNvSpPr/>
          <p:nvPr/>
        </p:nvSpPr>
        <p:spPr>
          <a:xfrm>
            <a:off x="3648456" y="2103120"/>
            <a:ext cx="640080" cy="640080"/>
          </a:xfrm>
          <a:prstGeom prst="ellipse">
            <a:avLst/>
          </a:prstGeom>
          <a:solidFill>
            <a:srgbClr val="DCE8FA"/>
          </a:solidFill>
          <a:ln/>
        </p:spPr>
      </p:sp>
      <p:pic>
        <p:nvPicPr>
          <p:cNvPr id="11" name="Image 1" descr="/private/tmp/claude-501/-Users-furb-x-Desktop-My-Projects/d365b27d-a89f-47fc-8734-df20f634a92b/scratchpad/bilimai/icons/factcheck-blue.png">    </p:cNvPr>
          <p:cNvPicPr>
            <a:picLocks noChangeAspect="1"/>
          </p:cNvPicPr>
          <p:nvPr/>
        </p:nvPicPr>
        <p:blipFill>
          <a:blip r:embed="rId2"/>
          <a:stretch>
            <a:fillRect/>
          </a:stretch>
        </p:blipFill>
        <p:spPr>
          <a:xfrm>
            <a:off x="3814877" y="2269541"/>
            <a:ext cx="307238" cy="307238"/>
          </a:xfrm>
          <a:prstGeom prst="rect">
            <a:avLst/>
          </a:prstGeom>
        </p:spPr>
      </p:pic>
      <p:sp>
        <p:nvSpPr>
          <p:cNvPr id="12" name="Text 8"/>
          <p:cNvSpPr/>
          <p:nvPr/>
        </p:nvSpPr>
        <p:spPr>
          <a:xfrm>
            <a:off x="3648456" y="2880360"/>
            <a:ext cx="2039112" cy="365760"/>
          </a:xfrm>
          <a:prstGeom prst="rect">
            <a:avLst/>
          </a:prstGeom>
          <a:noFill/>
          <a:ln/>
        </p:spPr>
        <p:txBody>
          <a:bodyPr wrap="square" lIns="0" tIns="0" rIns="0" bIns="0" rtlCol="0" anchor="ctr"/>
          <a:lstStyle/>
          <a:p>
            <a:pPr indent="0" marL="0">
              <a:buNone/>
            </a:pPr>
            <a:r>
              <a:rPr lang="en-US" sz="1800" b="1" dirty="0">
                <a:solidFill>
                  <a:srgbClr val="111A33"/>
                </a:solidFill>
                <a:latin typeface="Calibri" pitchFamily="34" charset="0"/>
                <a:ea typeface="Calibri" pitchFamily="34" charset="-122"/>
                <a:cs typeface="Calibri" pitchFamily="34" charset="-120"/>
              </a:rPr>
              <a:t>Checks</a:t>
            </a:r>
            <a:endParaRPr lang="en-US" sz="1800" dirty="0"/>
          </a:p>
        </p:txBody>
      </p:sp>
      <p:sp>
        <p:nvSpPr>
          <p:cNvPr id="13" name="Text 9"/>
          <p:cNvSpPr/>
          <p:nvPr/>
        </p:nvSpPr>
        <p:spPr>
          <a:xfrm>
            <a:off x="3648456" y="3291840"/>
            <a:ext cx="2039112" cy="1600200"/>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Finds errors and measures the work against the national curriculum rubric — the same criteria every time.</a:t>
            </a:r>
            <a:endParaRPr lang="en-US" sz="1250" dirty="0"/>
          </a:p>
        </p:txBody>
      </p:sp>
      <p:sp>
        <p:nvSpPr>
          <p:cNvPr id="14" name="Shape 10"/>
          <p:cNvSpPr/>
          <p:nvPr/>
        </p:nvSpPr>
        <p:spPr>
          <a:xfrm>
            <a:off x="6236208" y="1828800"/>
            <a:ext cx="2551176" cy="3200400"/>
          </a:xfrm>
          <a:prstGeom prst="roundRect">
            <a:avLst>
              <a:gd name="adj" fmla="val 4301"/>
            </a:avLst>
          </a:prstGeom>
          <a:solidFill>
            <a:srgbClr val="EDF3FC"/>
          </a:solidFill>
          <a:ln/>
        </p:spPr>
      </p:sp>
      <p:sp>
        <p:nvSpPr>
          <p:cNvPr id="15" name="Shape 11"/>
          <p:cNvSpPr/>
          <p:nvPr/>
        </p:nvSpPr>
        <p:spPr>
          <a:xfrm>
            <a:off x="6492240" y="2103120"/>
            <a:ext cx="640080" cy="640080"/>
          </a:xfrm>
          <a:prstGeom prst="ellipse">
            <a:avLst/>
          </a:prstGeom>
          <a:solidFill>
            <a:srgbClr val="DCE8FA"/>
          </a:solidFill>
          <a:ln/>
        </p:spPr>
      </p:sp>
      <p:pic>
        <p:nvPicPr>
          <p:cNvPr id="16" name="Image 2" descr="/private/tmp/claude-501/-Users-furb-x-Desktop-My-Projects/d365b27d-a89f-47fc-8734-df20f634a92b/scratchpad/bilimai/icons/bolt-blue.png">    </p:cNvPr>
          <p:cNvPicPr>
            <a:picLocks noChangeAspect="1"/>
          </p:cNvPicPr>
          <p:nvPr/>
        </p:nvPicPr>
        <p:blipFill>
          <a:blip r:embed="rId3"/>
          <a:stretch>
            <a:fillRect/>
          </a:stretch>
        </p:blipFill>
        <p:spPr>
          <a:xfrm>
            <a:off x="6658661" y="2269541"/>
            <a:ext cx="307238" cy="307238"/>
          </a:xfrm>
          <a:prstGeom prst="rect">
            <a:avLst/>
          </a:prstGeom>
        </p:spPr>
      </p:pic>
      <p:sp>
        <p:nvSpPr>
          <p:cNvPr id="17" name="Text 12"/>
          <p:cNvSpPr/>
          <p:nvPr/>
        </p:nvSpPr>
        <p:spPr>
          <a:xfrm>
            <a:off x="6492240" y="2880360"/>
            <a:ext cx="2039112" cy="365760"/>
          </a:xfrm>
          <a:prstGeom prst="rect">
            <a:avLst/>
          </a:prstGeom>
          <a:noFill/>
          <a:ln/>
        </p:spPr>
        <p:txBody>
          <a:bodyPr wrap="square" lIns="0" tIns="0" rIns="0" bIns="0" rtlCol="0" anchor="ctr"/>
          <a:lstStyle/>
          <a:p>
            <a:pPr indent="0" marL="0">
              <a:buNone/>
            </a:pPr>
            <a:r>
              <a:rPr lang="en-US" sz="1800" b="1" dirty="0">
                <a:solidFill>
                  <a:srgbClr val="111A33"/>
                </a:solidFill>
                <a:latin typeface="Calibri" pitchFamily="34" charset="0"/>
                <a:ea typeface="Calibri" pitchFamily="34" charset="-122"/>
                <a:cs typeface="Calibri" pitchFamily="34" charset="-120"/>
              </a:rPr>
              <a:t>Grades</a:t>
            </a:r>
            <a:endParaRPr lang="en-US" sz="1800" dirty="0"/>
          </a:p>
        </p:txBody>
      </p:sp>
      <p:sp>
        <p:nvSpPr>
          <p:cNvPr id="18" name="Text 13"/>
          <p:cNvSpPr/>
          <p:nvPr/>
        </p:nvSpPr>
        <p:spPr>
          <a:xfrm>
            <a:off x="6492240" y="3291840"/>
            <a:ext cx="2039112" cy="1600200"/>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Returns a consistent draft grade in seconds, not evenings — for a whole class at once.</a:t>
            </a:r>
            <a:endParaRPr lang="en-US" sz="1250" dirty="0"/>
          </a:p>
        </p:txBody>
      </p:sp>
      <p:sp>
        <p:nvSpPr>
          <p:cNvPr id="19" name="Shape 14"/>
          <p:cNvSpPr/>
          <p:nvPr/>
        </p:nvSpPr>
        <p:spPr>
          <a:xfrm>
            <a:off x="9079992" y="1828800"/>
            <a:ext cx="2551176" cy="3200400"/>
          </a:xfrm>
          <a:prstGeom prst="roundRect">
            <a:avLst>
              <a:gd name="adj" fmla="val 4301"/>
            </a:avLst>
          </a:prstGeom>
          <a:solidFill>
            <a:srgbClr val="EDF3FC"/>
          </a:solidFill>
          <a:ln/>
        </p:spPr>
      </p:sp>
      <p:sp>
        <p:nvSpPr>
          <p:cNvPr id="20" name="Shape 15"/>
          <p:cNvSpPr/>
          <p:nvPr/>
        </p:nvSpPr>
        <p:spPr>
          <a:xfrm>
            <a:off x="9336024" y="2103120"/>
            <a:ext cx="640080" cy="640080"/>
          </a:xfrm>
          <a:prstGeom prst="ellipse">
            <a:avLst/>
          </a:prstGeom>
          <a:solidFill>
            <a:srgbClr val="DCE8FA"/>
          </a:solidFill>
          <a:ln/>
        </p:spPr>
      </p:sp>
      <p:pic>
        <p:nvPicPr>
          <p:cNvPr id="21" name="Image 3" descr="/private/tmp/claude-501/-Users-furb-x-Desktop-My-Projects/d365b27d-a89f-47fc-8734-df20f634a92b/scratchpad/bilimai/icons/comment-blue.png">    </p:cNvPr>
          <p:cNvPicPr>
            <a:picLocks noChangeAspect="1"/>
          </p:cNvPicPr>
          <p:nvPr/>
        </p:nvPicPr>
        <p:blipFill>
          <a:blip r:embed="rId4"/>
          <a:stretch>
            <a:fillRect/>
          </a:stretch>
        </p:blipFill>
        <p:spPr>
          <a:xfrm>
            <a:off x="9502445" y="2269541"/>
            <a:ext cx="307238" cy="307238"/>
          </a:xfrm>
          <a:prstGeom prst="rect">
            <a:avLst/>
          </a:prstGeom>
        </p:spPr>
      </p:pic>
      <p:sp>
        <p:nvSpPr>
          <p:cNvPr id="22" name="Text 16"/>
          <p:cNvSpPr/>
          <p:nvPr/>
        </p:nvSpPr>
        <p:spPr>
          <a:xfrm>
            <a:off x="9336024" y="2880360"/>
            <a:ext cx="2039112" cy="365760"/>
          </a:xfrm>
          <a:prstGeom prst="rect">
            <a:avLst/>
          </a:prstGeom>
          <a:noFill/>
          <a:ln/>
        </p:spPr>
        <p:txBody>
          <a:bodyPr wrap="square" lIns="0" tIns="0" rIns="0" bIns="0" rtlCol="0" anchor="ctr"/>
          <a:lstStyle/>
          <a:p>
            <a:pPr indent="0" marL="0">
              <a:buNone/>
            </a:pPr>
            <a:r>
              <a:rPr lang="en-US" sz="1800" b="1" dirty="0">
                <a:solidFill>
                  <a:srgbClr val="111A33"/>
                </a:solidFill>
                <a:latin typeface="Calibri" pitchFamily="34" charset="0"/>
                <a:ea typeface="Calibri" pitchFamily="34" charset="-122"/>
                <a:cs typeface="Calibri" pitchFamily="34" charset="-120"/>
              </a:rPr>
              <a:t>Gives feedback</a:t>
            </a:r>
            <a:endParaRPr lang="en-US" sz="1800" dirty="0"/>
          </a:p>
        </p:txBody>
      </p:sp>
      <p:sp>
        <p:nvSpPr>
          <p:cNvPr id="23" name="Text 17"/>
          <p:cNvSpPr/>
          <p:nvPr/>
        </p:nvSpPr>
        <p:spPr>
          <a:xfrm>
            <a:off x="9336024" y="3291840"/>
            <a:ext cx="2039112" cy="1600200"/>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Writes personal, constructive feedback for each student, ready for the teacher to approve.</a:t>
            </a:r>
            <a:endParaRPr lang="en-US" sz="1250" dirty="0"/>
          </a:p>
        </p:txBody>
      </p:sp>
      <p:sp>
        <p:nvSpPr>
          <p:cNvPr id="24" name="Shape 18"/>
          <p:cNvSpPr/>
          <p:nvPr/>
        </p:nvSpPr>
        <p:spPr>
          <a:xfrm>
            <a:off x="548640" y="5349240"/>
            <a:ext cx="11091672" cy="777240"/>
          </a:xfrm>
          <a:prstGeom prst="roundRect">
            <a:avLst>
              <a:gd name="adj" fmla="val 11765"/>
            </a:avLst>
          </a:prstGeom>
          <a:solidFill>
            <a:srgbClr val="111A33"/>
          </a:solidFill>
          <a:ln/>
        </p:spPr>
      </p:sp>
      <p:pic>
        <p:nvPicPr>
          <p:cNvPr id="25" name="Image 4" descr="/private/tmp/claude-501/-Users-furb-x-Desktop-My-Projects/d365b27d-a89f-47fc-8734-df20f634a92b/scratchpad/bilimai/icons/teacher-white.png">    </p:cNvPr>
          <p:cNvPicPr>
            <a:picLocks noChangeAspect="1"/>
          </p:cNvPicPr>
          <p:nvPr/>
        </p:nvPicPr>
        <p:blipFill>
          <a:blip r:embed="rId5"/>
          <a:stretch>
            <a:fillRect/>
          </a:stretch>
        </p:blipFill>
        <p:spPr>
          <a:xfrm>
            <a:off x="868680" y="5550408"/>
            <a:ext cx="365760" cy="365760"/>
          </a:xfrm>
          <a:prstGeom prst="rect">
            <a:avLst/>
          </a:prstGeom>
        </p:spPr>
      </p:pic>
      <p:sp>
        <p:nvSpPr>
          <p:cNvPr id="26" name="Text 19"/>
          <p:cNvSpPr/>
          <p:nvPr/>
        </p:nvSpPr>
        <p:spPr>
          <a:xfrm>
            <a:off x="1371600" y="5349240"/>
            <a:ext cx="10058400" cy="7772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The teacher stays in control.  </a:t>
            </a:r>
            <a:pPr indent="0" marL="0">
              <a:buNone/>
            </a:pPr>
            <a:r>
              <a:rPr lang="en-US" sz="1450" dirty="0">
                <a:solidFill>
                  <a:srgbClr val="FFFFFF"/>
                </a:solidFill>
                <a:latin typeface="Calibri" pitchFamily="34" charset="0"/>
                <a:ea typeface="Calibri" pitchFamily="34" charset="-122"/>
                <a:cs typeface="Calibri" pitchFamily="34" charset="-120"/>
              </a:rPr>
              <a:t>Every grade and every comment is a draft until the teacher approves it.</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indent="0" marL="0">
              <a:buNone/>
            </a:pPr>
            <a:r>
              <a:rPr lang="en-US" sz="1300" b="1" spc="200" kern="0" dirty="0">
                <a:solidFill>
                  <a:srgbClr val="2158E8"/>
                </a:solidFill>
                <a:latin typeface="Calibri" pitchFamily="34" charset="0"/>
                <a:ea typeface="Calibri" pitchFamily="34" charset="-122"/>
                <a:cs typeface="Calibri" pitchFamily="34" charset="-120"/>
              </a:rPr>
              <a:t>HOW IT WORKS</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11A33"/>
                </a:solidFill>
                <a:latin typeface="Calibri" pitchFamily="34" charset="0"/>
                <a:ea typeface="Calibri" pitchFamily="34" charset="-122"/>
                <a:cs typeface="Calibri" pitchFamily="34" charset="-120"/>
              </a:rPr>
              <a:t>From a pile of notebooks to approved feedback</a:t>
            </a:r>
            <a:endParaRPr lang="en-US" sz="3400" dirty="0"/>
          </a:p>
        </p:txBody>
      </p:sp>
      <p:sp>
        <p:nvSpPr>
          <p:cNvPr id="4" name="Shape 2"/>
          <p:cNvSpPr/>
          <p:nvPr/>
        </p:nvSpPr>
        <p:spPr>
          <a:xfrm>
            <a:off x="548640" y="2103120"/>
            <a:ext cx="2057400" cy="2651760"/>
          </a:xfrm>
          <a:prstGeom prst="roundRect">
            <a:avLst>
              <a:gd name="adj" fmla="val 4444"/>
            </a:avLst>
          </a:prstGeom>
          <a:solidFill>
            <a:srgbClr val="EDF3FC"/>
          </a:solidFill>
          <a:ln/>
        </p:spPr>
      </p:sp>
      <p:sp>
        <p:nvSpPr>
          <p:cNvPr id="5" name="Shape 3"/>
          <p:cNvSpPr/>
          <p:nvPr/>
        </p:nvSpPr>
        <p:spPr>
          <a:xfrm>
            <a:off x="768096" y="2331720"/>
            <a:ext cx="566928" cy="566928"/>
          </a:xfrm>
          <a:prstGeom prst="ellipse">
            <a:avLst/>
          </a:prstGeom>
          <a:solidFill>
            <a:srgbClr val="DCE8FA"/>
          </a:solidFill>
          <a:ln/>
        </p:spPr>
      </p:sp>
      <p:pic>
        <p:nvPicPr>
          <p:cNvPr id="6" name="Image 0" descr="/private/tmp/claude-501/-Users-furb-x-Desktop-My-Projects/d365b27d-a89f-47fc-8734-df20f634a92b/scratchpad/bilimai/icons/upload-blue.png">    </p:cNvPr>
          <p:cNvPicPr>
            <a:picLocks noChangeAspect="1"/>
          </p:cNvPicPr>
          <p:nvPr/>
        </p:nvPicPr>
        <p:blipFill>
          <a:blip r:embed="rId1"/>
          <a:stretch>
            <a:fillRect/>
          </a:stretch>
        </p:blipFill>
        <p:spPr>
          <a:xfrm>
            <a:off x="915497" y="2479121"/>
            <a:ext cx="272125" cy="272125"/>
          </a:xfrm>
          <a:prstGeom prst="rect">
            <a:avLst/>
          </a:prstGeom>
        </p:spPr>
      </p:pic>
      <p:sp>
        <p:nvSpPr>
          <p:cNvPr id="7" name="Text 4"/>
          <p:cNvSpPr/>
          <p:nvPr/>
        </p:nvSpPr>
        <p:spPr>
          <a:xfrm>
            <a:off x="768096" y="3063240"/>
            <a:ext cx="1618488" cy="347472"/>
          </a:xfrm>
          <a:prstGeom prst="rect">
            <a:avLst/>
          </a:prstGeom>
          <a:noFill/>
          <a:ln/>
        </p:spPr>
        <p:txBody>
          <a:bodyPr wrap="square" lIns="0" tIns="0" rIns="0" bIns="0" rtlCol="0" anchor="ctr"/>
          <a:lstStyle/>
          <a:p>
            <a:pPr indent="0" marL="0">
              <a:buNone/>
            </a:pPr>
            <a:r>
              <a:rPr lang="en-US" sz="1500" b="1" dirty="0">
                <a:solidFill>
                  <a:srgbClr val="111A33"/>
                </a:solidFill>
                <a:latin typeface="Calibri" pitchFamily="34" charset="0"/>
                <a:ea typeface="Calibri" pitchFamily="34" charset="-122"/>
                <a:cs typeface="Calibri" pitchFamily="34" charset="-120"/>
              </a:rPr>
              <a:t>1. Upload</a:t>
            </a:r>
            <a:endParaRPr lang="en-US" sz="1500" dirty="0"/>
          </a:p>
        </p:txBody>
      </p:sp>
      <p:sp>
        <p:nvSpPr>
          <p:cNvPr id="8" name="Text 5"/>
          <p:cNvSpPr/>
          <p:nvPr/>
        </p:nvSpPr>
        <p:spPr>
          <a:xfrm>
            <a:off x="768096" y="3429000"/>
            <a:ext cx="1618488" cy="1188720"/>
          </a:xfrm>
          <a:prstGeom prst="rect">
            <a:avLst/>
          </a:prstGeom>
          <a:noFill/>
          <a:ln/>
        </p:spPr>
        <p:txBody>
          <a:bodyPr wrap="square" lIns="0" tIns="0" rIns="0" bIns="0" rtlCol="0" anchor="ctr"/>
          <a:lstStyle/>
          <a:p>
            <a:pPr indent="0" marL="0">
              <a:buNone/>
            </a:pPr>
            <a:r>
              <a:rPr lang="en-US" sz="1150" dirty="0">
                <a:solidFill>
                  <a:srgbClr val="26304A"/>
                </a:solidFill>
                <a:latin typeface="Calibri" pitchFamily="34" charset="0"/>
                <a:ea typeface="Calibri" pitchFamily="34" charset="-122"/>
                <a:cs typeface="Calibri" pitchFamily="34" charset="-120"/>
              </a:rPr>
              <a:t>Teacher photographs or uploads the class’s written work.</a:t>
            </a:r>
            <a:endParaRPr lang="en-US" sz="1150" dirty="0"/>
          </a:p>
        </p:txBody>
      </p:sp>
      <p:sp>
        <p:nvSpPr>
          <p:cNvPr id="9" name="Text 6"/>
          <p:cNvSpPr/>
          <p:nvPr/>
        </p:nvSpPr>
        <p:spPr>
          <a:xfrm>
            <a:off x="2551176" y="3154680"/>
            <a:ext cx="347472" cy="457200"/>
          </a:xfrm>
          <a:prstGeom prst="rect">
            <a:avLst/>
          </a:prstGeom>
          <a:noFill/>
          <a:ln/>
        </p:spPr>
        <p:txBody>
          <a:bodyPr wrap="square" lIns="0" tIns="0" rIns="0" bIns="0" rtlCol="0" anchor="ctr"/>
          <a:lstStyle/>
          <a:p>
            <a:pPr algn="ctr" indent="0" marL="0">
              <a:buNone/>
            </a:pPr>
            <a:r>
              <a:rPr lang="en-US" sz="2000" b="1" dirty="0">
                <a:solidFill>
                  <a:srgbClr val="2158E8"/>
                </a:solidFill>
                <a:latin typeface="Calibri" pitchFamily="34" charset="0"/>
                <a:ea typeface="Calibri" pitchFamily="34" charset="-122"/>
                <a:cs typeface="Calibri" pitchFamily="34" charset="-120"/>
              </a:rPr>
              <a:t>→</a:t>
            </a:r>
            <a:endParaRPr lang="en-US" sz="2000" dirty="0"/>
          </a:p>
        </p:txBody>
      </p:sp>
      <p:sp>
        <p:nvSpPr>
          <p:cNvPr id="10" name="Shape 7"/>
          <p:cNvSpPr/>
          <p:nvPr/>
        </p:nvSpPr>
        <p:spPr>
          <a:xfrm>
            <a:off x="2825496" y="2103120"/>
            <a:ext cx="2057400" cy="2651760"/>
          </a:xfrm>
          <a:prstGeom prst="roundRect">
            <a:avLst>
              <a:gd name="adj" fmla="val 4444"/>
            </a:avLst>
          </a:prstGeom>
          <a:solidFill>
            <a:srgbClr val="EDF3FC"/>
          </a:solidFill>
          <a:ln/>
        </p:spPr>
      </p:sp>
      <p:sp>
        <p:nvSpPr>
          <p:cNvPr id="11" name="Shape 8"/>
          <p:cNvSpPr/>
          <p:nvPr/>
        </p:nvSpPr>
        <p:spPr>
          <a:xfrm>
            <a:off x="3044952" y="2331720"/>
            <a:ext cx="566928" cy="566928"/>
          </a:xfrm>
          <a:prstGeom prst="ellipse">
            <a:avLst/>
          </a:prstGeom>
          <a:solidFill>
            <a:srgbClr val="DCE8FA"/>
          </a:solidFill>
          <a:ln/>
        </p:spPr>
      </p:sp>
      <p:pic>
        <p:nvPicPr>
          <p:cNvPr id="12" name="Image 1" descr="/private/tmp/claude-501/-Users-furb-x-Desktop-My-Projects/d365b27d-a89f-47fc-8734-df20f634a92b/scratchpad/bilimai/icons/eye-blue.png">    </p:cNvPr>
          <p:cNvPicPr>
            <a:picLocks noChangeAspect="1"/>
          </p:cNvPicPr>
          <p:nvPr/>
        </p:nvPicPr>
        <p:blipFill>
          <a:blip r:embed="rId2"/>
          <a:stretch>
            <a:fillRect/>
          </a:stretch>
        </p:blipFill>
        <p:spPr>
          <a:xfrm>
            <a:off x="3192353" y="2479121"/>
            <a:ext cx="272125" cy="272125"/>
          </a:xfrm>
          <a:prstGeom prst="rect">
            <a:avLst/>
          </a:prstGeom>
        </p:spPr>
      </p:pic>
      <p:sp>
        <p:nvSpPr>
          <p:cNvPr id="13" name="Text 9"/>
          <p:cNvSpPr/>
          <p:nvPr/>
        </p:nvSpPr>
        <p:spPr>
          <a:xfrm>
            <a:off x="3044952" y="3063240"/>
            <a:ext cx="1618488" cy="347472"/>
          </a:xfrm>
          <a:prstGeom prst="rect">
            <a:avLst/>
          </a:prstGeom>
          <a:noFill/>
          <a:ln/>
        </p:spPr>
        <p:txBody>
          <a:bodyPr wrap="square" lIns="0" tIns="0" rIns="0" bIns="0" rtlCol="0" anchor="ctr"/>
          <a:lstStyle/>
          <a:p>
            <a:pPr indent="0" marL="0">
              <a:buNone/>
            </a:pPr>
            <a:r>
              <a:rPr lang="en-US" sz="1500" b="1" dirty="0">
                <a:solidFill>
                  <a:srgbClr val="111A33"/>
                </a:solidFill>
                <a:latin typeface="Calibri" pitchFamily="34" charset="0"/>
                <a:ea typeface="Calibri" pitchFamily="34" charset="-122"/>
                <a:cs typeface="Calibri" pitchFamily="34" charset="-120"/>
              </a:rPr>
              <a:t>2. Read</a:t>
            </a:r>
            <a:endParaRPr lang="en-US" sz="1500" dirty="0"/>
          </a:p>
        </p:txBody>
      </p:sp>
      <p:sp>
        <p:nvSpPr>
          <p:cNvPr id="14" name="Text 10"/>
          <p:cNvSpPr/>
          <p:nvPr/>
        </p:nvSpPr>
        <p:spPr>
          <a:xfrm>
            <a:off x="3044952" y="3429000"/>
            <a:ext cx="1618488" cy="1188720"/>
          </a:xfrm>
          <a:prstGeom prst="rect">
            <a:avLst/>
          </a:prstGeom>
          <a:noFill/>
          <a:ln/>
        </p:spPr>
        <p:txBody>
          <a:bodyPr wrap="square" lIns="0" tIns="0" rIns="0" bIns="0" rtlCol="0" anchor="ctr"/>
          <a:lstStyle/>
          <a:p>
            <a:pPr indent="0" marL="0">
              <a:buNone/>
            </a:pPr>
            <a:r>
              <a:rPr lang="en-US" sz="1150" dirty="0">
                <a:solidFill>
                  <a:srgbClr val="26304A"/>
                </a:solidFill>
                <a:latin typeface="Calibri" pitchFamily="34" charset="0"/>
                <a:ea typeface="Calibri" pitchFamily="34" charset="-122"/>
                <a:cs typeface="Calibri" pitchFamily="34" charset="-120"/>
              </a:rPr>
              <a:t>BilimAI reads the handwriting and understands the answer.</a:t>
            </a:r>
            <a:endParaRPr lang="en-US" sz="1150" dirty="0"/>
          </a:p>
        </p:txBody>
      </p:sp>
      <p:sp>
        <p:nvSpPr>
          <p:cNvPr id="15" name="Text 11"/>
          <p:cNvSpPr/>
          <p:nvPr/>
        </p:nvSpPr>
        <p:spPr>
          <a:xfrm>
            <a:off x="4828032" y="3154680"/>
            <a:ext cx="347472" cy="457200"/>
          </a:xfrm>
          <a:prstGeom prst="rect">
            <a:avLst/>
          </a:prstGeom>
          <a:noFill/>
          <a:ln/>
        </p:spPr>
        <p:txBody>
          <a:bodyPr wrap="square" lIns="0" tIns="0" rIns="0" bIns="0" rtlCol="0" anchor="ctr"/>
          <a:lstStyle/>
          <a:p>
            <a:pPr algn="ctr" indent="0" marL="0">
              <a:buNone/>
            </a:pPr>
            <a:r>
              <a:rPr lang="en-US" sz="2000" b="1" dirty="0">
                <a:solidFill>
                  <a:srgbClr val="2158E8"/>
                </a:solidFill>
                <a:latin typeface="Calibri" pitchFamily="34" charset="0"/>
                <a:ea typeface="Calibri" pitchFamily="34" charset="-122"/>
                <a:cs typeface="Calibri" pitchFamily="34" charset="-120"/>
              </a:rPr>
              <a:t>→</a:t>
            </a:r>
            <a:endParaRPr lang="en-US" sz="2000" dirty="0"/>
          </a:p>
        </p:txBody>
      </p:sp>
      <p:sp>
        <p:nvSpPr>
          <p:cNvPr id="16" name="Shape 12"/>
          <p:cNvSpPr/>
          <p:nvPr/>
        </p:nvSpPr>
        <p:spPr>
          <a:xfrm>
            <a:off x="5102352" y="2103120"/>
            <a:ext cx="2057400" cy="2651760"/>
          </a:xfrm>
          <a:prstGeom prst="roundRect">
            <a:avLst>
              <a:gd name="adj" fmla="val 4444"/>
            </a:avLst>
          </a:prstGeom>
          <a:solidFill>
            <a:srgbClr val="EDF3FC"/>
          </a:solidFill>
          <a:ln/>
        </p:spPr>
      </p:sp>
      <p:sp>
        <p:nvSpPr>
          <p:cNvPr id="17" name="Shape 13"/>
          <p:cNvSpPr/>
          <p:nvPr/>
        </p:nvSpPr>
        <p:spPr>
          <a:xfrm>
            <a:off x="5321808" y="2331720"/>
            <a:ext cx="566928" cy="566928"/>
          </a:xfrm>
          <a:prstGeom prst="ellipse">
            <a:avLst/>
          </a:prstGeom>
          <a:solidFill>
            <a:srgbClr val="DCE8FA"/>
          </a:solidFill>
          <a:ln/>
        </p:spPr>
      </p:sp>
      <p:pic>
        <p:nvPicPr>
          <p:cNvPr id="18" name="Image 2" descr="/private/tmp/claude-501/-Users-furb-x-Desktop-My-Projects/d365b27d-a89f-47fc-8734-df20f634a92b/scratchpad/bilimai/icons/factcheck-blue.png">    </p:cNvPr>
          <p:cNvPicPr>
            <a:picLocks noChangeAspect="1"/>
          </p:cNvPicPr>
          <p:nvPr/>
        </p:nvPicPr>
        <p:blipFill>
          <a:blip r:embed="rId3"/>
          <a:stretch>
            <a:fillRect/>
          </a:stretch>
        </p:blipFill>
        <p:spPr>
          <a:xfrm>
            <a:off x="5469209" y="2479121"/>
            <a:ext cx="272125" cy="272125"/>
          </a:xfrm>
          <a:prstGeom prst="rect">
            <a:avLst/>
          </a:prstGeom>
        </p:spPr>
      </p:pic>
      <p:sp>
        <p:nvSpPr>
          <p:cNvPr id="19" name="Text 14"/>
          <p:cNvSpPr/>
          <p:nvPr/>
        </p:nvSpPr>
        <p:spPr>
          <a:xfrm>
            <a:off x="5321808" y="3063240"/>
            <a:ext cx="1618488" cy="347472"/>
          </a:xfrm>
          <a:prstGeom prst="rect">
            <a:avLst/>
          </a:prstGeom>
          <a:noFill/>
          <a:ln/>
        </p:spPr>
        <p:txBody>
          <a:bodyPr wrap="square" lIns="0" tIns="0" rIns="0" bIns="0" rtlCol="0" anchor="ctr"/>
          <a:lstStyle/>
          <a:p>
            <a:pPr indent="0" marL="0">
              <a:buNone/>
            </a:pPr>
            <a:r>
              <a:rPr lang="en-US" sz="1500" b="1" dirty="0">
                <a:solidFill>
                  <a:srgbClr val="111A33"/>
                </a:solidFill>
                <a:latin typeface="Calibri" pitchFamily="34" charset="0"/>
                <a:ea typeface="Calibri" pitchFamily="34" charset="-122"/>
                <a:cs typeface="Calibri" pitchFamily="34" charset="-120"/>
              </a:rPr>
              <a:t>3. Assess</a:t>
            </a:r>
            <a:endParaRPr lang="en-US" sz="1500" dirty="0"/>
          </a:p>
        </p:txBody>
      </p:sp>
      <p:sp>
        <p:nvSpPr>
          <p:cNvPr id="20" name="Text 15"/>
          <p:cNvSpPr/>
          <p:nvPr/>
        </p:nvSpPr>
        <p:spPr>
          <a:xfrm>
            <a:off x="5321808" y="3429000"/>
            <a:ext cx="1618488" cy="1188720"/>
          </a:xfrm>
          <a:prstGeom prst="rect">
            <a:avLst/>
          </a:prstGeom>
          <a:noFill/>
          <a:ln/>
        </p:spPr>
        <p:txBody>
          <a:bodyPr wrap="square" lIns="0" tIns="0" rIns="0" bIns="0" rtlCol="0" anchor="ctr"/>
          <a:lstStyle/>
          <a:p>
            <a:pPr indent="0" marL="0">
              <a:buNone/>
            </a:pPr>
            <a:r>
              <a:rPr lang="en-US" sz="1150" dirty="0">
                <a:solidFill>
                  <a:srgbClr val="26304A"/>
                </a:solidFill>
                <a:latin typeface="Calibri" pitchFamily="34" charset="0"/>
                <a:ea typeface="Calibri" pitchFamily="34" charset="-122"/>
                <a:cs typeface="Calibri" pitchFamily="34" charset="-120"/>
              </a:rPr>
              <a:t>Work is scored against the official curriculum rubric.</a:t>
            </a:r>
            <a:endParaRPr lang="en-US" sz="1150" dirty="0"/>
          </a:p>
        </p:txBody>
      </p:sp>
      <p:sp>
        <p:nvSpPr>
          <p:cNvPr id="21" name="Text 16"/>
          <p:cNvSpPr/>
          <p:nvPr/>
        </p:nvSpPr>
        <p:spPr>
          <a:xfrm>
            <a:off x="7104888" y="3154680"/>
            <a:ext cx="347472" cy="457200"/>
          </a:xfrm>
          <a:prstGeom prst="rect">
            <a:avLst/>
          </a:prstGeom>
          <a:noFill/>
          <a:ln/>
        </p:spPr>
        <p:txBody>
          <a:bodyPr wrap="square" lIns="0" tIns="0" rIns="0" bIns="0" rtlCol="0" anchor="ctr"/>
          <a:lstStyle/>
          <a:p>
            <a:pPr algn="ctr" indent="0" marL="0">
              <a:buNone/>
            </a:pPr>
            <a:r>
              <a:rPr lang="en-US" sz="2000" b="1" dirty="0">
                <a:solidFill>
                  <a:srgbClr val="2158E8"/>
                </a:solidFill>
                <a:latin typeface="Calibri" pitchFamily="34" charset="0"/>
                <a:ea typeface="Calibri" pitchFamily="34" charset="-122"/>
                <a:cs typeface="Calibri" pitchFamily="34" charset="-120"/>
              </a:rPr>
              <a:t>→</a:t>
            </a:r>
            <a:endParaRPr lang="en-US" sz="2000" dirty="0"/>
          </a:p>
        </p:txBody>
      </p:sp>
      <p:sp>
        <p:nvSpPr>
          <p:cNvPr id="22" name="Shape 17"/>
          <p:cNvSpPr/>
          <p:nvPr/>
        </p:nvSpPr>
        <p:spPr>
          <a:xfrm>
            <a:off x="7379208" y="2103120"/>
            <a:ext cx="2057400" cy="2651760"/>
          </a:xfrm>
          <a:prstGeom prst="roundRect">
            <a:avLst>
              <a:gd name="adj" fmla="val 4444"/>
            </a:avLst>
          </a:prstGeom>
          <a:solidFill>
            <a:srgbClr val="EDF3FC"/>
          </a:solidFill>
          <a:ln/>
        </p:spPr>
      </p:sp>
      <p:sp>
        <p:nvSpPr>
          <p:cNvPr id="23" name="Shape 18"/>
          <p:cNvSpPr/>
          <p:nvPr/>
        </p:nvSpPr>
        <p:spPr>
          <a:xfrm>
            <a:off x="7598664" y="2331720"/>
            <a:ext cx="566928" cy="566928"/>
          </a:xfrm>
          <a:prstGeom prst="ellipse">
            <a:avLst/>
          </a:prstGeom>
          <a:solidFill>
            <a:srgbClr val="DCE8FA"/>
          </a:solidFill>
          <a:ln/>
        </p:spPr>
      </p:sp>
      <p:pic>
        <p:nvPicPr>
          <p:cNvPr id="24" name="Image 3" descr="/private/tmp/claude-501/-Users-furb-x-Desktop-My-Projects/d365b27d-a89f-47fc-8734-df20f634a92b/scratchpad/bilimai/icons/comment-blue.png">    </p:cNvPr>
          <p:cNvPicPr>
            <a:picLocks noChangeAspect="1"/>
          </p:cNvPicPr>
          <p:nvPr/>
        </p:nvPicPr>
        <p:blipFill>
          <a:blip r:embed="rId4"/>
          <a:stretch>
            <a:fillRect/>
          </a:stretch>
        </p:blipFill>
        <p:spPr>
          <a:xfrm>
            <a:off x="7746065" y="2479121"/>
            <a:ext cx="272125" cy="272125"/>
          </a:xfrm>
          <a:prstGeom prst="rect">
            <a:avLst/>
          </a:prstGeom>
        </p:spPr>
      </p:pic>
      <p:sp>
        <p:nvSpPr>
          <p:cNvPr id="25" name="Text 19"/>
          <p:cNvSpPr/>
          <p:nvPr/>
        </p:nvSpPr>
        <p:spPr>
          <a:xfrm>
            <a:off x="7598664" y="3063240"/>
            <a:ext cx="1618488" cy="347472"/>
          </a:xfrm>
          <a:prstGeom prst="rect">
            <a:avLst/>
          </a:prstGeom>
          <a:noFill/>
          <a:ln/>
        </p:spPr>
        <p:txBody>
          <a:bodyPr wrap="square" lIns="0" tIns="0" rIns="0" bIns="0" rtlCol="0" anchor="ctr"/>
          <a:lstStyle/>
          <a:p>
            <a:pPr indent="0" marL="0">
              <a:buNone/>
            </a:pPr>
            <a:r>
              <a:rPr lang="en-US" sz="1500" b="1" dirty="0">
                <a:solidFill>
                  <a:srgbClr val="111A33"/>
                </a:solidFill>
                <a:latin typeface="Calibri" pitchFamily="34" charset="0"/>
                <a:ea typeface="Calibri" pitchFamily="34" charset="-122"/>
                <a:cs typeface="Calibri" pitchFamily="34" charset="-120"/>
              </a:rPr>
              <a:t>4. Draft</a:t>
            </a:r>
            <a:endParaRPr lang="en-US" sz="1500" dirty="0"/>
          </a:p>
        </p:txBody>
      </p:sp>
      <p:sp>
        <p:nvSpPr>
          <p:cNvPr id="26" name="Text 20"/>
          <p:cNvSpPr/>
          <p:nvPr/>
        </p:nvSpPr>
        <p:spPr>
          <a:xfrm>
            <a:off x="7598664" y="3429000"/>
            <a:ext cx="1618488" cy="1188720"/>
          </a:xfrm>
          <a:prstGeom prst="rect">
            <a:avLst/>
          </a:prstGeom>
          <a:noFill/>
          <a:ln/>
        </p:spPr>
        <p:txBody>
          <a:bodyPr wrap="square" lIns="0" tIns="0" rIns="0" bIns="0" rtlCol="0" anchor="ctr"/>
          <a:lstStyle/>
          <a:p>
            <a:pPr indent="0" marL="0">
              <a:buNone/>
            </a:pPr>
            <a:r>
              <a:rPr lang="en-US" sz="1150" dirty="0">
                <a:solidFill>
                  <a:srgbClr val="26304A"/>
                </a:solidFill>
                <a:latin typeface="Calibri" pitchFamily="34" charset="0"/>
                <a:ea typeface="Calibri" pitchFamily="34" charset="-122"/>
                <a:cs typeface="Calibri" pitchFamily="34" charset="-120"/>
              </a:rPr>
              <a:t>A grade and personal feedback are drafted per student.</a:t>
            </a:r>
            <a:endParaRPr lang="en-US" sz="1150" dirty="0"/>
          </a:p>
        </p:txBody>
      </p:sp>
      <p:sp>
        <p:nvSpPr>
          <p:cNvPr id="27" name="Text 21"/>
          <p:cNvSpPr/>
          <p:nvPr/>
        </p:nvSpPr>
        <p:spPr>
          <a:xfrm>
            <a:off x="9381744" y="3154680"/>
            <a:ext cx="347472" cy="457200"/>
          </a:xfrm>
          <a:prstGeom prst="rect">
            <a:avLst/>
          </a:prstGeom>
          <a:noFill/>
          <a:ln/>
        </p:spPr>
        <p:txBody>
          <a:bodyPr wrap="square" lIns="0" tIns="0" rIns="0" bIns="0" rtlCol="0" anchor="ctr"/>
          <a:lstStyle/>
          <a:p>
            <a:pPr algn="ctr" indent="0" marL="0">
              <a:buNone/>
            </a:pPr>
            <a:r>
              <a:rPr lang="en-US" sz="2000" b="1" dirty="0">
                <a:solidFill>
                  <a:srgbClr val="2158E8"/>
                </a:solidFill>
                <a:latin typeface="Calibri" pitchFamily="34" charset="0"/>
                <a:ea typeface="Calibri" pitchFamily="34" charset="-122"/>
                <a:cs typeface="Calibri" pitchFamily="34" charset="-120"/>
              </a:rPr>
              <a:t>→</a:t>
            </a:r>
            <a:endParaRPr lang="en-US" sz="2000" dirty="0"/>
          </a:p>
        </p:txBody>
      </p:sp>
      <p:sp>
        <p:nvSpPr>
          <p:cNvPr id="28" name="Shape 22"/>
          <p:cNvSpPr/>
          <p:nvPr/>
        </p:nvSpPr>
        <p:spPr>
          <a:xfrm>
            <a:off x="9656064" y="2103120"/>
            <a:ext cx="2057400" cy="2651760"/>
          </a:xfrm>
          <a:prstGeom prst="roundRect">
            <a:avLst>
              <a:gd name="adj" fmla="val 4444"/>
            </a:avLst>
          </a:prstGeom>
          <a:solidFill>
            <a:srgbClr val="111A33"/>
          </a:solidFill>
          <a:ln/>
        </p:spPr>
      </p:sp>
      <p:sp>
        <p:nvSpPr>
          <p:cNvPr id="29" name="Shape 23"/>
          <p:cNvSpPr/>
          <p:nvPr/>
        </p:nvSpPr>
        <p:spPr>
          <a:xfrm>
            <a:off x="9875520" y="2331720"/>
            <a:ext cx="566928" cy="566928"/>
          </a:xfrm>
          <a:prstGeom prst="ellipse">
            <a:avLst/>
          </a:prstGeom>
          <a:solidFill>
            <a:srgbClr val="22315E"/>
          </a:solidFill>
          <a:ln/>
        </p:spPr>
      </p:sp>
      <p:pic>
        <p:nvPicPr>
          <p:cNvPr id="30" name="Image 4" descr="/private/tmp/claude-501/-Users-furb-x-Desktop-My-Projects/d365b27d-a89f-47fc-8734-df20f634a92b/scratchpad/bilimai/icons/check-white.png">    </p:cNvPr>
          <p:cNvPicPr>
            <a:picLocks noChangeAspect="1"/>
          </p:cNvPicPr>
          <p:nvPr/>
        </p:nvPicPr>
        <p:blipFill>
          <a:blip r:embed="rId5"/>
          <a:stretch>
            <a:fillRect/>
          </a:stretch>
        </p:blipFill>
        <p:spPr>
          <a:xfrm>
            <a:off x="10022921" y="2479121"/>
            <a:ext cx="272125" cy="272125"/>
          </a:xfrm>
          <a:prstGeom prst="rect">
            <a:avLst/>
          </a:prstGeom>
        </p:spPr>
      </p:pic>
      <p:sp>
        <p:nvSpPr>
          <p:cNvPr id="31" name="Text 24"/>
          <p:cNvSpPr/>
          <p:nvPr/>
        </p:nvSpPr>
        <p:spPr>
          <a:xfrm>
            <a:off x="9875520" y="3063240"/>
            <a:ext cx="1618488"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5. Approve</a:t>
            </a:r>
            <a:endParaRPr lang="en-US" sz="1500" dirty="0"/>
          </a:p>
        </p:txBody>
      </p:sp>
      <p:sp>
        <p:nvSpPr>
          <p:cNvPr id="32" name="Text 25"/>
          <p:cNvSpPr/>
          <p:nvPr/>
        </p:nvSpPr>
        <p:spPr>
          <a:xfrm>
            <a:off x="9875520" y="3429000"/>
            <a:ext cx="1618488" cy="1188720"/>
          </a:xfrm>
          <a:prstGeom prst="rect">
            <a:avLst/>
          </a:prstGeom>
          <a:noFill/>
          <a:ln/>
        </p:spPr>
        <p:txBody>
          <a:bodyPr wrap="square" lIns="0" tIns="0" rIns="0" bIns="0" rtlCol="0" anchor="ctr"/>
          <a:lstStyle/>
          <a:p>
            <a:pPr indent="0" marL="0">
              <a:buNone/>
            </a:pPr>
            <a:r>
              <a:rPr lang="en-US" sz="1150" dirty="0">
                <a:solidFill>
                  <a:srgbClr val="D8E4FA"/>
                </a:solidFill>
                <a:latin typeface="Calibri" pitchFamily="34" charset="0"/>
                <a:ea typeface="Calibri" pitchFamily="34" charset="-122"/>
                <a:cs typeface="Calibri" pitchFamily="34" charset="-120"/>
              </a:rPr>
              <a:t>Teacher reviews, adjusts and releases in one screen.</a:t>
            </a:r>
            <a:endParaRPr lang="en-US" sz="1150" dirty="0"/>
          </a:p>
        </p:txBody>
      </p:sp>
      <p:sp>
        <p:nvSpPr>
          <p:cNvPr id="33" name="Text 26"/>
          <p:cNvSpPr/>
          <p:nvPr/>
        </p:nvSpPr>
        <p:spPr>
          <a:xfrm>
            <a:off x="548640" y="5212080"/>
            <a:ext cx="11064240" cy="731520"/>
          </a:xfrm>
          <a:prstGeom prst="rect">
            <a:avLst/>
          </a:prstGeom>
          <a:noFill/>
          <a:ln/>
        </p:spPr>
        <p:txBody>
          <a:bodyPr wrap="square" lIns="0" tIns="0" rIns="0" bIns="0" rtlCol="0" anchor="ctr"/>
          <a:lstStyle/>
          <a:p>
            <a:pPr indent="0" marL="0">
              <a:buNone/>
            </a:pPr>
            <a:r>
              <a:rPr lang="en-US" sz="1500" b="1" dirty="0">
                <a:solidFill>
                  <a:srgbClr val="2158E8"/>
                </a:solidFill>
                <a:latin typeface="Calibri" pitchFamily="34" charset="0"/>
                <a:ea typeface="Calibri" pitchFamily="34" charset="-122"/>
                <a:cs typeface="Calibri" pitchFamily="34" charset="-120"/>
              </a:rPr>
              <a:t>Minutes per class, not evenings.  </a:t>
            </a:r>
            <a:pPr indent="0" marL="0">
              <a:buNone/>
            </a:pPr>
            <a:r>
              <a:rPr lang="en-US" sz="1500" dirty="0">
                <a:solidFill>
                  <a:srgbClr val="26304A"/>
                </a:solidFill>
                <a:latin typeface="Calibri" pitchFamily="34" charset="0"/>
                <a:ea typeface="Calibri" pitchFamily="34" charset="-122"/>
                <a:cs typeface="Calibri" pitchFamily="34" charset="-120"/>
              </a:rPr>
              <a:t>And the same guardrail China’s Ministry of Education wrote into its 2025 rules: AI assists — the teacher decides.</a:t>
            </a:r>
            <a:endParaRPr lang="en-US" sz="1500" dirty="0"/>
          </a:p>
        </p:txBody>
      </p:sp>
      <p:sp>
        <p:nvSpPr>
          <p:cNvPr id="34" name="Text 27"/>
          <p:cNvSpPr/>
          <p:nvPr/>
        </p:nvSpPr>
        <p:spPr>
          <a:xfrm>
            <a:off x="548640" y="6455664"/>
            <a:ext cx="1106424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China MoE generative-AI guidance for schools, May 2025 — see Sources.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indent="0" marL="0">
              <a:buNone/>
            </a:pPr>
            <a:r>
              <a:rPr lang="en-US" sz="1300" b="1" spc="200" kern="0" dirty="0">
                <a:solidFill>
                  <a:srgbClr val="2158E8"/>
                </a:solidFill>
                <a:latin typeface="Calibri" pitchFamily="34" charset="0"/>
                <a:ea typeface="Calibri" pitchFamily="34" charset="-122"/>
                <a:cs typeface="Calibri" pitchFamily="34" charset="-120"/>
              </a:rPr>
              <a:t>PROVEN ABROAD</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11A33"/>
                </a:solidFill>
                <a:latin typeface="Calibri" pitchFamily="34" charset="0"/>
                <a:ea typeface="Calibri" pitchFamily="34" charset="-122"/>
                <a:cs typeface="Calibri" pitchFamily="34" charset="-120"/>
              </a:rPr>
              <a:t>China already did this — at national scale</a:t>
            </a:r>
            <a:endParaRPr lang="en-US" sz="3400" dirty="0"/>
          </a:p>
        </p:txBody>
      </p:sp>
      <p:sp>
        <p:nvSpPr>
          <p:cNvPr id="4" name="Shape 2"/>
          <p:cNvSpPr/>
          <p:nvPr/>
        </p:nvSpPr>
        <p:spPr>
          <a:xfrm>
            <a:off x="548640" y="1783080"/>
            <a:ext cx="3566160" cy="4206240"/>
          </a:xfrm>
          <a:prstGeom prst="roundRect">
            <a:avLst>
              <a:gd name="adj" fmla="val 3077"/>
            </a:avLst>
          </a:prstGeom>
          <a:solidFill>
            <a:srgbClr val="EDF3FC"/>
          </a:solidFill>
          <a:ln/>
        </p:spPr>
      </p:sp>
      <p:sp>
        <p:nvSpPr>
          <p:cNvPr id="5" name="Text 3"/>
          <p:cNvSpPr/>
          <p:nvPr/>
        </p:nvSpPr>
        <p:spPr>
          <a:xfrm>
            <a:off x="804672" y="1965960"/>
            <a:ext cx="3063240" cy="548640"/>
          </a:xfrm>
          <a:prstGeom prst="rect">
            <a:avLst/>
          </a:prstGeom>
          <a:noFill/>
          <a:ln/>
        </p:spPr>
        <p:txBody>
          <a:bodyPr wrap="square" lIns="0" tIns="0" rIns="0" bIns="0" rtlCol="0" anchor="ctr"/>
          <a:lstStyle/>
          <a:p>
            <a:pPr indent="0" marL="0">
              <a:buNone/>
            </a:pPr>
            <a:r>
              <a:rPr lang="en-US" sz="1300" b="1" dirty="0">
                <a:solidFill>
                  <a:srgbClr val="111A33"/>
                </a:solidFill>
                <a:latin typeface="Calibri" pitchFamily="34" charset="0"/>
                <a:ea typeface="Calibri" pitchFamily="34" charset="-122"/>
                <a:cs typeface="Calibri" pitchFamily="34" charset="-120"/>
              </a:rPr>
              <a:t>Share of Chinese schools in the AI essay-grading trial</a:t>
            </a:r>
            <a:endParaRPr lang="en-US" sz="1300" dirty="0"/>
          </a:p>
        </p:txBody>
      </p:sp>
      <p:graphicFrame>
        <p:nvGraphicFramePr>
          <p:cNvPr id="6" name="Chart 0" descr=""/>
          <p:cNvGraphicFramePr/>
          <p:nvPr/>
        </p:nvGraphicFramePr>
        <p:xfrm>
          <a:off x="804672" y="2560320"/>
          <a:ext cx="3063240" cy="23774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804672" y="3429000"/>
            <a:ext cx="3063240" cy="548640"/>
          </a:xfrm>
          <a:prstGeom prst="rect">
            <a:avLst/>
          </a:prstGeom>
          <a:noFill/>
          <a:ln/>
        </p:spPr>
        <p:txBody>
          <a:bodyPr wrap="square" lIns="0" tIns="0" rIns="0" bIns="0" rtlCol="0" anchor="ctr"/>
          <a:lstStyle/>
          <a:p>
            <a:pPr algn="ctr" indent="0" marL="0">
              <a:buNone/>
            </a:pPr>
            <a:r>
              <a:rPr lang="en-US" sz="2600" b="1" dirty="0">
                <a:solidFill>
                  <a:srgbClr val="111A33"/>
                </a:solidFill>
                <a:latin typeface="Calibri" pitchFamily="34" charset="0"/>
                <a:ea typeface="Calibri" pitchFamily="34" charset="-122"/>
                <a:cs typeface="Calibri" pitchFamily="34" charset="-120"/>
              </a:rPr>
              <a:t>1 in 4</a:t>
            </a:r>
            <a:endParaRPr lang="en-US" sz="2600" dirty="0"/>
          </a:p>
        </p:txBody>
      </p:sp>
      <p:sp>
        <p:nvSpPr>
          <p:cNvPr id="8" name="Text 5"/>
          <p:cNvSpPr/>
          <p:nvPr/>
        </p:nvSpPr>
        <p:spPr>
          <a:xfrm>
            <a:off x="804672" y="5029200"/>
            <a:ext cx="3063240" cy="365760"/>
          </a:xfrm>
          <a:prstGeom prst="rect">
            <a:avLst/>
          </a:prstGeom>
          <a:noFill/>
          <a:ln/>
        </p:spPr>
        <p:txBody>
          <a:bodyPr wrap="square" lIns="0" tIns="0" rIns="0" bIns="0" rtlCol="0" anchor="ctr"/>
          <a:lstStyle/>
          <a:p>
            <a:pPr algn="ctr" indent="0" marL="0">
              <a:buNone/>
            </a:pPr>
            <a:r>
              <a:rPr lang="en-US" sz="1250" dirty="0">
                <a:solidFill>
                  <a:srgbClr val="26304A"/>
                </a:solidFill>
                <a:latin typeface="Calibri" pitchFamily="34" charset="0"/>
                <a:ea typeface="Calibri" pitchFamily="34" charset="-122"/>
                <a:cs typeface="Calibri" pitchFamily="34" charset="-120"/>
              </a:rPr>
              <a:t>~60,000 schools · 120M+ people</a:t>
            </a:r>
            <a:endParaRPr lang="en-US" sz="1250" dirty="0"/>
          </a:p>
        </p:txBody>
      </p:sp>
      <p:sp>
        <p:nvSpPr>
          <p:cNvPr id="9" name="Text 6"/>
          <p:cNvSpPr/>
          <p:nvPr/>
        </p:nvSpPr>
        <p:spPr>
          <a:xfrm>
            <a:off x="4572000" y="1828800"/>
            <a:ext cx="3566160" cy="658368"/>
          </a:xfrm>
          <a:prstGeom prst="rect">
            <a:avLst/>
          </a:prstGeom>
          <a:noFill/>
          <a:ln/>
        </p:spPr>
        <p:txBody>
          <a:bodyPr wrap="square" lIns="0" tIns="0" rIns="0" bIns="0" rtlCol="0" anchor="ctr"/>
          <a:lstStyle/>
          <a:p>
            <a:pPr indent="0" marL="0">
              <a:buNone/>
            </a:pPr>
            <a:r>
              <a:rPr lang="en-US" sz="5400" b="1" dirty="0">
                <a:solidFill>
                  <a:srgbClr val="2158E8"/>
                </a:solidFill>
                <a:latin typeface="Calibri" pitchFamily="34" charset="0"/>
                <a:ea typeface="Calibri" pitchFamily="34" charset="-122"/>
                <a:cs typeface="Calibri" pitchFamily="34" charset="-120"/>
              </a:rPr>
              <a:t>92%</a:t>
            </a:r>
            <a:endParaRPr lang="en-US" sz="5400" dirty="0"/>
          </a:p>
        </p:txBody>
      </p:sp>
      <p:sp>
        <p:nvSpPr>
          <p:cNvPr id="10" name="Text 7"/>
          <p:cNvSpPr/>
          <p:nvPr/>
        </p:nvSpPr>
        <p:spPr>
          <a:xfrm>
            <a:off x="4572000" y="2487168"/>
            <a:ext cx="356616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of the AI’s grades matched the human teacher’s score in the national trial</a:t>
            </a:r>
            <a:endParaRPr lang="en-US" sz="1250" dirty="0"/>
          </a:p>
        </p:txBody>
      </p:sp>
      <p:sp>
        <p:nvSpPr>
          <p:cNvPr id="11" name="Text 8"/>
          <p:cNvSpPr/>
          <p:nvPr/>
        </p:nvSpPr>
        <p:spPr>
          <a:xfrm>
            <a:off x="8366760" y="1828800"/>
            <a:ext cx="3291840" cy="658368"/>
          </a:xfrm>
          <a:prstGeom prst="rect">
            <a:avLst/>
          </a:prstGeom>
          <a:noFill/>
          <a:ln/>
        </p:spPr>
        <p:txBody>
          <a:bodyPr wrap="square" lIns="0" tIns="0" rIns="0" bIns="0" rtlCol="0" anchor="ctr"/>
          <a:lstStyle/>
          <a:p>
            <a:pPr indent="0" marL="0">
              <a:buNone/>
            </a:pPr>
            <a:r>
              <a:rPr lang="en-US" sz="5400" b="1" dirty="0">
                <a:solidFill>
                  <a:srgbClr val="2158E8"/>
                </a:solidFill>
                <a:latin typeface="Calibri" pitchFamily="34" charset="0"/>
                <a:ea typeface="Calibri" pitchFamily="34" charset="-122"/>
                <a:cs typeface="Calibri" pitchFamily="34" charset="-120"/>
              </a:rPr>
              <a:t>130M+</a:t>
            </a:r>
            <a:endParaRPr lang="en-US" sz="5400" dirty="0"/>
          </a:p>
        </p:txBody>
      </p:sp>
      <p:sp>
        <p:nvSpPr>
          <p:cNvPr id="12" name="Text 9"/>
          <p:cNvSpPr/>
          <p:nvPr/>
        </p:nvSpPr>
        <p:spPr>
          <a:xfrm>
            <a:off x="8366760" y="2487168"/>
            <a:ext cx="329184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teachers and students use iFlytek’s AI education tools in 50,000+ Chinese schools</a:t>
            </a:r>
            <a:endParaRPr lang="en-US" sz="1250" dirty="0"/>
          </a:p>
        </p:txBody>
      </p:sp>
      <p:sp>
        <p:nvSpPr>
          <p:cNvPr id="13" name="Shape 10"/>
          <p:cNvSpPr/>
          <p:nvPr/>
        </p:nvSpPr>
        <p:spPr>
          <a:xfrm>
            <a:off x="4572000" y="3977640"/>
            <a:ext cx="7068312" cy="914400"/>
          </a:xfrm>
          <a:prstGeom prst="roundRect">
            <a:avLst>
              <a:gd name="adj" fmla="val 10000"/>
            </a:avLst>
          </a:prstGeom>
          <a:solidFill>
            <a:srgbClr val="EDF3FC"/>
          </a:solidFill>
          <a:ln/>
        </p:spPr>
      </p:sp>
      <p:sp>
        <p:nvSpPr>
          <p:cNvPr id="14" name="Shape 11"/>
          <p:cNvSpPr/>
          <p:nvPr/>
        </p:nvSpPr>
        <p:spPr>
          <a:xfrm>
            <a:off x="4773168" y="4151376"/>
            <a:ext cx="566928" cy="566928"/>
          </a:xfrm>
          <a:prstGeom prst="ellipse">
            <a:avLst/>
          </a:prstGeom>
          <a:solidFill>
            <a:srgbClr val="DCE8FA"/>
          </a:solidFill>
          <a:ln/>
        </p:spPr>
      </p:sp>
      <p:pic>
        <p:nvPicPr>
          <p:cNvPr id="15" name="Image 0" descr="/private/tmp/claude-501/-Users-furb-x-Desktop-My-Projects/d365b27d-a89f-47fc-8734-df20f634a92b/scratchpad/bilimai/icons/landmark-blue.png">    </p:cNvPr>
          <p:cNvPicPr>
            <a:picLocks noChangeAspect="1"/>
          </p:cNvPicPr>
          <p:nvPr/>
        </p:nvPicPr>
        <p:blipFill>
          <a:blip r:embed="rId2"/>
          <a:stretch>
            <a:fillRect/>
          </a:stretch>
        </p:blipFill>
        <p:spPr>
          <a:xfrm>
            <a:off x="4920569" y="4298777"/>
            <a:ext cx="272125" cy="272125"/>
          </a:xfrm>
          <a:prstGeom prst="rect">
            <a:avLst/>
          </a:prstGeom>
        </p:spPr>
      </p:pic>
      <p:sp>
        <p:nvSpPr>
          <p:cNvPr id="16" name="Text 12"/>
          <p:cNvSpPr/>
          <p:nvPr/>
        </p:nvSpPr>
        <p:spPr>
          <a:xfrm>
            <a:off x="5532120" y="3977640"/>
            <a:ext cx="5943600" cy="914400"/>
          </a:xfrm>
          <a:prstGeom prst="rect">
            <a:avLst/>
          </a:prstGeom>
          <a:noFill/>
          <a:ln/>
        </p:spPr>
        <p:txBody>
          <a:bodyPr wrap="square" lIns="0" tIns="0" rIns="0" bIns="0" rtlCol="0" anchor="ctr"/>
          <a:lstStyle/>
          <a:p>
            <a:pPr indent="0" marL="0">
              <a:buNone/>
            </a:pPr>
            <a:r>
              <a:rPr lang="en-US" sz="1250" b="1" dirty="0">
                <a:solidFill>
                  <a:srgbClr val="26304A"/>
                </a:solidFill>
                <a:latin typeface="Calibri" pitchFamily="34" charset="0"/>
                <a:ea typeface="Calibri" pitchFamily="34" charset="-122"/>
                <a:cs typeface="Calibri" pitchFamily="34" charset="-120"/>
              </a:rPr>
              <a:t>National policy since May 2025.  </a:t>
            </a:r>
            <a:pPr indent="0" marL="0">
              <a:buNone/>
            </a:pPr>
            <a:r>
              <a:rPr lang="en-US" sz="1250" dirty="0">
                <a:solidFill>
                  <a:srgbClr val="26304A"/>
                </a:solidFill>
                <a:latin typeface="Calibri" pitchFamily="34" charset="0"/>
                <a:ea typeface="Calibri" pitchFamily="34" charset="-122"/>
                <a:cs typeface="Calibri" pitchFamily="34" charset="-120"/>
              </a:rPr>
              <a:t>China’s Ministry of Education made AI literacy part of the school curriculum and issued rules for AI use in classrooms.</a:t>
            </a:r>
            <a:endParaRPr lang="en-US" sz="1250" dirty="0"/>
          </a:p>
        </p:txBody>
      </p:sp>
      <p:sp>
        <p:nvSpPr>
          <p:cNvPr id="17" name="Shape 13"/>
          <p:cNvSpPr/>
          <p:nvPr/>
        </p:nvSpPr>
        <p:spPr>
          <a:xfrm>
            <a:off x="4572000" y="5029200"/>
            <a:ext cx="7068312" cy="914400"/>
          </a:xfrm>
          <a:prstGeom prst="roundRect">
            <a:avLst>
              <a:gd name="adj" fmla="val 10000"/>
            </a:avLst>
          </a:prstGeom>
          <a:solidFill>
            <a:srgbClr val="EDF3FC"/>
          </a:solidFill>
          <a:ln/>
        </p:spPr>
      </p:sp>
      <p:sp>
        <p:nvSpPr>
          <p:cNvPr id="18" name="Shape 14"/>
          <p:cNvSpPr/>
          <p:nvPr/>
        </p:nvSpPr>
        <p:spPr>
          <a:xfrm>
            <a:off x="4773168" y="5202936"/>
            <a:ext cx="566928" cy="566928"/>
          </a:xfrm>
          <a:prstGeom prst="ellipse">
            <a:avLst/>
          </a:prstGeom>
          <a:solidFill>
            <a:srgbClr val="DCE8FA"/>
          </a:solidFill>
          <a:ln/>
        </p:spPr>
      </p:sp>
      <p:pic>
        <p:nvPicPr>
          <p:cNvPr id="19" name="Image 1" descr="/private/tmp/claude-501/-Users-furb-x-Desktop-My-Projects/d365b27d-a89f-47fc-8734-df20f634a92b/scratchpad/bilimai/icons/users-blue.png">    </p:cNvPr>
          <p:cNvPicPr>
            <a:picLocks noChangeAspect="1"/>
          </p:cNvPicPr>
          <p:nvPr/>
        </p:nvPicPr>
        <p:blipFill>
          <a:blip r:embed="rId3"/>
          <a:stretch>
            <a:fillRect/>
          </a:stretch>
        </p:blipFill>
        <p:spPr>
          <a:xfrm>
            <a:off x="4920569" y="5350337"/>
            <a:ext cx="272125" cy="272125"/>
          </a:xfrm>
          <a:prstGeom prst="rect">
            <a:avLst/>
          </a:prstGeom>
        </p:spPr>
      </p:pic>
      <p:sp>
        <p:nvSpPr>
          <p:cNvPr id="20" name="Text 15"/>
          <p:cNvSpPr/>
          <p:nvPr/>
        </p:nvSpPr>
        <p:spPr>
          <a:xfrm>
            <a:off x="5532120" y="5029200"/>
            <a:ext cx="5943600" cy="914400"/>
          </a:xfrm>
          <a:prstGeom prst="rect">
            <a:avLst/>
          </a:prstGeom>
          <a:noFill/>
          <a:ln/>
        </p:spPr>
        <p:txBody>
          <a:bodyPr wrap="square" lIns="0" tIns="0" rIns="0" bIns="0" rtlCol="0" anchor="ctr"/>
          <a:lstStyle/>
          <a:p>
            <a:pPr indent="0" marL="0">
              <a:buNone/>
            </a:pPr>
            <a:r>
              <a:rPr lang="en-US" sz="1250" b="1" dirty="0">
                <a:solidFill>
                  <a:srgbClr val="26304A"/>
                </a:solidFill>
                <a:latin typeface="Calibri" pitchFamily="34" charset="0"/>
                <a:ea typeface="Calibri" pitchFamily="34" charset="-122"/>
                <a:cs typeface="Calibri" pitchFamily="34" charset="-120"/>
              </a:rPr>
              <a:t>Personalised learning at scale.  </a:t>
            </a:r>
            <a:pPr indent="0" marL="0">
              <a:buNone/>
            </a:pPr>
            <a:r>
              <a:rPr lang="en-US" sz="1250" dirty="0">
                <a:solidFill>
                  <a:srgbClr val="26304A"/>
                </a:solidFill>
                <a:latin typeface="Calibri" pitchFamily="34" charset="0"/>
                <a:ea typeface="Calibri" pitchFamily="34" charset="-122"/>
                <a:cs typeface="Calibri" pitchFamily="34" charset="-120"/>
              </a:rPr>
              <a:t>Squirrel AI’s adaptive system has taught 24M+ students across 300+ cities — named a TIME Best Invention 2025.</a:t>
            </a:r>
            <a:endParaRPr lang="en-US" sz="1250" dirty="0"/>
          </a:p>
        </p:txBody>
      </p:sp>
      <p:sp>
        <p:nvSpPr>
          <p:cNvPr id="21" name="Text 16"/>
          <p:cNvSpPr/>
          <p:nvPr/>
        </p:nvSpPr>
        <p:spPr>
          <a:xfrm>
            <a:off x="548640" y="6455664"/>
            <a:ext cx="1106424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Sources: South China Morning Post 2018 (govt document); iFLYTEK 2024; People’s Daily / China Daily, May 2025; TIME 2025.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indent="0" marL="0">
              <a:buNone/>
            </a:pPr>
            <a:r>
              <a:rPr lang="en-US" sz="1300" b="1" spc="200" kern="0" dirty="0">
                <a:solidFill>
                  <a:srgbClr val="2158E8"/>
                </a:solidFill>
                <a:latin typeface="Calibri" pitchFamily="34" charset="0"/>
                <a:ea typeface="Calibri" pitchFamily="34" charset="-122"/>
                <a:cs typeface="Calibri" pitchFamily="34" charset="-120"/>
              </a:rPr>
              <a:t>DOES IT HELP STUDENTS?</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11A33"/>
                </a:solidFill>
                <a:latin typeface="Calibri" pitchFamily="34" charset="0"/>
                <a:ea typeface="Calibri" pitchFamily="34" charset="-122"/>
                <a:cs typeface="Calibri" pitchFamily="34" charset="-120"/>
              </a:rPr>
              <a:t>Automated feedback measurably improves writing</a:t>
            </a:r>
            <a:endParaRPr lang="en-US" sz="3400" dirty="0"/>
          </a:p>
        </p:txBody>
      </p:sp>
      <p:sp>
        <p:nvSpPr>
          <p:cNvPr id="4" name="Shape 2"/>
          <p:cNvSpPr/>
          <p:nvPr/>
        </p:nvSpPr>
        <p:spPr>
          <a:xfrm>
            <a:off x="548640" y="1783080"/>
            <a:ext cx="6720840" cy="4343400"/>
          </a:xfrm>
          <a:prstGeom prst="roundRect">
            <a:avLst>
              <a:gd name="adj" fmla="val 2526"/>
            </a:avLst>
          </a:prstGeom>
          <a:solidFill>
            <a:srgbClr val="EDF3FC"/>
          </a:solidFill>
          <a:ln/>
        </p:spPr>
      </p:sp>
      <p:sp>
        <p:nvSpPr>
          <p:cNvPr id="5" name="Text 3"/>
          <p:cNvSpPr/>
          <p:nvPr/>
        </p:nvSpPr>
        <p:spPr>
          <a:xfrm>
            <a:off x="822960" y="1965960"/>
            <a:ext cx="6217920" cy="320040"/>
          </a:xfrm>
          <a:prstGeom prst="rect">
            <a:avLst/>
          </a:prstGeom>
          <a:noFill/>
          <a:ln/>
        </p:spPr>
        <p:txBody>
          <a:bodyPr wrap="square" lIns="0" tIns="0" rIns="0" bIns="0" rtlCol="0" anchor="ctr"/>
          <a:lstStyle/>
          <a:p>
            <a:pPr indent="0" marL="0">
              <a:buNone/>
            </a:pPr>
            <a:r>
              <a:rPr lang="en-US" sz="1350" b="1" dirty="0">
                <a:solidFill>
                  <a:srgbClr val="111A33"/>
                </a:solidFill>
                <a:latin typeface="Calibri" pitchFamily="34" charset="0"/>
                <a:ea typeface="Calibri" pitchFamily="34" charset="-122"/>
                <a:cs typeface="Calibri" pitchFamily="34" charset="-120"/>
              </a:rPr>
              <a:t>Effect of automated writing feedback on writing quality (Hedges’ g)</a:t>
            </a:r>
            <a:endParaRPr lang="en-US" sz="1350" dirty="0"/>
          </a:p>
        </p:txBody>
      </p:sp>
      <p:graphicFrame>
        <p:nvGraphicFramePr>
          <p:cNvPr id="6" name="Chart 0" descr=""/>
          <p:cNvGraphicFramePr/>
          <p:nvPr/>
        </p:nvGraphicFramePr>
        <p:xfrm>
          <a:off x="822960" y="2377440"/>
          <a:ext cx="6172200" cy="30175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822960" y="5486400"/>
            <a:ext cx="6172200" cy="502920"/>
          </a:xfrm>
          <a:prstGeom prst="rect">
            <a:avLst/>
          </a:prstGeom>
          <a:noFill/>
          <a:ln/>
        </p:spPr>
        <p:txBody>
          <a:bodyPr wrap="square" lIns="0" tIns="0" rIns="0" bIns="0" rtlCol="0" anchor="ctr"/>
          <a:lstStyle/>
          <a:p>
            <a:pPr indent="0" marL="0">
              <a:buNone/>
            </a:pPr>
            <a:r>
              <a:rPr lang="en-US" sz="1150" i="1" dirty="0">
                <a:solidFill>
                  <a:srgbClr val="26304A"/>
                </a:solidFill>
                <a:latin typeface="Calibri" pitchFamily="34" charset="0"/>
                <a:ea typeface="Calibri" pitchFamily="34" charset="-122"/>
                <a:cs typeface="Calibri" pitchFamily="34" charset="-120"/>
              </a:rPr>
              <a:t>Both are peer-reviewed meta-analyses. In education research, g ≥ 0.55 is a medium-to-large effect.</a:t>
            </a:r>
            <a:endParaRPr lang="en-US" sz="1150" dirty="0"/>
          </a:p>
        </p:txBody>
      </p:sp>
      <p:sp>
        <p:nvSpPr>
          <p:cNvPr id="8" name="Shape 5"/>
          <p:cNvSpPr/>
          <p:nvPr/>
        </p:nvSpPr>
        <p:spPr>
          <a:xfrm>
            <a:off x="7543800" y="1783080"/>
            <a:ext cx="4096512" cy="1371600"/>
          </a:xfrm>
          <a:prstGeom prst="roundRect">
            <a:avLst>
              <a:gd name="adj" fmla="val 6667"/>
            </a:avLst>
          </a:prstGeom>
          <a:solidFill>
            <a:srgbClr val="EDF3FC"/>
          </a:solidFill>
          <a:ln/>
        </p:spPr>
      </p:sp>
      <p:sp>
        <p:nvSpPr>
          <p:cNvPr id="9" name="Shape 6"/>
          <p:cNvSpPr/>
          <p:nvPr/>
        </p:nvSpPr>
        <p:spPr>
          <a:xfrm>
            <a:off x="7744968" y="1965960"/>
            <a:ext cx="502920" cy="502920"/>
          </a:xfrm>
          <a:prstGeom prst="ellipse">
            <a:avLst/>
          </a:prstGeom>
          <a:solidFill>
            <a:srgbClr val="DCE8FA"/>
          </a:solidFill>
          <a:ln/>
        </p:spPr>
      </p:sp>
      <p:pic>
        <p:nvPicPr>
          <p:cNvPr id="10" name="Image 0" descr="/private/tmp/claude-501/-Users-furb-x-Desktop-My-Projects/d365b27d-a89f-47fc-8734-df20f634a92b/scratchpad/bilimai/icons/check-blue.png">    </p:cNvPr>
          <p:cNvPicPr>
            <a:picLocks noChangeAspect="1"/>
          </p:cNvPicPr>
          <p:nvPr/>
        </p:nvPicPr>
        <p:blipFill>
          <a:blip r:embed="rId2"/>
          <a:stretch>
            <a:fillRect/>
          </a:stretch>
        </p:blipFill>
        <p:spPr>
          <a:xfrm>
            <a:off x="7875727" y="2096719"/>
            <a:ext cx="241402" cy="241402"/>
          </a:xfrm>
          <a:prstGeom prst="rect">
            <a:avLst/>
          </a:prstGeom>
        </p:spPr>
      </p:pic>
      <p:sp>
        <p:nvSpPr>
          <p:cNvPr id="11" name="Text 7"/>
          <p:cNvSpPr/>
          <p:nvPr/>
        </p:nvSpPr>
        <p:spPr>
          <a:xfrm>
            <a:off x="8458200" y="1929384"/>
            <a:ext cx="3017520" cy="320040"/>
          </a:xfrm>
          <a:prstGeom prst="rect">
            <a:avLst/>
          </a:prstGeom>
          <a:noFill/>
          <a:ln/>
        </p:spPr>
        <p:txBody>
          <a:bodyPr wrap="square" lIns="0" tIns="0" rIns="0" bIns="0" rtlCol="0" anchor="ctr"/>
          <a:lstStyle/>
          <a:p>
            <a:pPr indent="0" marL="0">
              <a:buNone/>
            </a:pPr>
            <a:r>
              <a:rPr lang="en-US" sz="1350" b="1" dirty="0">
                <a:solidFill>
                  <a:srgbClr val="111A33"/>
                </a:solidFill>
                <a:latin typeface="Calibri" pitchFamily="34" charset="0"/>
                <a:ea typeface="Calibri" pitchFamily="34" charset="-122"/>
                <a:cs typeface="Calibri" pitchFamily="34" charset="-120"/>
              </a:rPr>
              <a:t>As accurate as humans</a:t>
            </a:r>
            <a:endParaRPr lang="en-US" sz="1350" dirty="0"/>
          </a:p>
        </p:txBody>
      </p:sp>
      <p:sp>
        <p:nvSpPr>
          <p:cNvPr id="12" name="Text 8"/>
          <p:cNvSpPr/>
          <p:nvPr/>
        </p:nvSpPr>
        <p:spPr>
          <a:xfrm>
            <a:off x="8458200" y="2258568"/>
            <a:ext cx="3063240" cy="868680"/>
          </a:xfrm>
          <a:prstGeom prst="rect">
            <a:avLst/>
          </a:prstGeom>
          <a:noFill/>
          <a:ln/>
        </p:spPr>
        <p:txBody>
          <a:bodyPr wrap="square" lIns="0" tIns="0" rIns="0" bIns="0" rtlCol="0" anchor="ctr"/>
          <a:lstStyle/>
          <a:p>
            <a:pPr indent="0" marL="0">
              <a:buNone/>
            </a:pPr>
            <a:r>
              <a:rPr lang="en-US" sz="1050" dirty="0">
                <a:solidFill>
                  <a:srgbClr val="26304A"/>
                </a:solidFill>
                <a:latin typeface="Calibri" pitchFamily="34" charset="0"/>
                <a:ea typeface="Calibri" pitchFamily="34" charset="-122"/>
                <a:cs typeface="Calibri" pitchFamily="34" charset="-120"/>
              </a:rPr>
              <a:t>In the Hewlett Foundation’s ASAP benchmark, automated essay scoring matched human-to-human agreement on most prompt types.</a:t>
            </a:r>
            <a:endParaRPr lang="en-US" sz="1050" dirty="0"/>
          </a:p>
        </p:txBody>
      </p:sp>
      <p:sp>
        <p:nvSpPr>
          <p:cNvPr id="13" name="Shape 9"/>
          <p:cNvSpPr/>
          <p:nvPr/>
        </p:nvSpPr>
        <p:spPr>
          <a:xfrm>
            <a:off x="7543800" y="3291840"/>
            <a:ext cx="4096512" cy="1371600"/>
          </a:xfrm>
          <a:prstGeom prst="roundRect">
            <a:avLst>
              <a:gd name="adj" fmla="val 6667"/>
            </a:avLst>
          </a:prstGeom>
          <a:solidFill>
            <a:srgbClr val="EDF3FC"/>
          </a:solidFill>
          <a:ln/>
        </p:spPr>
      </p:sp>
      <p:sp>
        <p:nvSpPr>
          <p:cNvPr id="14" name="Shape 10"/>
          <p:cNvSpPr/>
          <p:nvPr/>
        </p:nvSpPr>
        <p:spPr>
          <a:xfrm>
            <a:off x="7744968" y="3474720"/>
            <a:ext cx="502920" cy="502920"/>
          </a:xfrm>
          <a:prstGeom prst="ellipse">
            <a:avLst/>
          </a:prstGeom>
          <a:solidFill>
            <a:srgbClr val="DCE8FA"/>
          </a:solidFill>
          <a:ln/>
        </p:spPr>
      </p:sp>
      <p:pic>
        <p:nvPicPr>
          <p:cNvPr id="15" name="Image 1" descr="/private/tmp/claude-501/-Users-furb-x-Desktop-My-Projects/d365b27d-a89f-47fc-8734-df20f634a92b/scratchpad/bilimai/icons/bolt-blue.png">    </p:cNvPr>
          <p:cNvPicPr>
            <a:picLocks noChangeAspect="1"/>
          </p:cNvPicPr>
          <p:nvPr/>
        </p:nvPicPr>
        <p:blipFill>
          <a:blip r:embed="rId3"/>
          <a:stretch>
            <a:fillRect/>
          </a:stretch>
        </p:blipFill>
        <p:spPr>
          <a:xfrm>
            <a:off x="7875727" y="3605479"/>
            <a:ext cx="241402" cy="241402"/>
          </a:xfrm>
          <a:prstGeom prst="rect">
            <a:avLst/>
          </a:prstGeom>
        </p:spPr>
      </p:pic>
      <p:sp>
        <p:nvSpPr>
          <p:cNvPr id="16" name="Text 11"/>
          <p:cNvSpPr/>
          <p:nvPr/>
        </p:nvSpPr>
        <p:spPr>
          <a:xfrm>
            <a:off x="8458200" y="3438144"/>
            <a:ext cx="3017520" cy="320040"/>
          </a:xfrm>
          <a:prstGeom prst="rect">
            <a:avLst/>
          </a:prstGeom>
          <a:noFill/>
          <a:ln/>
        </p:spPr>
        <p:txBody>
          <a:bodyPr wrap="square" lIns="0" tIns="0" rIns="0" bIns="0" rtlCol="0" anchor="ctr"/>
          <a:lstStyle/>
          <a:p>
            <a:pPr indent="0" marL="0">
              <a:buNone/>
            </a:pPr>
            <a:r>
              <a:rPr lang="en-US" sz="1350" b="1" dirty="0">
                <a:solidFill>
                  <a:srgbClr val="111A33"/>
                </a:solidFill>
                <a:latin typeface="Calibri" pitchFamily="34" charset="0"/>
                <a:ea typeface="Calibri" pitchFamily="34" charset="-122"/>
                <a:cs typeface="Calibri" pitchFamily="34" charset="-120"/>
              </a:rPr>
              <a:t>Feedback arrives while it matters</a:t>
            </a:r>
            <a:endParaRPr lang="en-US" sz="1350" dirty="0"/>
          </a:p>
        </p:txBody>
      </p:sp>
      <p:sp>
        <p:nvSpPr>
          <p:cNvPr id="17" name="Text 12"/>
          <p:cNvSpPr/>
          <p:nvPr/>
        </p:nvSpPr>
        <p:spPr>
          <a:xfrm>
            <a:off x="8458200" y="3767328"/>
            <a:ext cx="3063240" cy="868680"/>
          </a:xfrm>
          <a:prstGeom prst="rect">
            <a:avLst/>
          </a:prstGeom>
          <a:noFill/>
          <a:ln/>
        </p:spPr>
        <p:txBody>
          <a:bodyPr wrap="square" lIns="0" tIns="0" rIns="0" bIns="0" rtlCol="0" anchor="ctr"/>
          <a:lstStyle/>
          <a:p>
            <a:pPr indent="0" marL="0">
              <a:buNone/>
            </a:pPr>
            <a:r>
              <a:rPr lang="en-US" sz="1050" dirty="0">
                <a:solidFill>
                  <a:srgbClr val="26304A"/>
                </a:solidFill>
                <a:latin typeface="Calibri" pitchFamily="34" charset="0"/>
                <a:ea typeface="Calibri" pitchFamily="34" charset="-122"/>
                <a:cs typeface="Calibri" pitchFamily="34" charset="-120"/>
              </a:rPr>
              <a:t>Students get feedback the same day they write — not two weeks later when the class has moved on.</a:t>
            </a:r>
            <a:endParaRPr lang="en-US" sz="1050" dirty="0"/>
          </a:p>
        </p:txBody>
      </p:sp>
      <p:sp>
        <p:nvSpPr>
          <p:cNvPr id="18" name="Shape 13"/>
          <p:cNvSpPr/>
          <p:nvPr/>
        </p:nvSpPr>
        <p:spPr>
          <a:xfrm>
            <a:off x="7543800" y="4800600"/>
            <a:ext cx="4096512" cy="1371600"/>
          </a:xfrm>
          <a:prstGeom prst="roundRect">
            <a:avLst>
              <a:gd name="adj" fmla="val 6667"/>
            </a:avLst>
          </a:prstGeom>
          <a:solidFill>
            <a:srgbClr val="EDF3FC"/>
          </a:solidFill>
          <a:ln/>
        </p:spPr>
      </p:sp>
      <p:sp>
        <p:nvSpPr>
          <p:cNvPr id="19" name="Shape 14"/>
          <p:cNvSpPr/>
          <p:nvPr/>
        </p:nvSpPr>
        <p:spPr>
          <a:xfrm>
            <a:off x="7744968" y="4983480"/>
            <a:ext cx="502920" cy="502920"/>
          </a:xfrm>
          <a:prstGeom prst="ellipse">
            <a:avLst/>
          </a:prstGeom>
          <a:solidFill>
            <a:srgbClr val="DCE8FA"/>
          </a:solidFill>
          <a:ln/>
        </p:spPr>
      </p:sp>
      <p:pic>
        <p:nvPicPr>
          <p:cNvPr id="20" name="Image 2" descr="/private/tmp/claude-501/-Users-furb-x-Desktop-My-Projects/d365b27d-a89f-47fc-8734-df20f634a92b/scratchpad/bilimai/icons/shield-blue.png">    </p:cNvPr>
          <p:cNvPicPr>
            <a:picLocks noChangeAspect="1"/>
          </p:cNvPicPr>
          <p:nvPr/>
        </p:nvPicPr>
        <p:blipFill>
          <a:blip r:embed="rId4"/>
          <a:stretch>
            <a:fillRect/>
          </a:stretch>
        </p:blipFill>
        <p:spPr>
          <a:xfrm>
            <a:off x="7875727" y="5114239"/>
            <a:ext cx="241402" cy="241402"/>
          </a:xfrm>
          <a:prstGeom prst="rect">
            <a:avLst/>
          </a:prstGeom>
        </p:spPr>
      </p:pic>
      <p:sp>
        <p:nvSpPr>
          <p:cNvPr id="21" name="Text 15"/>
          <p:cNvSpPr/>
          <p:nvPr/>
        </p:nvSpPr>
        <p:spPr>
          <a:xfrm>
            <a:off x="8458200" y="4946904"/>
            <a:ext cx="3017520" cy="320040"/>
          </a:xfrm>
          <a:prstGeom prst="rect">
            <a:avLst/>
          </a:prstGeom>
          <a:noFill/>
          <a:ln/>
        </p:spPr>
        <p:txBody>
          <a:bodyPr wrap="square" lIns="0" tIns="0" rIns="0" bIns="0" rtlCol="0" anchor="ctr"/>
          <a:lstStyle/>
          <a:p>
            <a:pPr indent="0" marL="0">
              <a:buNone/>
            </a:pPr>
            <a:r>
              <a:rPr lang="en-US" sz="1350" b="1" dirty="0">
                <a:solidFill>
                  <a:srgbClr val="111A33"/>
                </a:solidFill>
                <a:latin typeface="Calibri" pitchFamily="34" charset="0"/>
                <a:ea typeface="Calibri" pitchFamily="34" charset="-122"/>
                <a:cs typeface="Calibri" pitchFamily="34" charset="-120"/>
              </a:rPr>
              <a:t>Consistent and fair</a:t>
            </a:r>
            <a:endParaRPr lang="en-US" sz="1350" dirty="0"/>
          </a:p>
        </p:txBody>
      </p:sp>
      <p:sp>
        <p:nvSpPr>
          <p:cNvPr id="22" name="Text 16"/>
          <p:cNvSpPr/>
          <p:nvPr/>
        </p:nvSpPr>
        <p:spPr>
          <a:xfrm>
            <a:off x="8458200" y="5276088"/>
            <a:ext cx="3063240" cy="868680"/>
          </a:xfrm>
          <a:prstGeom prst="rect">
            <a:avLst/>
          </a:prstGeom>
          <a:noFill/>
          <a:ln/>
        </p:spPr>
        <p:txBody>
          <a:bodyPr wrap="square" lIns="0" tIns="0" rIns="0" bIns="0" rtlCol="0" anchor="ctr"/>
          <a:lstStyle/>
          <a:p>
            <a:pPr indent="0" marL="0">
              <a:buNone/>
            </a:pPr>
            <a:r>
              <a:rPr lang="en-US" sz="1050" dirty="0">
                <a:solidFill>
                  <a:srgbClr val="26304A"/>
                </a:solidFill>
                <a:latin typeface="Calibri" pitchFamily="34" charset="0"/>
                <a:ea typeface="Calibri" pitchFamily="34" charset="-122"/>
                <a:cs typeface="Calibri" pitchFamily="34" charset="-120"/>
              </a:rPr>
              <a:t>The same rubric, applied the same way, to every student — no end-of-stack fatigue.</a:t>
            </a:r>
            <a:endParaRPr lang="en-US" sz="1050" dirty="0"/>
          </a:p>
        </p:txBody>
      </p:sp>
      <p:sp>
        <p:nvSpPr>
          <p:cNvPr id="23" name="Text 17"/>
          <p:cNvSpPr/>
          <p:nvPr/>
        </p:nvSpPr>
        <p:spPr>
          <a:xfrm>
            <a:off x="548640" y="6455664"/>
            <a:ext cx="1106424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Sources: Fleckenstein et al., Frontiers in AI 2023; Zhai &amp; Ma, J. Educational Computing Research 2023; Kaggle ASAP-AES 2012.</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indent="0" marL="0">
              <a:buNone/>
            </a:pPr>
            <a:r>
              <a:rPr lang="en-US" sz="1300" b="1" spc="200" kern="0" dirty="0">
                <a:solidFill>
                  <a:srgbClr val="2158E8"/>
                </a:solidFill>
                <a:latin typeface="Calibri" pitchFamily="34" charset="0"/>
                <a:ea typeface="Calibri" pitchFamily="34" charset="-122"/>
                <a:cs typeface="Calibri" pitchFamily="34" charset="-120"/>
              </a:rPr>
              <a:t>WHY UZBEKISTAN, WHY NOW</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11A33"/>
                </a:solidFill>
                <a:latin typeface="Calibri" pitchFamily="34" charset="0"/>
                <a:ea typeface="Calibri" pitchFamily="34" charset="-122"/>
                <a:cs typeface="Calibri" pitchFamily="34" charset="-120"/>
              </a:rPr>
              <a:t>The impact here would be enormous</a:t>
            </a:r>
            <a:endParaRPr lang="en-US" sz="3400" dirty="0"/>
          </a:p>
        </p:txBody>
      </p:sp>
      <p:sp>
        <p:nvSpPr>
          <p:cNvPr id="4" name="Text 2"/>
          <p:cNvSpPr/>
          <p:nvPr/>
        </p:nvSpPr>
        <p:spPr>
          <a:xfrm>
            <a:off x="548640" y="1783080"/>
            <a:ext cx="2651760" cy="658368"/>
          </a:xfrm>
          <a:prstGeom prst="rect">
            <a:avLst/>
          </a:prstGeom>
          <a:noFill/>
          <a:ln/>
        </p:spPr>
        <p:txBody>
          <a:bodyPr wrap="square" lIns="0" tIns="0" rIns="0" bIns="0" rtlCol="0" anchor="ctr"/>
          <a:lstStyle/>
          <a:p>
            <a:pPr indent="0" marL="0">
              <a:buNone/>
            </a:pPr>
            <a:r>
              <a:rPr lang="en-US" sz="3000" b="1" dirty="0">
                <a:solidFill>
                  <a:srgbClr val="2158E8"/>
                </a:solidFill>
                <a:latin typeface="Calibri" pitchFamily="34" charset="0"/>
                <a:ea typeface="Calibri" pitchFamily="34" charset="-122"/>
                <a:cs typeface="Calibri" pitchFamily="34" charset="-120"/>
              </a:rPr>
              <a:t>564,900</a:t>
            </a:r>
            <a:endParaRPr lang="en-US" sz="3000" dirty="0"/>
          </a:p>
        </p:txBody>
      </p:sp>
      <p:sp>
        <p:nvSpPr>
          <p:cNvPr id="5" name="Text 3"/>
          <p:cNvSpPr/>
          <p:nvPr/>
        </p:nvSpPr>
        <p:spPr>
          <a:xfrm>
            <a:off x="548640" y="2441448"/>
            <a:ext cx="265176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school teachers (2024/25)</a:t>
            </a:r>
            <a:endParaRPr lang="en-US" sz="1250" dirty="0"/>
          </a:p>
        </p:txBody>
      </p:sp>
      <p:sp>
        <p:nvSpPr>
          <p:cNvPr id="6" name="Text 4"/>
          <p:cNvSpPr/>
          <p:nvPr/>
        </p:nvSpPr>
        <p:spPr>
          <a:xfrm>
            <a:off x="3383280" y="1783080"/>
            <a:ext cx="2651760" cy="658368"/>
          </a:xfrm>
          <a:prstGeom prst="rect">
            <a:avLst/>
          </a:prstGeom>
          <a:noFill/>
          <a:ln/>
        </p:spPr>
        <p:txBody>
          <a:bodyPr wrap="square" lIns="0" tIns="0" rIns="0" bIns="0" rtlCol="0" anchor="ctr"/>
          <a:lstStyle/>
          <a:p>
            <a:pPr indent="0" marL="0">
              <a:buNone/>
            </a:pPr>
            <a:r>
              <a:rPr lang="en-US" sz="3000" b="1" dirty="0">
                <a:solidFill>
                  <a:srgbClr val="2158E8"/>
                </a:solidFill>
                <a:latin typeface="Calibri" pitchFamily="34" charset="0"/>
                <a:ea typeface="Calibri" pitchFamily="34" charset="-122"/>
                <a:cs typeface="Calibri" pitchFamily="34" charset="-120"/>
              </a:rPr>
              <a:t>6.5M</a:t>
            </a:r>
            <a:endParaRPr lang="en-US" sz="3000" dirty="0"/>
          </a:p>
        </p:txBody>
      </p:sp>
      <p:sp>
        <p:nvSpPr>
          <p:cNvPr id="7" name="Text 5"/>
          <p:cNvSpPr/>
          <p:nvPr/>
        </p:nvSpPr>
        <p:spPr>
          <a:xfrm>
            <a:off x="3383280" y="2441448"/>
            <a:ext cx="265176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students in 10,522 schools</a:t>
            </a:r>
            <a:endParaRPr lang="en-US" sz="1250" dirty="0"/>
          </a:p>
        </p:txBody>
      </p:sp>
      <p:sp>
        <p:nvSpPr>
          <p:cNvPr id="8" name="Text 6"/>
          <p:cNvSpPr/>
          <p:nvPr/>
        </p:nvSpPr>
        <p:spPr>
          <a:xfrm>
            <a:off x="6217920" y="1783080"/>
            <a:ext cx="2651760" cy="658368"/>
          </a:xfrm>
          <a:prstGeom prst="rect">
            <a:avLst/>
          </a:prstGeom>
          <a:noFill/>
          <a:ln/>
        </p:spPr>
        <p:txBody>
          <a:bodyPr wrap="square" lIns="0" tIns="0" rIns="0" bIns="0" rtlCol="0" anchor="ctr"/>
          <a:lstStyle/>
          <a:p>
            <a:pPr indent="0" marL="0">
              <a:buNone/>
            </a:pPr>
            <a:r>
              <a:rPr lang="en-US" sz="3000" b="1" dirty="0">
                <a:solidFill>
                  <a:srgbClr val="2158E8"/>
                </a:solidFill>
                <a:latin typeface="Calibri" pitchFamily="34" charset="0"/>
                <a:ea typeface="Calibri" pitchFamily="34" charset="-122"/>
                <a:cs typeface="Calibri" pitchFamily="34" charset="-120"/>
              </a:rPr>
              <a:t>73%</a:t>
            </a:r>
            <a:endParaRPr lang="en-US" sz="3000" dirty="0"/>
          </a:p>
        </p:txBody>
      </p:sp>
      <p:sp>
        <p:nvSpPr>
          <p:cNvPr id="9" name="Text 7"/>
          <p:cNvSpPr/>
          <p:nvPr/>
        </p:nvSpPr>
        <p:spPr>
          <a:xfrm>
            <a:off x="6217920" y="2441448"/>
            <a:ext cx="265176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of schools run multiple shifts</a:t>
            </a:r>
            <a:endParaRPr lang="en-US" sz="1250" dirty="0"/>
          </a:p>
        </p:txBody>
      </p:sp>
      <p:sp>
        <p:nvSpPr>
          <p:cNvPr id="10" name="Text 8"/>
          <p:cNvSpPr/>
          <p:nvPr/>
        </p:nvSpPr>
        <p:spPr>
          <a:xfrm>
            <a:off x="9052560" y="1783080"/>
            <a:ext cx="2560320" cy="658368"/>
          </a:xfrm>
          <a:prstGeom prst="rect">
            <a:avLst/>
          </a:prstGeom>
          <a:noFill/>
          <a:ln/>
        </p:spPr>
        <p:txBody>
          <a:bodyPr wrap="square" lIns="0" tIns="0" rIns="0" bIns="0" rtlCol="0" anchor="ctr"/>
          <a:lstStyle/>
          <a:p>
            <a:pPr indent="0" marL="0">
              <a:buNone/>
            </a:pPr>
            <a:r>
              <a:rPr lang="en-US" sz="3000" b="1" dirty="0">
                <a:solidFill>
                  <a:srgbClr val="2158E8"/>
                </a:solidFill>
                <a:latin typeface="Calibri" pitchFamily="34" charset="0"/>
                <a:ea typeface="Calibri" pitchFamily="34" charset="-122"/>
                <a:cs typeface="Calibri" pitchFamily="34" charset="-120"/>
              </a:rPr>
              <a:t>+43%</a:t>
            </a:r>
            <a:endParaRPr lang="en-US" sz="3000" dirty="0"/>
          </a:p>
        </p:txBody>
      </p:sp>
      <p:sp>
        <p:nvSpPr>
          <p:cNvPr id="11" name="Text 9"/>
          <p:cNvSpPr/>
          <p:nvPr/>
        </p:nvSpPr>
        <p:spPr>
          <a:xfrm>
            <a:off x="9052560" y="2441448"/>
            <a:ext cx="256032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more teachers than 2015 — and still short</a:t>
            </a:r>
            <a:endParaRPr lang="en-US" sz="1250" dirty="0"/>
          </a:p>
        </p:txBody>
      </p:sp>
      <p:sp>
        <p:nvSpPr>
          <p:cNvPr id="12" name="Shape 10"/>
          <p:cNvSpPr/>
          <p:nvPr/>
        </p:nvSpPr>
        <p:spPr>
          <a:xfrm>
            <a:off x="548640" y="3154680"/>
            <a:ext cx="6035040" cy="3017520"/>
          </a:xfrm>
          <a:prstGeom prst="roundRect">
            <a:avLst>
              <a:gd name="adj" fmla="val 3636"/>
            </a:avLst>
          </a:prstGeom>
          <a:solidFill>
            <a:srgbClr val="EDF3FC"/>
          </a:solidFill>
          <a:ln/>
        </p:spPr>
      </p:sp>
      <p:sp>
        <p:nvSpPr>
          <p:cNvPr id="13" name="Text 11"/>
          <p:cNvSpPr/>
          <p:nvPr/>
        </p:nvSpPr>
        <p:spPr>
          <a:xfrm>
            <a:off x="822960" y="3310128"/>
            <a:ext cx="5486400" cy="320040"/>
          </a:xfrm>
          <a:prstGeom prst="rect">
            <a:avLst/>
          </a:prstGeom>
          <a:noFill/>
          <a:ln/>
        </p:spPr>
        <p:txBody>
          <a:bodyPr wrap="square" lIns="0" tIns="0" rIns="0" bIns="0" rtlCol="0" anchor="ctr"/>
          <a:lstStyle/>
          <a:p>
            <a:pPr indent="0" marL="0">
              <a:buNone/>
            </a:pPr>
            <a:r>
              <a:rPr lang="en-US" sz="1350" b="1" dirty="0">
                <a:solidFill>
                  <a:srgbClr val="111A33"/>
                </a:solidFill>
                <a:latin typeface="Calibri" pitchFamily="34" charset="0"/>
                <a:ea typeface="Calibri" pitchFamily="34" charset="-122"/>
                <a:cs typeface="Calibri" pitchFamily="34" charset="-120"/>
              </a:rPr>
              <a:t>Marking hours per teacher per week</a:t>
            </a:r>
            <a:endParaRPr lang="en-US" sz="1350" dirty="0"/>
          </a:p>
        </p:txBody>
      </p:sp>
      <p:graphicFrame>
        <p:nvGraphicFramePr>
          <p:cNvPr id="14" name="Chart 0" descr=""/>
          <p:cNvGraphicFramePr/>
          <p:nvPr/>
        </p:nvGraphicFramePr>
        <p:xfrm>
          <a:off x="822960" y="3657600"/>
          <a:ext cx="5486400" cy="196596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p:nvPr/>
        </p:nvSpPr>
        <p:spPr>
          <a:xfrm>
            <a:off x="822960" y="5669280"/>
            <a:ext cx="5486400" cy="45720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Illustrative model: 75% marking-time reduction on a 5 h/week baseline (regional surveys report 4.6–6.4 h).</a:t>
            </a:r>
            <a:endParaRPr lang="en-US" sz="1000" dirty="0"/>
          </a:p>
        </p:txBody>
      </p:sp>
      <p:sp>
        <p:nvSpPr>
          <p:cNvPr id="16" name="Shape 13"/>
          <p:cNvSpPr/>
          <p:nvPr/>
        </p:nvSpPr>
        <p:spPr>
          <a:xfrm>
            <a:off x="6903720" y="3154680"/>
            <a:ext cx="4736592" cy="3017520"/>
          </a:xfrm>
          <a:prstGeom prst="roundRect">
            <a:avLst>
              <a:gd name="adj" fmla="val 3636"/>
            </a:avLst>
          </a:prstGeom>
          <a:solidFill>
            <a:srgbClr val="111A33"/>
          </a:solidFill>
          <a:ln/>
        </p:spPr>
      </p:sp>
      <p:pic>
        <p:nvPicPr>
          <p:cNvPr id="17" name="Image 0" descr="/private/tmp/claude-501/-Users-furb-x-Desktop-My-Projects/d365b27d-a89f-47fc-8734-df20f634a92b/scratchpad/bilimai/icons/clock-white.png">    </p:cNvPr>
          <p:cNvPicPr>
            <a:picLocks noChangeAspect="1"/>
          </p:cNvPicPr>
          <p:nvPr/>
        </p:nvPicPr>
        <p:blipFill>
          <a:blip r:embed="rId2"/>
          <a:stretch>
            <a:fillRect/>
          </a:stretch>
        </p:blipFill>
        <p:spPr>
          <a:xfrm>
            <a:off x="7223760" y="3474720"/>
            <a:ext cx="457200" cy="457200"/>
          </a:xfrm>
          <a:prstGeom prst="rect">
            <a:avLst/>
          </a:prstGeom>
        </p:spPr>
      </p:pic>
      <p:sp>
        <p:nvSpPr>
          <p:cNvPr id="18" name="Text 14"/>
          <p:cNvSpPr/>
          <p:nvPr/>
        </p:nvSpPr>
        <p:spPr>
          <a:xfrm>
            <a:off x="7223760" y="3977640"/>
            <a:ext cx="4114800" cy="6858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 2 million</a:t>
            </a:r>
            <a:endParaRPr lang="en-US" sz="4400" dirty="0"/>
          </a:p>
        </p:txBody>
      </p:sp>
      <p:sp>
        <p:nvSpPr>
          <p:cNvPr id="19" name="Text 15"/>
          <p:cNvSpPr/>
          <p:nvPr/>
        </p:nvSpPr>
        <p:spPr>
          <a:xfrm>
            <a:off x="7223760" y="4709160"/>
            <a:ext cx="4114800" cy="1280160"/>
          </a:xfrm>
          <a:prstGeom prst="rect">
            <a:avLst/>
          </a:prstGeom>
          <a:noFill/>
          <a:ln/>
        </p:spPr>
        <p:txBody>
          <a:bodyPr wrap="square" lIns="0" tIns="0" rIns="0" bIns="0" rtlCol="0" anchor="ctr"/>
          <a:lstStyle/>
          <a:p>
            <a:pPr indent="0" marL="0">
              <a:buNone/>
            </a:pPr>
            <a:r>
              <a:rPr lang="en-US" sz="1400" dirty="0">
                <a:solidFill>
                  <a:srgbClr val="D8E4FA"/>
                </a:solidFill>
                <a:latin typeface="Calibri" pitchFamily="34" charset="0"/>
                <a:ea typeface="Calibri" pitchFamily="34" charset="-122"/>
                <a:cs typeface="Calibri" pitchFamily="34" charset="-120"/>
              </a:rPr>
              <a:t>teacher-hours handed back every single week, nationwide — time for lesson quality, struggling students, and teachers’ own lives.</a:t>
            </a:r>
            <a:endParaRPr lang="en-US" sz="1400" dirty="0"/>
          </a:p>
        </p:txBody>
      </p:sp>
      <p:sp>
        <p:nvSpPr>
          <p:cNvPr id="20" name="Text 16"/>
          <p:cNvSpPr/>
          <p:nvPr/>
        </p:nvSpPr>
        <p:spPr>
          <a:xfrm>
            <a:off x="548640" y="6455664"/>
            <a:ext cx="1106424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Sources: National Statistics Committee of Uzbekistan 2025; The Diplomat 2024; OECD TALIS 2024. Savings figure is BilimAI’s model.</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indent="0" marL="0">
              <a:buNone/>
            </a:pPr>
            <a:r>
              <a:rPr lang="en-US" sz="1300" b="1" spc="200" kern="0" dirty="0">
                <a:solidFill>
                  <a:srgbClr val="2158E8"/>
                </a:solidFill>
                <a:latin typeface="Calibri" pitchFamily="34" charset="0"/>
                <a:ea typeface="Calibri" pitchFamily="34" charset="-122"/>
                <a:cs typeface="Calibri" pitchFamily="34" charset="-120"/>
              </a:rPr>
              <a:t>POLICY FIT</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11A33"/>
                </a:solidFill>
                <a:latin typeface="Calibri" pitchFamily="34" charset="0"/>
                <a:ea typeface="Calibri" pitchFamily="34" charset="-122"/>
                <a:cs typeface="Calibri" pitchFamily="34" charset="-120"/>
              </a:rPr>
              <a:t>Aligned with the state’s own strategy</a:t>
            </a:r>
            <a:endParaRPr lang="en-US" sz="3400" dirty="0"/>
          </a:p>
        </p:txBody>
      </p:sp>
      <p:sp>
        <p:nvSpPr>
          <p:cNvPr id="4" name="Shape 2"/>
          <p:cNvSpPr/>
          <p:nvPr/>
        </p:nvSpPr>
        <p:spPr>
          <a:xfrm>
            <a:off x="548640" y="1920240"/>
            <a:ext cx="3611880" cy="3749040"/>
          </a:xfrm>
          <a:prstGeom prst="roundRect">
            <a:avLst>
              <a:gd name="adj" fmla="val 3038"/>
            </a:avLst>
          </a:prstGeom>
          <a:solidFill>
            <a:srgbClr val="EDF3FC"/>
          </a:solidFill>
          <a:ln/>
        </p:spPr>
      </p:sp>
      <p:sp>
        <p:nvSpPr>
          <p:cNvPr id="5" name="Shape 3"/>
          <p:cNvSpPr/>
          <p:nvPr/>
        </p:nvSpPr>
        <p:spPr>
          <a:xfrm>
            <a:off x="841248" y="2240280"/>
            <a:ext cx="658368" cy="658368"/>
          </a:xfrm>
          <a:prstGeom prst="ellipse">
            <a:avLst/>
          </a:prstGeom>
          <a:solidFill>
            <a:srgbClr val="DCE8FA"/>
          </a:solidFill>
          <a:ln/>
        </p:spPr>
      </p:sp>
      <p:pic>
        <p:nvPicPr>
          <p:cNvPr id="6" name="Image 0" descr="/private/tmp/claude-501/-Users-furb-x-Desktop-My-Projects/d365b27d-a89f-47fc-8734-df20f634a92b/scratchpad/bilimai/icons/landmark-blue.png">    </p:cNvPr>
          <p:cNvPicPr>
            <a:picLocks noChangeAspect="1"/>
          </p:cNvPicPr>
          <p:nvPr/>
        </p:nvPicPr>
        <p:blipFill>
          <a:blip r:embed="rId1"/>
          <a:stretch>
            <a:fillRect/>
          </a:stretch>
        </p:blipFill>
        <p:spPr>
          <a:xfrm>
            <a:off x="1012424" y="2411456"/>
            <a:ext cx="316017" cy="316017"/>
          </a:xfrm>
          <a:prstGeom prst="rect">
            <a:avLst/>
          </a:prstGeom>
        </p:spPr>
      </p:pic>
      <p:sp>
        <p:nvSpPr>
          <p:cNvPr id="7" name="Text 4"/>
          <p:cNvSpPr/>
          <p:nvPr/>
        </p:nvSpPr>
        <p:spPr>
          <a:xfrm>
            <a:off x="841248" y="3108960"/>
            <a:ext cx="3026664" cy="274320"/>
          </a:xfrm>
          <a:prstGeom prst="rect">
            <a:avLst/>
          </a:prstGeom>
          <a:noFill/>
          <a:ln/>
        </p:spPr>
        <p:txBody>
          <a:bodyPr wrap="square" lIns="0" tIns="0" rIns="0" bIns="0" rtlCol="0" anchor="ctr"/>
          <a:lstStyle/>
          <a:p>
            <a:pPr indent="0" marL="0">
              <a:buNone/>
            </a:pPr>
            <a:r>
              <a:rPr lang="en-US" sz="1050" b="1" spc="150" kern="0" dirty="0">
                <a:solidFill>
                  <a:srgbClr val="2158E8"/>
                </a:solidFill>
                <a:latin typeface="Calibri" pitchFamily="34" charset="0"/>
                <a:ea typeface="Calibri" pitchFamily="34" charset="-122"/>
                <a:cs typeface="Calibri" pitchFamily="34" charset="-120"/>
              </a:rPr>
              <a:t>DECREE DP-6079</a:t>
            </a:r>
            <a:endParaRPr lang="en-US" sz="1050" dirty="0"/>
          </a:p>
        </p:txBody>
      </p:sp>
      <p:sp>
        <p:nvSpPr>
          <p:cNvPr id="8" name="Text 5"/>
          <p:cNvSpPr/>
          <p:nvPr/>
        </p:nvSpPr>
        <p:spPr>
          <a:xfrm>
            <a:off x="841248" y="3401568"/>
            <a:ext cx="3026664" cy="685800"/>
          </a:xfrm>
          <a:prstGeom prst="rect">
            <a:avLst/>
          </a:prstGeom>
          <a:noFill/>
          <a:ln/>
        </p:spPr>
        <p:txBody>
          <a:bodyPr wrap="square" lIns="0" tIns="0" rIns="0" bIns="0" rtlCol="0" anchor="ctr"/>
          <a:lstStyle/>
          <a:p>
            <a:pPr indent="0" marL="0">
              <a:buNone/>
            </a:pPr>
            <a:r>
              <a:rPr lang="en-US" sz="1800" b="1" dirty="0">
                <a:solidFill>
                  <a:srgbClr val="111A33"/>
                </a:solidFill>
                <a:latin typeface="Calibri" pitchFamily="34" charset="0"/>
                <a:ea typeface="Calibri" pitchFamily="34" charset="-122"/>
                <a:cs typeface="Calibri" pitchFamily="34" charset="-120"/>
              </a:rPr>
              <a:t>Digital Uzbekistan 2030</a:t>
            </a:r>
            <a:endParaRPr lang="en-US" sz="1800" dirty="0"/>
          </a:p>
        </p:txBody>
      </p:sp>
      <p:sp>
        <p:nvSpPr>
          <p:cNvPr id="9" name="Text 6"/>
          <p:cNvSpPr/>
          <p:nvPr/>
        </p:nvSpPr>
        <p:spPr>
          <a:xfrm>
            <a:off x="841248" y="4114800"/>
            <a:ext cx="3026664" cy="1417320"/>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Presidential Decree DP-6079 (2020) names education a priority sector for digital transformation — 1,627 projects nationwide.</a:t>
            </a:r>
            <a:endParaRPr lang="en-US" sz="1250" dirty="0"/>
          </a:p>
        </p:txBody>
      </p:sp>
      <p:sp>
        <p:nvSpPr>
          <p:cNvPr id="10" name="Shape 7"/>
          <p:cNvSpPr/>
          <p:nvPr/>
        </p:nvSpPr>
        <p:spPr>
          <a:xfrm>
            <a:off x="4425696" y="1920240"/>
            <a:ext cx="3611880" cy="3749040"/>
          </a:xfrm>
          <a:prstGeom prst="roundRect">
            <a:avLst>
              <a:gd name="adj" fmla="val 3038"/>
            </a:avLst>
          </a:prstGeom>
          <a:solidFill>
            <a:srgbClr val="EDF3FC"/>
          </a:solidFill>
          <a:ln/>
        </p:spPr>
      </p:sp>
      <p:sp>
        <p:nvSpPr>
          <p:cNvPr id="11" name="Shape 8"/>
          <p:cNvSpPr/>
          <p:nvPr/>
        </p:nvSpPr>
        <p:spPr>
          <a:xfrm>
            <a:off x="4718304" y="2240280"/>
            <a:ext cx="658368" cy="658368"/>
          </a:xfrm>
          <a:prstGeom prst="ellipse">
            <a:avLst/>
          </a:prstGeom>
          <a:solidFill>
            <a:srgbClr val="DCE8FA"/>
          </a:solidFill>
          <a:ln/>
        </p:spPr>
      </p:sp>
      <p:pic>
        <p:nvPicPr>
          <p:cNvPr id="12" name="Image 1" descr="/private/tmp/claude-501/-Users-furb-x-Desktop-My-Projects/d365b27d-a89f-47fc-8734-df20f634a92b/scratchpad/bilimai/icons/brain-blue.png">    </p:cNvPr>
          <p:cNvPicPr>
            <a:picLocks noChangeAspect="1"/>
          </p:cNvPicPr>
          <p:nvPr/>
        </p:nvPicPr>
        <p:blipFill>
          <a:blip r:embed="rId2"/>
          <a:stretch>
            <a:fillRect/>
          </a:stretch>
        </p:blipFill>
        <p:spPr>
          <a:xfrm>
            <a:off x="4889480" y="2411456"/>
            <a:ext cx="316017" cy="316017"/>
          </a:xfrm>
          <a:prstGeom prst="rect">
            <a:avLst/>
          </a:prstGeom>
        </p:spPr>
      </p:pic>
      <p:sp>
        <p:nvSpPr>
          <p:cNvPr id="13" name="Text 9"/>
          <p:cNvSpPr/>
          <p:nvPr/>
        </p:nvSpPr>
        <p:spPr>
          <a:xfrm>
            <a:off x="4718304" y="3108960"/>
            <a:ext cx="3026664" cy="274320"/>
          </a:xfrm>
          <a:prstGeom prst="rect">
            <a:avLst/>
          </a:prstGeom>
          <a:noFill/>
          <a:ln/>
        </p:spPr>
        <p:txBody>
          <a:bodyPr wrap="square" lIns="0" tIns="0" rIns="0" bIns="0" rtlCol="0" anchor="ctr"/>
          <a:lstStyle/>
          <a:p>
            <a:pPr indent="0" marL="0">
              <a:buNone/>
            </a:pPr>
            <a:r>
              <a:rPr lang="en-US" sz="1050" b="1" spc="150" kern="0" dirty="0">
                <a:solidFill>
                  <a:srgbClr val="2158E8"/>
                </a:solidFill>
                <a:latin typeface="Calibri" pitchFamily="34" charset="0"/>
                <a:ea typeface="Calibri" pitchFamily="34" charset="-122"/>
                <a:cs typeface="Calibri" pitchFamily="34" charset="-120"/>
              </a:rPr>
              <a:t>RESOLUTION PQ-358</a:t>
            </a:r>
            <a:endParaRPr lang="en-US" sz="1050" dirty="0"/>
          </a:p>
        </p:txBody>
      </p:sp>
      <p:sp>
        <p:nvSpPr>
          <p:cNvPr id="14" name="Text 10"/>
          <p:cNvSpPr/>
          <p:nvPr/>
        </p:nvSpPr>
        <p:spPr>
          <a:xfrm>
            <a:off x="4718304" y="3401568"/>
            <a:ext cx="3026664" cy="685800"/>
          </a:xfrm>
          <a:prstGeom prst="rect">
            <a:avLst/>
          </a:prstGeom>
          <a:noFill/>
          <a:ln/>
        </p:spPr>
        <p:txBody>
          <a:bodyPr wrap="square" lIns="0" tIns="0" rIns="0" bIns="0" rtlCol="0" anchor="ctr"/>
          <a:lstStyle/>
          <a:p>
            <a:pPr indent="0" marL="0">
              <a:buNone/>
            </a:pPr>
            <a:r>
              <a:rPr lang="en-US" sz="1800" b="1" dirty="0">
                <a:solidFill>
                  <a:srgbClr val="111A33"/>
                </a:solidFill>
                <a:latin typeface="Calibri" pitchFamily="34" charset="0"/>
                <a:ea typeface="Calibri" pitchFamily="34" charset="-122"/>
                <a:cs typeface="Calibri" pitchFamily="34" charset="-120"/>
              </a:rPr>
              <a:t>National AI Strategy 2030</a:t>
            </a:r>
            <a:endParaRPr lang="en-US" sz="1800" dirty="0"/>
          </a:p>
        </p:txBody>
      </p:sp>
      <p:sp>
        <p:nvSpPr>
          <p:cNvPr id="15" name="Text 11"/>
          <p:cNvSpPr/>
          <p:nvPr/>
        </p:nvSpPr>
        <p:spPr>
          <a:xfrm>
            <a:off x="4718304" y="4114800"/>
            <a:ext cx="3026664" cy="1417320"/>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Presidential Resolution PQ-358 (Oct 2024) targets a $1.5B domestic AI market by 2030 — with education a named priority for AI adoption.</a:t>
            </a:r>
            <a:endParaRPr lang="en-US" sz="1250" dirty="0"/>
          </a:p>
        </p:txBody>
      </p:sp>
      <p:sp>
        <p:nvSpPr>
          <p:cNvPr id="16" name="Shape 12"/>
          <p:cNvSpPr/>
          <p:nvPr/>
        </p:nvSpPr>
        <p:spPr>
          <a:xfrm>
            <a:off x="8302752" y="1920240"/>
            <a:ext cx="3611880" cy="3749040"/>
          </a:xfrm>
          <a:prstGeom prst="roundRect">
            <a:avLst>
              <a:gd name="adj" fmla="val 3038"/>
            </a:avLst>
          </a:prstGeom>
          <a:solidFill>
            <a:srgbClr val="EDF3FC"/>
          </a:solidFill>
          <a:ln/>
        </p:spPr>
      </p:sp>
      <p:sp>
        <p:nvSpPr>
          <p:cNvPr id="17" name="Shape 13"/>
          <p:cNvSpPr/>
          <p:nvPr/>
        </p:nvSpPr>
        <p:spPr>
          <a:xfrm>
            <a:off x="8595360" y="2240280"/>
            <a:ext cx="658368" cy="658368"/>
          </a:xfrm>
          <a:prstGeom prst="ellipse">
            <a:avLst/>
          </a:prstGeom>
          <a:solidFill>
            <a:srgbClr val="DCE8FA"/>
          </a:solidFill>
          <a:ln/>
        </p:spPr>
      </p:sp>
      <p:pic>
        <p:nvPicPr>
          <p:cNvPr id="18" name="Image 2" descr="/private/tmp/claude-501/-Users-furb-x-Desktop-My-Projects/d365b27d-a89f-47fc-8734-df20f634a92b/scratchpad/bilimai/icons/globe-blue.png">    </p:cNvPr>
          <p:cNvPicPr>
            <a:picLocks noChangeAspect="1"/>
          </p:cNvPicPr>
          <p:nvPr/>
        </p:nvPicPr>
        <p:blipFill>
          <a:blip r:embed="rId3"/>
          <a:stretch>
            <a:fillRect/>
          </a:stretch>
        </p:blipFill>
        <p:spPr>
          <a:xfrm>
            <a:off x="8766536" y="2411456"/>
            <a:ext cx="316017" cy="316017"/>
          </a:xfrm>
          <a:prstGeom prst="rect">
            <a:avLst/>
          </a:prstGeom>
        </p:spPr>
      </p:pic>
      <p:sp>
        <p:nvSpPr>
          <p:cNvPr id="19" name="Text 14"/>
          <p:cNvSpPr/>
          <p:nvPr/>
        </p:nvSpPr>
        <p:spPr>
          <a:xfrm>
            <a:off x="8595360" y="3108960"/>
            <a:ext cx="3026664" cy="274320"/>
          </a:xfrm>
          <a:prstGeom prst="rect">
            <a:avLst/>
          </a:prstGeom>
          <a:noFill/>
          <a:ln/>
        </p:spPr>
        <p:txBody>
          <a:bodyPr wrap="square" lIns="0" tIns="0" rIns="0" bIns="0" rtlCol="0" anchor="ctr"/>
          <a:lstStyle/>
          <a:p>
            <a:pPr indent="0" marL="0">
              <a:buNone/>
            </a:pPr>
            <a:r>
              <a:rPr lang="en-US" sz="1050" b="1" spc="150" kern="0" dirty="0">
                <a:solidFill>
                  <a:srgbClr val="2158E8"/>
                </a:solidFill>
                <a:latin typeface="Calibri" pitchFamily="34" charset="0"/>
                <a:ea typeface="Calibri" pitchFamily="34" charset="-122"/>
                <a:cs typeface="Calibri" pitchFamily="34" charset="-120"/>
              </a:rPr>
              <a:t>CHINA MOE MODEL</a:t>
            </a:r>
            <a:endParaRPr lang="en-US" sz="1050" dirty="0"/>
          </a:p>
        </p:txBody>
      </p:sp>
      <p:sp>
        <p:nvSpPr>
          <p:cNvPr id="20" name="Text 15"/>
          <p:cNvSpPr/>
          <p:nvPr/>
        </p:nvSpPr>
        <p:spPr>
          <a:xfrm>
            <a:off x="8595360" y="3401568"/>
            <a:ext cx="3026664" cy="685800"/>
          </a:xfrm>
          <a:prstGeom prst="rect">
            <a:avLst/>
          </a:prstGeom>
          <a:noFill/>
          <a:ln/>
        </p:spPr>
        <p:txBody>
          <a:bodyPr wrap="square" lIns="0" tIns="0" rIns="0" bIns="0" rtlCol="0" anchor="ctr"/>
          <a:lstStyle/>
          <a:p>
            <a:pPr indent="0" marL="0">
              <a:buNone/>
            </a:pPr>
            <a:r>
              <a:rPr lang="en-US" sz="1800" b="1" dirty="0">
                <a:solidFill>
                  <a:srgbClr val="111A33"/>
                </a:solidFill>
                <a:latin typeface="Calibri" pitchFamily="34" charset="0"/>
                <a:ea typeface="Calibri" pitchFamily="34" charset="-122"/>
                <a:cs typeface="Calibri" pitchFamily="34" charset="-120"/>
              </a:rPr>
              <a:t>The proven playbook</a:t>
            </a:r>
            <a:endParaRPr lang="en-US" sz="1800" dirty="0"/>
          </a:p>
        </p:txBody>
      </p:sp>
      <p:sp>
        <p:nvSpPr>
          <p:cNvPr id="21" name="Text 16"/>
          <p:cNvSpPr/>
          <p:nvPr/>
        </p:nvSpPr>
        <p:spPr>
          <a:xfrm>
            <a:off x="8595360" y="4114800"/>
            <a:ext cx="3026664" cy="1417320"/>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China moved from trials (2018) to national AI-in-education policy (2025). BilimAI brings the same playbook home — with teachers in charge.</a:t>
            </a:r>
            <a:endParaRPr lang="en-US" sz="1250" dirty="0"/>
          </a:p>
        </p:txBody>
      </p:sp>
      <p:sp>
        <p:nvSpPr>
          <p:cNvPr id="22" name="Text 17"/>
          <p:cNvSpPr/>
          <p:nvPr/>
        </p:nvSpPr>
        <p:spPr>
          <a:xfrm>
            <a:off x="548640" y="5943600"/>
            <a:ext cx="11064240" cy="411480"/>
          </a:xfrm>
          <a:prstGeom prst="rect">
            <a:avLst/>
          </a:prstGeom>
          <a:noFill/>
          <a:ln/>
        </p:spPr>
        <p:txBody>
          <a:bodyPr wrap="square" lIns="0" tIns="0" rIns="0" bIns="0" rtlCol="0" anchor="ctr"/>
          <a:lstStyle/>
          <a:p>
            <a:pPr indent="0" marL="0">
              <a:buNone/>
            </a:pPr>
            <a:r>
              <a:rPr lang="en-US" sz="1600" b="1" i="1" dirty="0">
                <a:solidFill>
                  <a:srgbClr val="2158E8"/>
                </a:solidFill>
                <a:latin typeface="Calibri" pitchFamily="34" charset="0"/>
                <a:ea typeface="Calibri" pitchFamily="34" charset="-122"/>
                <a:cs typeface="Calibri" pitchFamily="34" charset="-120"/>
              </a:rPr>
              <a:t>A state-backed BilimAI pilot is not a bet against policy — it executes it.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indent="0" marL="0">
              <a:buNone/>
            </a:pPr>
            <a:r>
              <a:rPr lang="en-US" sz="1300" b="1" spc="200" kern="0" dirty="0">
                <a:solidFill>
                  <a:srgbClr val="2158E8"/>
                </a:solidFill>
                <a:latin typeface="Calibri" pitchFamily="34" charset="0"/>
                <a:ea typeface="Calibri" pitchFamily="34" charset="-122"/>
                <a:cs typeface="Calibri" pitchFamily="34" charset="-120"/>
              </a:rPr>
              <a:t>THE MARKET</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11A33"/>
                </a:solidFill>
                <a:latin typeface="Calibri" pitchFamily="34" charset="0"/>
                <a:ea typeface="Calibri" pitchFamily="34" charset="-122"/>
                <a:cs typeface="Calibri" pitchFamily="34" charset="-120"/>
              </a:rPr>
              <a:t>AI in education is growing 5× in six years</a:t>
            </a:r>
            <a:endParaRPr lang="en-US" sz="3400" dirty="0"/>
          </a:p>
        </p:txBody>
      </p:sp>
      <p:sp>
        <p:nvSpPr>
          <p:cNvPr id="4" name="Shape 2"/>
          <p:cNvSpPr/>
          <p:nvPr/>
        </p:nvSpPr>
        <p:spPr>
          <a:xfrm>
            <a:off x="548640" y="1783080"/>
            <a:ext cx="7315200" cy="4343400"/>
          </a:xfrm>
          <a:prstGeom prst="roundRect">
            <a:avLst>
              <a:gd name="adj" fmla="val 2526"/>
            </a:avLst>
          </a:prstGeom>
          <a:solidFill>
            <a:srgbClr val="EDF3FC"/>
          </a:solidFill>
          <a:ln/>
        </p:spPr>
      </p:sp>
      <p:sp>
        <p:nvSpPr>
          <p:cNvPr id="5" name="Text 3"/>
          <p:cNvSpPr/>
          <p:nvPr/>
        </p:nvSpPr>
        <p:spPr>
          <a:xfrm>
            <a:off x="822960" y="1965960"/>
            <a:ext cx="6766560" cy="320040"/>
          </a:xfrm>
          <a:prstGeom prst="rect">
            <a:avLst/>
          </a:prstGeom>
          <a:noFill/>
          <a:ln/>
        </p:spPr>
        <p:txBody>
          <a:bodyPr wrap="square" lIns="0" tIns="0" rIns="0" bIns="0" rtlCol="0" anchor="ctr"/>
          <a:lstStyle/>
          <a:p>
            <a:pPr indent="0" marL="0">
              <a:buNone/>
            </a:pPr>
            <a:r>
              <a:rPr lang="en-US" sz="1350" b="1" dirty="0">
                <a:solidFill>
                  <a:srgbClr val="111A33"/>
                </a:solidFill>
                <a:latin typeface="Calibri" pitchFamily="34" charset="0"/>
                <a:ea typeface="Calibri" pitchFamily="34" charset="-122"/>
                <a:cs typeface="Calibri" pitchFamily="34" charset="-120"/>
              </a:rPr>
              <a:t>Global AI-in-education market, USD billions</a:t>
            </a:r>
            <a:endParaRPr lang="en-US" sz="1350" dirty="0"/>
          </a:p>
        </p:txBody>
      </p:sp>
      <p:graphicFrame>
        <p:nvGraphicFramePr>
          <p:cNvPr id="6" name="Chart 0" descr=""/>
          <p:cNvGraphicFramePr/>
          <p:nvPr/>
        </p:nvGraphicFramePr>
        <p:xfrm>
          <a:off x="822960" y="2377440"/>
          <a:ext cx="6766560" cy="31546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822960" y="5623560"/>
            <a:ext cx="6766560" cy="36576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2025–2029 interpolated at the reported ~33% CAGR between the published 2024 and 2030 figures.</a:t>
            </a:r>
            <a:endParaRPr lang="en-US" sz="1000" dirty="0"/>
          </a:p>
        </p:txBody>
      </p:sp>
      <p:sp>
        <p:nvSpPr>
          <p:cNvPr id="8" name="Text 5"/>
          <p:cNvSpPr/>
          <p:nvPr/>
        </p:nvSpPr>
        <p:spPr>
          <a:xfrm>
            <a:off x="8229600" y="2103120"/>
            <a:ext cx="3383280" cy="658368"/>
          </a:xfrm>
          <a:prstGeom prst="rect">
            <a:avLst/>
          </a:prstGeom>
          <a:noFill/>
          <a:ln/>
        </p:spPr>
        <p:txBody>
          <a:bodyPr wrap="square" lIns="0" tIns="0" rIns="0" bIns="0" rtlCol="0" anchor="ctr"/>
          <a:lstStyle/>
          <a:p>
            <a:pPr indent="0" marL="0">
              <a:buNone/>
            </a:pPr>
            <a:r>
              <a:rPr lang="en-US" sz="4000" b="1" dirty="0">
                <a:solidFill>
                  <a:srgbClr val="2158E8"/>
                </a:solidFill>
                <a:latin typeface="Calibri" pitchFamily="34" charset="0"/>
                <a:ea typeface="Calibri" pitchFamily="34" charset="-122"/>
                <a:cs typeface="Calibri" pitchFamily="34" charset="-120"/>
              </a:rPr>
              <a:t>$32.3B</a:t>
            </a:r>
            <a:endParaRPr lang="en-US" sz="4000" dirty="0"/>
          </a:p>
        </p:txBody>
      </p:sp>
      <p:sp>
        <p:nvSpPr>
          <p:cNvPr id="9" name="Text 6"/>
          <p:cNvSpPr/>
          <p:nvPr/>
        </p:nvSpPr>
        <p:spPr>
          <a:xfrm>
            <a:off x="8229600" y="2761488"/>
            <a:ext cx="338328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projected global AI-education market by 2030 (Grand View Research)</a:t>
            </a:r>
            <a:endParaRPr lang="en-US" sz="1250" dirty="0"/>
          </a:p>
        </p:txBody>
      </p:sp>
      <p:sp>
        <p:nvSpPr>
          <p:cNvPr id="10" name="Text 7"/>
          <p:cNvSpPr/>
          <p:nvPr/>
        </p:nvSpPr>
        <p:spPr>
          <a:xfrm>
            <a:off x="8229600" y="3657600"/>
            <a:ext cx="3383280" cy="658368"/>
          </a:xfrm>
          <a:prstGeom prst="rect">
            <a:avLst/>
          </a:prstGeom>
          <a:noFill/>
          <a:ln/>
        </p:spPr>
        <p:txBody>
          <a:bodyPr wrap="square" lIns="0" tIns="0" rIns="0" bIns="0" rtlCol="0" anchor="ctr"/>
          <a:lstStyle/>
          <a:p>
            <a:pPr indent="0" marL="0">
              <a:buNone/>
            </a:pPr>
            <a:r>
              <a:rPr lang="en-US" sz="4000" b="1" dirty="0">
                <a:solidFill>
                  <a:srgbClr val="2158E8"/>
                </a:solidFill>
                <a:latin typeface="Calibri" pitchFamily="34" charset="0"/>
                <a:ea typeface="Calibri" pitchFamily="34" charset="-122"/>
                <a:cs typeface="Calibri" pitchFamily="34" charset="-120"/>
              </a:rPr>
              <a:t>$1.5B</a:t>
            </a:r>
            <a:endParaRPr lang="en-US" sz="4000" dirty="0"/>
          </a:p>
        </p:txBody>
      </p:sp>
      <p:sp>
        <p:nvSpPr>
          <p:cNvPr id="11" name="Text 8"/>
          <p:cNvSpPr/>
          <p:nvPr/>
        </p:nvSpPr>
        <p:spPr>
          <a:xfrm>
            <a:off x="8229600" y="4315968"/>
            <a:ext cx="338328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Uzbekistan’s own 2030 target for domestic AI products and services</a:t>
            </a:r>
            <a:endParaRPr lang="en-US" sz="1250" dirty="0"/>
          </a:p>
        </p:txBody>
      </p:sp>
      <p:sp>
        <p:nvSpPr>
          <p:cNvPr id="12" name="Text 9"/>
          <p:cNvSpPr/>
          <p:nvPr/>
        </p:nvSpPr>
        <p:spPr>
          <a:xfrm>
            <a:off x="8229600" y="5120640"/>
            <a:ext cx="3383280" cy="1005840"/>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First-mover in Uzbek-language grading — and a bridge to 80M+ Turkic-language speakers across Central Asia.</a:t>
            </a:r>
            <a:endParaRPr lang="en-US" sz="1250" dirty="0"/>
          </a:p>
        </p:txBody>
      </p:sp>
      <p:sp>
        <p:nvSpPr>
          <p:cNvPr id="13" name="Text 10"/>
          <p:cNvSpPr/>
          <p:nvPr/>
        </p:nvSpPr>
        <p:spPr>
          <a:xfrm>
            <a:off x="548640" y="6455664"/>
            <a:ext cx="1106424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Sources: Grand View Research 2025; Presidential Resolution PQ-358 (2024).</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indent="0" marL="0">
              <a:buNone/>
            </a:pPr>
            <a:r>
              <a:rPr lang="en-US" sz="1300" b="1" spc="200" kern="0" dirty="0">
                <a:solidFill>
                  <a:srgbClr val="2158E8"/>
                </a:solidFill>
                <a:latin typeface="Calibri" pitchFamily="34" charset="0"/>
                <a:ea typeface="Calibri" pitchFamily="34" charset="-122"/>
                <a:cs typeface="Calibri" pitchFamily="34" charset="-120"/>
              </a:rPr>
              <a:t>ROADMAP</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11A33"/>
                </a:solidFill>
                <a:latin typeface="Calibri" pitchFamily="34" charset="0"/>
                <a:ea typeface="Calibri" pitchFamily="34" charset="-122"/>
                <a:cs typeface="Calibri" pitchFamily="34" charset="-120"/>
              </a:rPr>
              <a:t>Pilot first. Prove it. Then scale.</a:t>
            </a:r>
            <a:endParaRPr lang="en-US" sz="3400" dirty="0"/>
          </a:p>
        </p:txBody>
      </p:sp>
      <p:sp>
        <p:nvSpPr>
          <p:cNvPr id="4" name="Shape 2"/>
          <p:cNvSpPr/>
          <p:nvPr/>
        </p:nvSpPr>
        <p:spPr>
          <a:xfrm>
            <a:off x="548640" y="1874520"/>
            <a:ext cx="3611880" cy="3977640"/>
          </a:xfrm>
          <a:prstGeom prst="roundRect">
            <a:avLst>
              <a:gd name="adj" fmla="val 3038"/>
            </a:avLst>
          </a:prstGeom>
          <a:solidFill>
            <a:srgbClr val="111A33"/>
          </a:solidFill>
          <a:ln/>
        </p:spPr>
      </p:sp>
      <p:sp>
        <p:nvSpPr>
          <p:cNvPr id="5" name="Shape 3"/>
          <p:cNvSpPr/>
          <p:nvPr/>
        </p:nvSpPr>
        <p:spPr>
          <a:xfrm>
            <a:off x="841248" y="2194560"/>
            <a:ext cx="658368" cy="658368"/>
          </a:xfrm>
          <a:prstGeom prst="ellipse">
            <a:avLst/>
          </a:prstGeom>
          <a:solidFill>
            <a:srgbClr val="22315E"/>
          </a:solidFill>
          <a:ln/>
        </p:spPr>
      </p:sp>
      <p:pic>
        <p:nvPicPr>
          <p:cNvPr id="6" name="Image 0" descr="/private/tmp/claude-501/-Users-furb-x-Desktop-My-Projects/d365b27d-a89f-47fc-8734-df20f634a92b/scratchpad/bilimai/icons/rocket-white.png">    </p:cNvPr>
          <p:cNvPicPr>
            <a:picLocks noChangeAspect="1"/>
          </p:cNvPicPr>
          <p:nvPr/>
        </p:nvPicPr>
        <p:blipFill>
          <a:blip r:embed="rId1"/>
          <a:stretch>
            <a:fillRect/>
          </a:stretch>
        </p:blipFill>
        <p:spPr>
          <a:xfrm>
            <a:off x="1012424" y="2365736"/>
            <a:ext cx="316017" cy="316017"/>
          </a:xfrm>
          <a:prstGeom prst="rect">
            <a:avLst/>
          </a:prstGeom>
        </p:spPr>
      </p:pic>
      <p:sp>
        <p:nvSpPr>
          <p:cNvPr id="7" name="Text 4"/>
          <p:cNvSpPr/>
          <p:nvPr/>
        </p:nvSpPr>
        <p:spPr>
          <a:xfrm>
            <a:off x="841248" y="3063240"/>
            <a:ext cx="3026664" cy="274320"/>
          </a:xfrm>
          <a:prstGeom prst="rect">
            <a:avLst/>
          </a:prstGeom>
          <a:noFill/>
          <a:ln/>
        </p:spPr>
        <p:txBody>
          <a:bodyPr wrap="square" lIns="0" tIns="0" rIns="0" bIns="0" rtlCol="0" anchor="ctr"/>
          <a:lstStyle/>
          <a:p>
            <a:pPr indent="0" marL="0">
              <a:buNone/>
            </a:pPr>
            <a:r>
              <a:rPr lang="en-US" sz="1050" b="1" spc="150" kern="0" dirty="0">
                <a:solidFill>
                  <a:srgbClr val="8FB0F0"/>
                </a:solidFill>
                <a:latin typeface="Calibri" pitchFamily="34" charset="0"/>
                <a:ea typeface="Calibri" pitchFamily="34" charset="-122"/>
                <a:cs typeface="Calibri" pitchFamily="34" charset="-120"/>
              </a:rPr>
              <a:t>PHASE 1 · 2026–27</a:t>
            </a:r>
            <a:endParaRPr lang="en-US" sz="1050" dirty="0"/>
          </a:p>
        </p:txBody>
      </p:sp>
      <p:sp>
        <p:nvSpPr>
          <p:cNvPr id="8" name="Text 5"/>
          <p:cNvSpPr/>
          <p:nvPr/>
        </p:nvSpPr>
        <p:spPr>
          <a:xfrm>
            <a:off x="841248" y="3355848"/>
            <a:ext cx="3026664"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Pilot</a:t>
            </a:r>
            <a:endParaRPr lang="en-US" sz="2000" dirty="0"/>
          </a:p>
        </p:txBody>
      </p:sp>
      <p:sp>
        <p:nvSpPr>
          <p:cNvPr id="9" name="Text 6"/>
          <p:cNvSpPr/>
          <p:nvPr/>
        </p:nvSpPr>
        <p:spPr>
          <a:xfrm>
            <a:off x="841248" y="3840480"/>
            <a:ext cx="3026664" cy="1874520"/>
          </a:xfrm>
          <a:prstGeom prst="rect">
            <a:avLst/>
          </a:prstGeom>
          <a:noFill/>
          <a:ln/>
        </p:spPr>
        <p:txBody>
          <a:bodyPr wrap="square" lIns="0" tIns="0" rIns="0" bIns="0" rtlCol="0" anchor="ctr"/>
          <a:lstStyle/>
          <a:p>
            <a:pPr indent="0" marL="0">
              <a:buNone/>
            </a:pPr>
            <a:r>
              <a:rPr lang="en-US" sz="1150" dirty="0">
                <a:solidFill>
                  <a:srgbClr val="D8E4FA"/>
                </a:solidFill>
                <a:latin typeface="Calibri" pitchFamily="34" charset="0"/>
                <a:ea typeface="Calibri" pitchFamily="34" charset="-122"/>
                <a:cs typeface="Calibri" pitchFamily="34" charset="-120"/>
              </a:rPr>
              <a:t>100 schools in 1–2 regions. Uzbek + Russian language models trained on curriculum rubrics. Teachers co-design the feedback style. Independent evaluation of accuracy vs teacher grades.</a:t>
            </a:r>
            <a:endParaRPr lang="en-US" sz="1150" dirty="0"/>
          </a:p>
        </p:txBody>
      </p:sp>
      <p:sp>
        <p:nvSpPr>
          <p:cNvPr id="10" name="Shape 7"/>
          <p:cNvSpPr/>
          <p:nvPr/>
        </p:nvSpPr>
        <p:spPr>
          <a:xfrm>
            <a:off x="4425696" y="1874520"/>
            <a:ext cx="3611880" cy="3977640"/>
          </a:xfrm>
          <a:prstGeom prst="roundRect">
            <a:avLst>
              <a:gd name="adj" fmla="val 3038"/>
            </a:avLst>
          </a:prstGeom>
          <a:solidFill>
            <a:srgbClr val="EDF3FC"/>
          </a:solidFill>
          <a:ln/>
        </p:spPr>
      </p:sp>
      <p:sp>
        <p:nvSpPr>
          <p:cNvPr id="11" name="Shape 8"/>
          <p:cNvSpPr/>
          <p:nvPr/>
        </p:nvSpPr>
        <p:spPr>
          <a:xfrm>
            <a:off x="4718304" y="2194560"/>
            <a:ext cx="658368" cy="658368"/>
          </a:xfrm>
          <a:prstGeom prst="ellipse">
            <a:avLst/>
          </a:prstGeom>
          <a:solidFill>
            <a:srgbClr val="DCE8FA"/>
          </a:solidFill>
          <a:ln/>
        </p:spPr>
      </p:sp>
      <p:pic>
        <p:nvPicPr>
          <p:cNvPr id="12" name="Image 1" descr="/private/tmp/claude-501/-Users-furb-x-Desktop-My-Projects/d365b27d-a89f-47fc-8734-df20f634a92b/scratchpad/bilimai/icons/school-blue.png">    </p:cNvPr>
          <p:cNvPicPr>
            <a:picLocks noChangeAspect="1"/>
          </p:cNvPicPr>
          <p:nvPr/>
        </p:nvPicPr>
        <p:blipFill>
          <a:blip r:embed="rId2"/>
          <a:stretch>
            <a:fillRect/>
          </a:stretch>
        </p:blipFill>
        <p:spPr>
          <a:xfrm>
            <a:off x="4889480" y="2365736"/>
            <a:ext cx="316017" cy="316017"/>
          </a:xfrm>
          <a:prstGeom prst="rect">
            <a:avLst/>
          </a:prstGeom>
        </p:spPr>
      </p:pic>
      <p:sp>
        <p:nvSpPr>
          <p:cNvPr id="13" name="Text 9"/>
          <p:cNvSpPr/>
          <p:nvPr/>
        </p:nvSpPr>
        <p:spPr>
          <a:xfrm>
            <a:off x="4718304" y="3063240"/>
            <a:ext cx="3026664" cy="274320"/>
          </a:xfrm>
          <a:prstGeom prst="rect">
            <a:avLst/>
          </a:prstGeom>
          <a:noFill/>
          <a:ln/>
        </p:spPr>
        <p:txBody>
          <a:bodyPr wrap="square" lIns="0" tIns="0" rIns="0" bIns="0" rtlCol="0" anchor="ctr"/>
          <a:lstStyle/>
          <a:p>
            <a:pPr indent="0" marL="0">
              <a:buNone/>
            </a:pPr>
            <a:r>
              <a:rPr lang="en-US" sz="1050" b="1" spc="150" kern="0" dirty="0">
                <a:solidFill>
                  <a:srgbClr val="2158E8"/>
                </a:solidFill>
                <a:latin typeface="Calibri" pitchFamily="34" charset="0"/>
                <a:ea typeface="Calibri" pitchFamily="34" charset="-122"/>
                <a:cs typeface="Calibri" pitchFamily="34" charset="-120"/>
              </a:rPr>
              <a:t>PHASE 2 · 2027–28</a:t>
            </a:r>
            <a:endParaRPr lang="en-US" sz="1050" dirty="0"/>
          </a:p>
        </p:txBody>
      </p:sp>
      <p:sp>
        <p:nvSpPr>
          <p:cNvPr id="14" name="Text 10"/>
          <p:cNvSpPr/>
          <p:nvPr/>
        </p:nvSpPr>
        <p:spPr>
          <a:xfrm>
            <a:off x="4718304" y="3355848"/>
            <a:ext cx="3026664" cy="457200"/>
          </a:xfrm>
          <a:prstGeom prst="rect">
            <a:avLst/>
          </a:prstGeom>
          <a:noFill/>
          <a:ln/>
        </p:spPr>
        <p:txBody>
          <a:bodyPr wrap="square" lIns="0" tIns="0" rIns="0" bIns="0" rtlCol="0" anchor="ctr"/>
          <a:lstStyle/>
          <a:p>
            <a:pPr indent="0" marL="0">
              <a:buNone/>
            </a:pPr>
            <a:r>
              <a:rPr lang="en-US" sz="2000" b="1" dirty="0">
                <a:solidFill>
                  <a:srgbClr val="111A33"/>
                </a:solidFill>
                <a:latin typeface="Calibri" pitchFamily="34" charset="0"/>
                <a:ea typeface="Calibri" pitchFamily="34" charset="-122"/>
                <a:cs typeface="Calibri" pitchFamily="34" charset="-120"/>
              </a:rPr>
              <a:t>Regional scale</a:t>
            </a:r>
            <a:endParaRPr lang="en-US" sz="2000" dirty="0"/>
          </a:p>
        </p:txBody>
      </p:sp>
      <p:sp>
        <p:nvSpPr>
          <p:cNvPr id="15" name="Text 11"/>
          <p:cNvSpPr/>
          <p:nvPr/>
        </p:nvSpPr>
        <p:spPr>
          <a:xfrm>
            <a:off x="4718304" y="3840480"/>
            <a:ext cx="3026664" cy="1874520"/>
          </a:xfrm>
          <a:prstGeom prst="rect">
            <a:avLst/>
          </a:prstGeom>
          <a:noFill/>
          <a:ln/>
        </p:spPr>
        <p:txBody>
          <a:bodyPr wrap="square" lIns="0" tIns="0" rIns="0" bIns="0" rtlCol="0" anchor="ctr"/>
          <a:lstStyle/>
          <a:p>
            <a:pPr indent="0" marL="0">
              <a:buNone/>
            </a:pPr>
            <a:r>
              <a:rPr lang="en-US" sz="1150" dirty="0">
                <a:solidFill>
                  <a:srgbClr val="26304A"/>
                </a:solidFill>
                <a:latin typeface="Calibri" pitchFamily="34" charset="0"/>
                <a:ea typeface="Calibri" pitchFamily="34" charset="-122"/>
                <a:cs typeface="Calibri" pitchFamily="34" charset="-120"/>
              </a:rPr>
              <a:t>1,000 schools. Integration with national e-education platforms. Teacher-training programme. Published accuracy and time-saved metrics.</a:t>
            </a:r>
            <a:endParaRPr lang="en-US" sz="1150" dirty="0"/>
          </a:p>
        </p:txBody>
      </p:sp>
      <p:sp>
        <p:nvSpPr>
          <p:cNvPr id="16" name="Shape 12"/>
          <p:cNvSpPr/>
          <p:nvPr/>
        </p:nvSpPr>
        <p:spPr>
          <a:xfrm>
            <a:off x="8302752" y="1874520"/>
            <a:ext cx="3611880" cy="3977640"/>
          </a:xfrm>
          <a:prstGeom prst="roundRect">
            <a:avLst>
              <a:gd name="adj" fmla="val 3038"/>
            </a:avLst>
          </a:prstGeom>
          <a:solidFill>
            <a:srgbClr val="EDF3FC"/>
          </a:solidFill>
          <a:ln/>
        </p:spPr>
      </p:sp>
      <p:sp>
        <p:nvSpPr>
          <p:cNvPr id="17" name="Shape 13"/>
          <p:cNvSpPr/>
          <p:nvPr/>
        </p:nvSpPr>
        <p:spPr>
          <a:xfrm>
            <a:off x="8595360" y="2194560"/>
            <a:ext cx="658368" cy="658368"/>
          </a:xfrm>
          <a:prstGeom prst="ellipse">
            <a:avLst/>
          </a:prstGeom>
          <a:solidFill>
            <a:srgbClr val="DCE8FA"/>
          </a:solidFill>
          <a:ln/>
        </p:spPr>
      </p:sp>
      <p:pic>
        <p:nvPicPr>
          <p:cNvPr id="18" name="Image 2" descr="/private/tmp/claude-501/-Users-furb-x-Desktop-My-Projects/d365b27d-a89f-47fc-8734-df20f634a92b/scratchpad/bilimai/icons/globe-blue.png">    </p:cNvPr>
          <p:cNvPicPr>
            <a:picLocks noChangeAspect="1"/>
          </p:cNvPicPr>
          <p:nvPr/>
        </p:nvPicPr>
        <p:blipFill>
          <a:blip r:embed="rId3"/>
          <a:stretch>
            <a:fillRect/>
          </a:stretch>
        </p:blipFill>
        <p:spPr>
          <a:xfrm>
            <a:off x="8766536" y="2365736"/>
            <a:ext cx="316017" cy="316017"/>
          </a:xfrm>
          <a:prstGeom prst="rect">
            <a:avLst/>
          </a:prstGeom>
        </p:spPr>
      </p:pic>
      <p:sp>
        <p:nvSpPr>
          <p:cNvPr id="19" name="Text 14"/>
          <p:cNvSpPr/>
          <p:nvPr/>
        </p:nvSpPr>
        <p:spPr>
          <a:xfrm>
            <a:off x="8595360" y="3063240"/>
            <a:ext cx="3026664" cy="274320"/>
          </a:xfrm>
          <a:prstGeom prst="rect">
            <a:avLst/>
          </a:prstGeom>
          <a:noFill/>
          <a:ln/>
        </p:spPr>
        <p:txBody>
          <a:bodyPr wrap="square" lIns="0" tIns="0" rIns="0" bIns="0" rtlCol="0" anchor="ctr"/>
          <a:lstStyle/>
          <a:p>
            <a:pPr indent="0" marL="0">
              <a:buNone/>
            </a:pPr>
            <a:r>
              <a:rPr lang="en-US" sz="1050" b="1" spc="150" kern="0" dirty="0">
                <a:solidFill>
                  <a:srgbClr val="2158E8"/>
                </a:solidFill>
                <a:latin typeface="Calibri" pitchFamily="34" charset="0"/>
                <a:ea typeface="Calibri" pitchFamily="34" charset="-122"/>
                <a:cs typeface="Calibri" pitchFamily="34" charset="-120"/>
              </a:rPr>
              <a:t>PHASE 3 · 2028–30</a:t>
            </a:r>
            <a:endParaRPr lang="en-US" sz="1050" dirty="0"/>
          </a:p>
        </p:txBody>
      </p:sp>
      <p:sp>
        <p:nvSpPr>
          <p:cNvPr id="20" name="Text 15"/>
          <p:cNvSpPr/>
          <p:nvPr/>
        </p:nvSpPr>
        <p:spPr>
          <a:xfrm>
            <a:off x="8595360" y="3355848"/>
            <a:ext cx="3026664" cy="457200"/>
          </a:xfrm>
          <a:prstGeom prst="rect">
            <a:avLst/>
          </a:prstGeom>
          <a:noFill/>
          <a:ln/>
        </p:spPr>
        <p:txBody>
          <a:bodyPr wrap="square" lIns="0" tIns="0" rIns="0" bIns="0" rtlCol="0" anchor="ctr"/>
          <a:lstStyle/>
          <a:p>
            <a:pPr indent="0" marL="0">
              <a:buNone/>
            </a:pPr>
            <a:r>
              <a:rPr lang="en-US" sz="2000" b="1" dirty="0">
                <a:solidFill>
                  <a:srgbClr val="111A33"/>
                </a:solidFill>
                <a:latin typeface="Calibri" pitchFamily="34" charset="0"/>
                <a:ea typeface="Calibri" pitchFamily="34" charset="-122"/>
                <a:cs typeface="Calibri" pitchFamily="34" charset="-120"/>
              </a:rPr>
              <a:t>National + export</a:t>
            </a:r>
            <a:endParaRPr lang="en-US" sz="2000" dirty="0"/>
          </a:p>
        </p:txBody>
      </p:sp>
      <p:sp>
        <p:nvSpPr>
          <p:cNvPr id="21" name="Text 16"/>
          <p:cNvSpPr/>
          <p:nvPr/>
        </p:nvSpPr>
        <p:spPr>
          <a:xfrm>
            <a:off x="8595360" y="3840480"/>
            <a:ext cx="3026664" cy="1874520"/>
          </a:xfrm>
          <a:prstGeom prst="rect">
            <a:avLst/>
          </a:prstGeom>
          <a:noFill/>
          <a:ln/>
        </p:spPr>
        <p:txBody>
          <a:bodyPr wrap="square" lIns="0" tIns="0" rIns="0" bIns="0" rtlCol="0" anchor="ctr"/>
          <a:lstStyle/>
          <a:p>
            <a:pPr indent="0" marL="0">
              <a:buNone/>
            </a:pPr>
            <a:r>
              <a:rPr lang="en-US" sz="1150" dirty="0">
                <a:solidFill>
                  <a:srgbClr val="26304A"/>
                </a:solidFill>
                <a:latin typeface="Calibri" pitchFamily="34" charset="0"/>
                <a:ea typeface="Calibri" pitchFamily="34" charset="-122"/>
                <a:cs typeface="Calibri" pitchFamily="34" charset="-120"/>
              </a:rPr>
              <a:t>Nationwide rollout across 10,000+ schools. Export the Uzbek/Turkic-language engine to Central Asian neighbours.</a:t>
            </a:r>
            <a:endParaRPr lang="en-US" sz="1150" dirty="0"/>
          </a:p>
        </p:txBody>
      </p:sp>
      <p:sp>
        <p:nvSpPr>
          <p:cNvPr id="22" name="Text 17"/>
          <p:cNvSpPr/>
          <p:nvPr/>
        </p:nvSpPr>
        <p:spPr>
          <a:xfrm>
            <a:off x="548640" y="6080760"/>
            <a:ext cx="11064240" cy="365760"/>
          </a:xfrm>
          <a:prstGeom prst="rect">
            <a:avLst/>
          </a:prstGeom>
          <a:noFill/>
          <a:ln/>
        </p:spPr>
        <p:txBody>
          <a:bodyPr wrap="square" lIns="0" tIns="0" rIns="0" bIns="0" rtlCol="0" anchor="ctr"/>
          <a:lstStyle/>
          <a:p>
            <a:pPr indent="0" marL="0">
              <a:buNone/>
            </a:pPr>
            <a:r>
              <a:rPr lang="en-US" sz="1350" i="1" dirty="0">
                <a:solidFill>
                  <a:srgbClr val="6B7280"/>
                </a:solidFill>
                <a:latin typeface="Calibri" pitchFamily="34" charset="0"/>
                <a:ea typeface="Calibri" pitchFamily="34" charset="-122"/>
                <a:cs typeface="Calibri" pitchFamily="34" charset="-120"/>
              </a:rPr>
              <a:t>Every phase gates on published evidence — the pilot’s independent evaluation decides the scale-up.</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indent="0" marL="0">
              <a:buNone/>
            </a:pPr>
            <a:r>
              <a:rPr lang="en-US" sz="1300" b="1" spc="200" kern="0" dirty="0">
                <a:solidFill>
                  <a:srgbClr val="2158E8"/>
                </a:solidFill>
                <a:latin typeface="Calibri" pitchFamily="34" charset="0"/>
                <a:ea typeface="Calibri" pitchFamily="34" charset="-122"/>
                <a:cs typeface="Calibri" pitchFamily="34" charset="-120"/>
              </a:rPr>
              <a:t>THE ASK</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11A33"/>
                </a:solidFill>
                <a:latin typeface="Calibri" pitchFamily="34" charset="0"/>
                <a:ea typeface="Calibri" pitchFamily="34" charset="-122"/>
                <a:cs typeface="Calibri" pitchFamily="34" charset="-120"/>
              </a:rPr>
              <a:t>What we need from you</a:t>
            </a:r>
            <a:endParaRPr lang="en-US" sz="3400" dirty="0"/>
          </a:p>
        </p:txBody>
      </p:sp>
      <p:sp>
        <p:nvSpPr>
          <p:cNvPr id="4" name="Shape 2"/>
          <p:cNvSpPr/>
          <p:nvPr/>
        </p:nvSpPr>
        <p:spPr>
          <a:xfrm>
            <a:off x="548640" y="1874520"/>
            <a:ext cx="3611880" cy="2926080"/>
          </a:xfrm>
          <a:prstGeom prst="roundRect">
            <a:avLst>
              <a:gd name="adj" fmla="val 3750"/>
            </a:avLst>
          </a:prstGeom>
          <a:solidFill>
            <a:srgbClr val="EDF3FC"/>
          </a:solidFill>
          <a:ln/>
        </p:spPr>
      </p:sp>
      <p:sp>
        <p:nvSpPr>
          <p:cNvPr id="5" name="Shape 3"/>
          <p:cNvSpPr/>
          <p:nvPr/>
        </p:nvSpPr>
        <p:spPr>
          <a:xfrm>
            <a:off x="841248" y="2194560"/>
            <a:ext cx="658368" cy="658368"/>
          </a:xfrm>
          <a:prstGeom prst="ellipse">
            <a:avLst/>
          </a:prstGeom>
          <a:solidFill>
            <a:srgbClr val="DCE8FA"/>
          </a:solidFill>
          <a:ln/>
        </p:spPr>
      </p:sp>
      <p:pic>
        <p:nvPicPr>
          <p:cNvPr id="6" name="Image 0" descr="/private/tmp/claude-501/-Users-furb-x-Desktop-My-Projects/d365b27d-a89f-47fc-8734-df20f634a92b/scratchpad/bilimai/icons/handshake-blue.png">    </p:cNvPr>
          <p:cNvPicPr>
            <a:picLocks noChangeAspect="1"/>
          </p:cNvPicPr>
          <p:nvPr/>
        </p:nvPicPr>
        <p:blipFill>
          <a:blip r:embed="rId1"/>
          <a:stretch>
            <a:fillRect/>
          </a:stretch>
        </p:blipFill>
        <p:spPr>
          <a:xfrm>
            <a:off x="1012424" y="2365736"/>
            <a:ext cx="316017" cy="316017"/>
          </a:xfrm>
          <a:prstGeom prst="rect">
            <a:avLst/>
          </a:prstGeom>
        </p:spPr>
      </p:pic>
      <p:sp>
        <p:nvSpPr>
          <p:cNvPr id="7" name="Text 4"/>
          <p:cNvSpPr/>
          <p:nvPr/>
        </p:nvSpPr>
        <p:spPr>
          <a:xfrm>
            <a:off x="841248" y="3063240"/>
            <a:ext cx="3026664" cy="411480"/>
          </a:xfrm>
          <a:prstGeom prst="rect">
            <a:avLst/>
          </a:prstGeom>
          <a:noFill/>
          <a:ln/>
        </p:spPr>
        <p:txBody>
          <a:bodyPr wrap="square" lIns="0" tIns="0" rIns="0" bIns="0" rtlCol="0" anchor="ctr"/>
          <a:lstStyle/>
          <a:p>
            <a:pPr indent="0" marL="0">
              <a:buNone/>
            </a:pPr>
            <a:r>
              <a:rPr lang="en-US" sz="1800" b="1" dirty="0">
                <a:solidFill>
                  <a:srgbClr val="111A33"/>
                </a:solidFill>
                <a:latin typeface="Calibri" pitchFamily="34" charset="0"/>
                <a:ea typeface="Calibri" pitchFamily="34" charset="-122"/>
                <a:cs typeface="Calibri" pitchFamily="34" charset="-120"/>
              </a:rPr>
              <a:t>Pilot funding</a:t>
            </a:r>
            <a:endParaRPr lang="en-US" sz="1800" dirty="0"/>
          </a:p>
        </p:txBody>
      </p:sp>
      <p:sp>
        <p:nvSpPr>
          <p:cNvPr id="8" name="Text 5"/>
          <p:cNvSpPr/>
          <p:nvPr/>
        </p:nvSpPr>
        <p:spPr>
          <a:xfrm>
            <a:off x="841248" y="3520440"/>
            <a:ext cx="3026664" cy="1188720"/>
          </a:xfrm>
          <a:prstGeom prst="rect">
            <a:avLst/>
          </a:prstGeom>
          <a:noFill/>
          <a:ln/>
        </p:spPr>
        <p:txBody>
          <a:bodyPr wrap="square" lIns="0" tIns="0" rIns="0" bIns="0" rtlCol="0" anchor="ctr"/>
          <a:lstStyle/>
          <a:p>
            <a:pPr indent="0" marL="0">
              <a:buNone/>
            </a:pPr>
            <a:r>
              <a:rPr lang="en-US" sz="1200" dirty="0">
                <a:solidFill>
                  <a:srgbClr val="26304A"/>
                </a:solidFill>
                <a:latin typeface="Calibri" pitchFamily="34" charset="0"/>
                <a:ea typeface="Calibri" pitchFamily="34" charset="-122"/>
                <a:cs typeface="Calibri" pitchFamily="34" charset="-120"/>
              </a:rPr>
              <a:t>Finance the 100-school pilot: model development for Uzbek and Russian, teacher training, and an independent accuracy evaluation.</a:t>
            </a:r>
            <a:endParaRPr lang="en-US" sz="1200" dirty="0"/>
          </a:p>
        </p:txBody>
      </p:sp>
      <p:sp>
        <p:nvSpPr>
          <p:cNvPr id="9" name="Shape 6"/>
          <p:cNvSpPr/>
          <p:nvPr/>
        </p:nvSpPr>
        <p:spPr>
          <a:xfrm>
            <a:off x="4425696" y="1874520"/>
            <a:ext cx="3611880" cy="2926080"/>
          </a:xfrm>
          <a:prstGeom prst="roundRect">
            <a:avLst>
              <a:gd name="adj" fmla="val 3750"/>
            </a:avLst>
          </a:prstGeom>
          <a:solidFill>
            <a:srgbClr val="EDF3FC"/>
          </a:solidFill>
          <a:ln/>
        </p:spPr>
      </p:sp>
      <p:sp>
        <p:nvSpPr>
          <p:cNvPr id="10" name="Shape 7"/>
          <p:cNvSpPr/>
          <p:nvPr/>
        </p:nvSpPr>
        <p:spPr>
          <a:xfrm>
            <a:off x="4718304" y="2194560"/>
            <a:ext cx="658368" cy="658368"/>
          </a:xfrm>
          <a:prstGeom prst="ellipse">
            <a:avLst/>
          </a:prstGeom>
          <a:solidFill>
            <a:srgbClr val="DCE8FA"/>
          </a:solidFill>
          <a:ln/>
        </p:spPr>
      </p:sp>
      <p:pic>
        <p:nvPicPr>
          <p:cNvPr id="11" name="Image 1" descr="/private/tmp/claude-501/-Users-furb-x-Desktop-My-Projects/d365b27d-a89f-47fc-8734-df20f634a92b/scratchpad/bilimai/icons/landmark-blue.png">    </p:cNvPr>
          <p:cNvPicPr>
            <a:picLocks noChangeAspect="1"/>
          </p:cNvPicPr>
          <p:nvPr/>
        </p:nvPicPr>
        <p:blipFill>
          <a:blip r:embed="rId2"/>
          <a:stretch>
            <a:fillRect/>
          </a:stretch>
        </p:blipFill>
        <p:spPr>
          <a:xfrm>
            <a:off x="4889480" y="2365736"/>
            <a:ext cx="316017" cy="316017"/>
          </a:xfrm>
          <a:prstGeom prst="rect">
            <a:avLst/>
          </a:prstGeom>
        </p:spPr>
      </p:pic>
      <p:sp>
        <p:nvSpPr>
          <p:cNvPr id="12" name="Text 8"/>
          <p:cNvSpPr/>
          <p:nvPr/>
        </p:nvSpPr>
        <p:spPr>
          <a:xfrm>
            <a:off x="4718304" y="3063240"/>
            <a:ext cx="3026664" cy="411480"/>
          </a:xfrm>
          <a:prstGeom prst="rect">
            <a:avLst/>
          </a:prstGeom>
          <a:noFill/>
          <a:ln/>
        </p:spPr>
        <p:txBody>
          <a:bodyPr wrap="square" lIns="0" tIns="0" rIns="0" bIns="0" rtlCol="0" anchor="ctr"/>
          <a:lstStyle/>
          <a:p>
            <a:pPr indent="0" marL="0">
              <a:buNone/>
            </a:pPr>
            <a:r>
              <a:rPr lang="en-US" sz="1800" b="1" dirty="0">
                <a:solidFill>
                  <a:srgbClr val="111A33"/>
                </a:solidFill>
                <a:latin typeface="Calibri" pitchFamily="34" charset="0"/>
                <a:ea typeface="Calibri" pitchFamily="34" charset="-122"/>
                <a:cs typeface="Calibri" pitchFamily="34" charset="-120"/>
              </a:rPr>
              <a:t>Access &amp; partnership</a:t>
            </a:r>
            <a:endParaRPr lang="en-US" sz="1800" dirty="0"/>
          </a:p>
        </p:txBody>
      </p:sp>
      <p:sp>
        <p:nvSpPr>
          <p:cNvPr id="13" name="Text 9"/>
          <p:cNvSpPr/>
          <p:nvPr/>
        </p:nvSpPr>
        <p:spPr>
          <a:xfrm>
            <a:off x="4718304" y="3520440"/>
            <a:ext cx="3026664" cy="1188720"/>
          </a:xfrm>
          <a:prstGeom prst="rect">
            <a:avLst/>
          </a:prstGeom>
          <a:noFill/>
          <a:ln/>
        </p:spPr>
        <p:txBody>
          <a:bodyPr wrap="square" lIns="0" tIns="0" rIns="0" bIns="0" rtlCol="0" anchor="ctr"/>
          <a:lstStyle/>
          <a:p>
            <a:pPr indent="0" marL="0">
              <a:buNone/>
            </a:pPr>
            <a:r>
              <a:rPr lang="en-US" sz="1200" dirty="0">
                <a:solidFill>
                  <a:srgbClr val="26304A"/>
                </a:solidFill>
                <a:latin typeface="Calibri" pitchFamily="34" charset="0"/>
                <a:ea typeface="Calibri" pitchFamily="34" charset="-122"/>
                <a:cs typeface="Calibri" pitchFamily="34" charset="-120"/>
              </a:rPr>
              <a:t>A partnership with the Ministry of Preschool and School Education: pilot schools, official curriculum rubrics, and anonymised sample work.</a:t>
            </a:r>
            <a:endParaRPr lang="en-US" sz="1200" dirty="0"/>
          </a:p>
        </p:txBody>
      </p:sp>
      <p:sp>
        <p:nvSpPr>
          <p:cNvPr id="14" name="Shape 10"/>
          <p:cNvSpPr/>
          <p:nvPr/>
        </p:nvSpPr>
        <p:spPr>
          <a:xfrm>
            <a:off x="8302752" y="1874520"/>
            <a:ext cx="3611880" cy="2926080"/>
          </a:xfrm>
          <a:prstGeom prst="roundRect">
            <a:avLst>
              <a:gd name="adj" fmla="val 3750"/>
            </a:avLst>
          </a:prstGeom>
          <a:solidFill>
            <a:srgbClr val="EDF3FC"/>
          </a:solidFill>
          <a:ln/>
        </p:spPr>
      </p:sp>
      <p:sp>
        <p:nvSpPr>
          <p:cNvPr id="15" name="Shape 11"/>
          <p:cNvSpPr/>
          <p:nvPr/>
        </p:nvSpPr>
        <p:spPr>
          <a:xfrm>
            <a:off x="8595360" y="2194560"/>
            <a:ext cx="658368" cy="658368"/>
          </a:xfrm>
          <a:prstGeom prst="ellipse">
            <a:avLst/>
          </a:prstGeom>
          <a:solidFill>
            <a:srgbClr val="DCE8FA"/>
          </a:solidFill>
          <a:ln/>
        </p:spPr>
      </p:sp>
      <p:pic>
        <p:nvPicPr>
          <p:cNvPr id="16" name="Image 2" descr="/private/tmp/claude-501/-Users-furb-x-Desktop-My-Projects/d365b27d-a89f-47fc-8734-df20f634a92b/scratchpad/bilimai/icons/shield-blue.png">    </p:cNvPr>
          <p:cNvPicPr>
            <a:picLocks noChangeAspect="1"/>
          </p:cNvPicPr>
          <p:nvPr/>
        </p:nvPicPr>
        <p:blipFill>
          <a:blip r:embed="rId3"/>
          <a:stretch>
            <a:fillRect/>
          </a:stretch>
        </p:blipFill>
        <p:spPr>
          <a:xfrm>
            <a:off x="8766536" y="2365736"/>
            <a:ext cx="316017" cy="316017"/>
          </a:xfrm>
          <a:prstGeom prst="rect">
            <a:avLst/>
          </a:prstGeom>
        </p:spPr>
      </p:pic>
      <p:sp>
        <p:nvSpPr>
          <p:cNvPr id="17" name="Text 12"/>
          <p:cNvSpPr/>
          <p:nvPr/>
        </p:nvSpPr>
        <p:spPr>
          <a:xfrm>
            <a:off x="8595360" y="3063240"/>
            <a:ext cx="3026664" cy="411480"/>
          </a:xfrm>
          <a:prstGeom prst="rect">
            <a:avLst/>
          </a:prstGeom>
          <a:noFill/>
          <a:ln/>
        </p:spPr>
        <p:txBody>
          <a:bodyPr wrap="square" lIns="0" tIns="0" rIns="0" bIns="0" rtlCol="0" anchor="ctr"/>
          <a:lstStyle/>
          <a:p>
            <a:pPr indent="0" marL="0">
              <a:buNone/>
            </a:pPr>
            <a:r>
              <a:rPr lang="en-US" sz="1800" b="1" dirty="0">
                <a:solidFill>
                  <a:srgbClr val="111A33"/>
                </a:solidFill>
                <a:latin typeface="Calibri" pitchFamily="34" charset="0"/>
                <a:ea typeface="Calibri" pitchFamily="34" charset="-122"/>
                <a:cs typeface="Calibri" pitchFamily="34" charset="-120"/>
              </a:rPr>
              <a:t>Trust &amp; oversight</a:t>
            </a:r>
            <a:endParaRPr lang="en-US" sz="1800" dirty="0"/>
          </a:p>
        </p:txBody>
      </p:sp>
      <p:sp>
        <p:nvSpPr>
          <p:cNvPr id="18" name="Text 13"/>
          <p:cNvSpPr/>
          <p:nvPr/>
        </p:nvSpPr>
        <p:spPr>
          <a:xfrm>
            <a:off x="8595360" y="3520440"/>
            <a:ext cx="3026664" cy="1188720"/>
          </a:xfrm>
          <a:prstGeom prst="rect">
            <a:avLst/>
          </a:prstGeom>
          <a:noFill/>
          <a:ln/>
        </p:spPr>
        <p:txBody>
          <a:bodyPr wrap="square" lIns="0" tIns="0" rIns="0" bIns="0" rtlCol="0" anchor="ctr"/>
          <a:lstStyle/>
          <a:p>
            <a:pPr indent="0" marL="0">
              <a:buNone/>
            </a:pPr>
            <a:r>
              <a:rPr lang="en-US" sz="1200" dirty="0">
                <a:solidFill>
                  <a:srgbClr val="26304A"/>
                </a:solidFill>
                <a:latin typeface="Calibri" pitchFamily="34" charset="0"/>
                <a:ea typeface="Calibri" pitchFamily="34" charset="-122"/>
                <a:cs typeface="Calibri" pitchFamily="34" charset="-120"/>
              </a:rPr>
              <a:t>Joint governance: student-data protection under Uzbek law, teacher-in-the-loop as a hard rule, and public reporting of results.</a:t>
            </a:r>
            <a:endParaRPr lang="en-US" sz="1200" dirty="0"/>
          </a:p>
        </p:txBody>
      </p:sp>
      <p:sp>
        <p:nvSpPr>
          <p:cNvPr id="19" name="Shape 14"/>
          <p:cNvSpPr/>
          <p:nvPr/>
        </p:nvSpPr>
        <p:spPr>
          <a:xfrm>
            <a:off x="548640" y="5074920"/>
            <a:ext cx="11091672" cy="1051560"/>
          </a:xfrm>
          <a:prstGeom prst="roundRect">
            <a:avLst>
              <a:gd name="adj" fmla="val 8696"/>
            </a:avLst>
          </a:prstGeom>
          <a:solidFill>
            <a:srgbClr val="111A33"/>
          </a:solidFill>
          <a:ln/>
        </p:spPr>
      </p:sp>
      <p:sp>
        <p:nvSpPr>
          <p:cNvPr id="20" name="Text 15"/>
          <p:cNvSpPr/>
          <p:nvPr/>
        </p:nvSpPr>
        <p:spPr>
          <a:xfrm>
            <a:off x="868680" y="5230368"/>
            <a:ext cx="2743200" cy="274320"/>
          </a:xfrm>
          <a:prstGeom prst="rect">
            <a:avLst/>
          </a:prstGeom>
          <a:noFill/>
          <a:ln/>
        </p:spPr>
        <p:txBody>
          <a:bodyPr wrap="square" lIns="0" tIns="0" rIns="0" bIns="0" rtlCol="0" anchor="ctr"/>
          <a:lstStyle/>
          <a:p>
            <a:pPr indent="0" marL="0">
              <a:buNone/>
            </a:pPr>
            <a:r>
              <a:rPr lang="en-US" sz="1100" b="1" spc="200" kern="0" dirty="0">
                <a:solidFill>
                  <a:srgbClr val="8FB0F0"/>
                </a:solidFill>
                <a:latin typeface="Calibri" pitchFamily="34" charset="0"/>
                <a:ea typeface="Calibri" pitchFamily="34" charset="-122"/>
                <a:cs typeface="Calibri" pitchFamily="34" charset="-120"/>
              </a:rPr>
              <a:t>USE OF PILOT FUNDS</a:t>
            </a:r>
            <a:endParaRPr lang="en-US" sz="1100" dirty="0"/>
          </a:p>
        </p:txBody>
      </p:sp>
      <p:sp>
        <p:nvSpPr>
          <p:cNvPr id="21" name="Text 16"/>
          <p:cNvSpPr/>
          <p:nvPr/>
        </p:nvSpPr>
        <p:spPr>
          <a:xfrm>
            <a:off x="3520440" y="5193792"/>
            <a:ext cx="86868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45%</a:t>
            </a:r>
            <a:endParaRPr lang="en-US" sz="2400" dirty="0"/>
          </a:p>
        </p:txBody>
      </p:sp>
      <p:sp>
        <p:nvSpPr>
          <p:cNvPr id="22" name="Text 17"/>
          <p:cNvSpPr/>
          <p:nvPr/>
        </p:nvSpPr>
        <p:spPr>
          <a:xfrm>
            <a:off x="4389120" y="5138928"/>
            <a:ext cx="1645920" cy="868680"/>
          </a:xfrm>
          <a:prstGeom prst="rect">
            <a:avLst/>
          </a:prstGeom>
          <a:noFill/>
          <a:ln/>
        </p:spPr>
        <p:txBody>
          <a:bodyPr wrap="square" lIns="0" tIns="0" rIns="0" bIns="0" rtlCol="0" anchor="ctr"/>
          <a:lstStyle/>
          <a:p>
            <a:pPr indent="0" marL="0">
              <a:buNone/>
            </a:pPr>
            <a:r>
              <a:rPr lang="en-US" sz="1100" dirty="0">
                <a:solidFill>
                  <a:srgbClr val="D8E4FA"/>
                </a:solidFill>
                <a:latin typeface="Calibri" pitchFamily="34" charset="0"/>
                <a:ea typeface="Calibri" pitchFamily="34" charset="-122"/>
                <a:cs typeface="Calibri" pitchFamily="34" charset="-120"/>
              </a:rPr>
              <a:t>Product &amp; AI models</a:t>
            </a:r>
            <a:endParaRPr lang="en-US" sz="1100" dirty="0"/>
          </a:p>
        </p:txBody>
      </p:sp>
      <p:sp>
        <p:nvSpPr>
          <p:cNvPr id="23" name="Text 18"/>
          <p:cNvSpPr/>
          <p:nvPr/>
        </p:nvSpPr>
        <p:spPr>
          <a:xfrm>
            <a:off x="6172200" y="5193792"/>
            <a:ext cx="86868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35%</a:t>
            </a:r>
            <a:endParaRPr lang="en-US" sz="2400" dirty="0"/>
          </a:p>
        </p:txBody>
      </p:sp>
      <p:sp>
        <p:nvSpPr>
          <p:cNvPr id="24" name="Text 19"/>
          <p:cNvSpPr/>
          <p:nvPr/>
        </p:nvSpPr>
        <p:spPr>
          <a:xfrm>
            <a:off x="7040880" y="5138928"/>
            <a:ext cx="1645920" cy="868680"/>
          </a:xfrm>
          <a:prstGeom prst="rect">
            <a:avLst/>
          </a:prstGeom>
          <a:noFill/>
          <a:ln/>
        </p:spPr>
        <p:txBody>
          <a:bodyPr wrap="square" lIns="0" tIns="0" rIns="0" bIns="0" rtlCol="0" anchor="ctr"/>
          <a:lstStyle/>
          <a:p>
            <a:pPr indent="0" marL="0">
              <a:buNone/>
            </a:pPr>
            <a:r>
              <a:rPr lang="en-US" sz="1100" dirty="0">
                <a:solidFill>
                  <a:srgbClr val="D8E4FA"/>
                </a:solidFill>
                <a:latin typeface="Calibri" pitchFamily="34" charset="0"/>
                <a:ea typeface="Calibri" pitchFamily="34" charset="-122"/>
                <a:cs typeface="Calibri" pitchFamily="34" charset="-120"/>
              </a:rPr>
              <a:t>Pilot operations &amp; teacher training</a:t>
            </a:r>
            <a:endParaRPr lang="en-US" sz="1100" dirty="0"/>
          </a:p>
        </p:txBody>
      </p:sp>
      <p:sp>
        <p:nvSpPr>
          <p:cNvPr id="25" name="Text 20"/>
          <p:cNvSpPr/>
          <p:nvPr/>
        </p:nvSpPr>
        <p:spPr>
          <a:xfrm>
            <a:off x="8823960" y="5193792"/>
            <a:ext cx="86868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20%</a:t>
            </a:r>
            <a:endParaRPr lang="en-US" sz="2400" dirty="0"/>
          </a:p>
        </p:txBody>
      </p:sp>
      <p:sp>
        <p:nvSpPr>
          <p:cNvPr id="26" name="Text 21"/>
          <p:cNvSpPr/>
          <p:nvPr/>
        </p:nvSpPr>
        <p:spPr>
          <a:xfrm>
            <a:off x="9692640" y="5138928"/>
            <a:ext cx="1645920" cy="868680"/>
          </a:xfrm>
          <a:prstGeom prst="rect">
            <a:avLst/>
          </a:prstGeom>
          <a:noFill/>
          <a:ln/>
        </p:spPr>
        <p:txBody>
          <a:bodyPr wrap="square" lIns="0" tIns="0" rIns="0" bIns="0" rtlCol="0" anchor="ctr"/>
          <a:lstStyle/>
          <a:p>
            <a:pPr indent="0" marL="0">
              <a:buNone/>
            </a:pPr>
            <a:r>
              <a:rPr lang="en-US" sz="1100" dirty="0">
                <a:solidFill>
                  <a:srgbClr val="D8E4FA"/>
                </a:solidFill>
                <a:latin typeface="Calibri" pitchFamily="34" charset="0"/>
                <a:ea typeface="Calibri" pitchFamily="34" charset="-122"/>
                <a:cs typeface="Calibri" pitchFamily="34" charset="-120"/>
              </a:rPr>
              <a:t>Security, privacy &amp; evaluation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A33"/>
        </a:solidFill>
      </p:bgPr>
    </p:bg>
    <p:spTree>
      <p:nvGrpSpPr>
        <p:cNvPr id="1" name=""/>
        <p:cNvGrpSpPr/>
        <p:nvPr/>
      </p:nvGrpSpPr>
      <p:grpSpPr>
        <a:xfrm>
          <a:off x="0" y="0"/>
          <a:ext cx="0" cy="0"/>
          <a:chOff x="0" y="0"/>
          <a:chExt cx="0" cy="0"/>
        </a:xfrm>
      </p:grpSpPr>
      <p:sp>
        <p:nvSpPr>
          <p:cNvPr id="2" name="Shape 0"/>
          <p:cNvSpPr/>
          <p:nvPr/>
        </p:nvSpPr>
        <p:spPr>
          <a:xfrm>
            <a:off x="9418320" y="-1097280"/>
            <a:ext cx="4114800" cy="4114800"/>
          </a:xfrm>
          <a:prstGeom prst="ellipse">
            <a:avLst/>
          </a:prstGeom>
          <a:solidFill>
            <a:srgbClr val="18244A"/>
          </a:solidFill>
          <a:ln/>
        </p:spPr>
      </p:sp>
      <p:pic>
        <p:nvPicPr>
          <p:cNvPr id="3" name="Image 0" descr="/private/tmp/claude-501/-Users-furb-x-Desktop-My-Projects/d365b27d-a89f-47fc-8734-df20f634a92b/scratchpad/bilimai/icons/pencil-cream.png">    </p:cNvPr>
          <p:cNvPicPr>
            <a:picLocks noChangeAspect="1"/>
          </p:cNvPicPr>
          <p:nvPr/>
        </p:nvPicPr>
        <p:blipFill>
          <a:blip r:embed="rId1"/>
          <a:stretch>
            <a:fillRect/>
          </a:stretch>
        </p:blipFill>
        <p:spPr>
          <a:xfrm>
            <a:off x="10561320" y="91440"/>
            <a:ext cx="822960" cy="822960"/>
          </a:xfrm>
          <a:prstGeom prst="rect">
            <a:avLst/>
          </a:prstGeom>
        </p:spPr>
      </p:pic>
      <p:sp>
        <p:nvSpPr>
          <p:cNvPr id="4" name="Text 1"/>
          <p:cNvSpPr/>
          <p:nvPr/>
        </p:nvSpPr>
        <p:spPr>
          <a:xfrm>
            <a:off x="822960" y="2286000"/>
            <a:ext cx="10515600" cy="9144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Give teachers back their time.</a:t>
            </a:r>
            <a:endParaRPr lang="en-US" sz="4800" dirty="0"/>
          </a:p>
        </p:txBody>
      </p:sp>
      <p:sp>
        <p:nvSpPr>
          <p:cNvPr id="5" name="Text 2"/>
          <p:cNvSpPr/>
          <p:nvPr/>
        </p:nvSpPr>
        <p:spPr>
          <a:xfrm>
            <a:off x="822960" y="3383280"/>
            <a:ext cx="9601200" cy="1097280"/>
          </a:xfrm>
          <a:prstGeom prst="rect">
            <a:avLst/>
          </a:prstGeom>
          <a:noFill/>
          <a:ln/>
        </p:spPr>
        <p:txBody>
          <a:bodyPr wrap="square" lIns="0" tIns="0" rIns="0" bIns="0" rtlCol="0" anchor="ctr"/>
          <a:lstStyle/>
          <a:p>
            <a:pPr indent="0" marL="0">
              <a:buNone/>
            </a:pPr>
            <a:r>
              <a:rPr lang="en-US" sz="1700" dirty="0">
                <a:solidFill>
                  <a:srgbClr val="D8E4FA"/>
                </a:solidFill>
                <a:latin typeface="Calibri" pitchFamily="34" charset="0"/>
                <a:ea typeface="Calibri" pitchFamily="34" charset="-122"/>
                <a:cs typeface="Calibri" pitchFamily="34" charset="-120"/>
              </a:rPr>
              <a:t>China proved automated grading works at the scale of 60,000 schools. The research says it helps students write better. Uzbekistan’s own strategy calls for it. BilimAI is how it happens here.</a:t>
            </a:r>
            <a:endParaRPr lang="en-US" sz="1700" dirty="0"/>
          </a:p>
        </p:txBody>
      </p:sp>
      <p:sp>
        <p:nvSpPr>
          <p:cNvPr id="6" name="Text 3"/>
          <p:cNvSpPr/>
          <p:nvPr/>
        </p:nvSpPr>
        <p:spPr>
          <a:xfrm>
            <a:off x="822960" y="5212080"/>
            <a:ext cx="4572000" cy="7315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Bilim</a:t>
            </a:r>
            <a:pPr indent="0" marL="0">
              <a:buNone/>
            </a:pPr>
            <a:r>
              <a:rPr lang="en-US" sz="3600" b="1" dirty="0">
                <a:solidFill>
                  <a:srgbClr val="5B8BF5"/>
                </a:solidFill>
                <a:latin typeface="Calibri" pitchFamily="34" charset="0"/>
                <a:ea typeface="Calibri" pitchFamily="34" charset="-122"/>
                <a:cs typeface="Calibri" pitchFamily="34" charset="-120"/>
              </a:rPr>
              <a:t>AI</a:t>
            </a:r>
            <a:endParaRPr lang="en-US" sz="3600" dirty="0"/>
          </a:p>
        </p:txBody>
      </p:sp>
      <p:sp>
        <p:nvSpPr>
          <p:cNvPr id="7" name="Text 4"/>
          <p:cNvSpPr/>
          <p:nvPr/>
        </p:nvSpPr>
        <p:spPr>
          <a:xfrm>
            <a:off x="822960" y="5989320"/>
            <a:ext cx="5486400" cy="365760"/>
          </a:xfrm>
          <a:prstGeom prst="rect">
            <a:avLst/>
          </a:prstGeom>
          <a:noFill/>
          <a:ln/>
        </p:spPr>
        <p:txBody>
          <a:bodyPr wrap="square" lIns="0" tIns="0" rIns="0" bIns="0" rtlCol="0" anchor="ctr"/>
          <a:lstStyle/>
          <a:p>
            <a:pPr indent="0" marL="0">
              <a:buNone/>
            </a:pPr>
            <a:r>
              <a:rPr lang="en-US" sz="1300" dirty="0">
                <a:solidFill>
                  <a:srgbClr val="8FA3C8"/>
                </a:solidFill>
                <a:latin typeface="Calibri" pitchFamily="34" charset="0"/>
                <a:ea typeface="Calibri" pitchFamily="34" charset="-122"/>
                <a:cs typeface="Calibri" pitchFamily="34" charset="-120"/>
              </a:rPr>
              <a:t>Tashkent, Uzbekistan · 2026</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indent="0" marL="0">
              <a:buNone/>
            </a:pPr>
            <a:r>
              <a:rPr lang="en-US" sz="1300" b="1" spc="200" kern="0" dirty="0">
                <a:solidFill>
                  <a:srgbClr val="2158E8"/>
                </a:solidFill>
                <a:latin typeface="Calibri" pitchFamily="34" charset="0"/>
                <a:ea typeface="Calibri" pitchFamily="34" charset="-122"/>
                <a:cs typeface="Calibri" pitchFamily="34" charset="-120"/>
              </a:rPr>
              <a:t>SOURCES</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11A33"/>
                </a:solidFill>
                <a:latin typeface="Calibri" pitchFamily="34" charset="0"/>
                <a:ea typeface="Calibri" pitchFamily="34" charset="-122"/>
                <a:cs typeface="Calibri" pitchFamily="34" charset="-120"/>
              </a:rPr>
              <a:t>Every number in this deck, cited</a:t>
            </a:r>
            <a:endParaRPr lang="en-US" sz="3400" dirty="0"/>
          </a:p>
        </p:txBody>
      </p:sp>
      <p:sp>
        <p:nvSpPr>
          <p:cNvPr id="4" name="Text 2"/>
          <p:cNvSpPr/>
          <p:nvPr/>
        </p:nvSpPr>
        <p:spPr>
          <a:xfrm>
            <a:off x="548640" y="1691640"/>
            <a:ext cx="5486400" cy="4846320"/>
          </a:xfrm>
          <a:prstGeom prst="rect">
            <a:avLst/>
          </a:prstGeom>
          <a:noFill/>
          <a:ln/>
        </p:spPr>
        <p:txBody>
          <a:bodyPr wrap="square" lIns="0" tIns="0" rIns="0" bIns="0" rtlCol="0" anchor="t"/>
          <a:lstStyle/>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South China Morning Post (2018). “China’s schools are quietly using AI to mark students’ essays” — ~60,000 schools, 120M+ people, 92% human-match. scmp.com</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iFLYTEK (2023–24). AI education solutions in 50,000+ schools, 130M+ users. iflytek.com</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People’s Daily / China Daily (May 2025). MoE national AI-education curriculum and generative-AI rules for schools.</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TIME (2025). Best Inventions — Squirrel AI adaptive learning, 24M+ students. time.com</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OECD (2019). TALIS 2018 Results, Vol. I — 38.8 h week, 20.6 h teaching. oecd.org</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OECD (2025). Results from TALIS 2024 — ~41 h week; marking time up in 16 systems. oecd.org</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UK Dept. for Education (2019). Teacher Workload Survey — 49.5 h term-time week. gov.uk</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OECD TALIS 2024 via Mothership (2025). Singapore: 47 h week, 6.4 h marking.</a:t>
            </a:r>
            <a:endParaRPr lang="en-US" sz="950" dirty="0"/>
          </a:p>
        </p:txBody>
      </p:sp>
      <p:sp>
        <p:nvSpPr>
          <p:cNvPr id="5" name="Text 3"/>
          <p:cNvSpPr/>
          <p:nvPr/>
        </p:nvSpPr>
        <p:spPr>
          <a:xfrm>
            <a:off x="6309360" y="1691640"/>
            <a:ext cx="5486400" cy="4846320"/>
          </a:xfrm>
          <a:prstGeom prst="rect">
            <a:avLst/>
          </a:prstGeom>
          <a:noFill/>
          <a:ln/>
        </p:spPr>
        <p:txBody>
          <a:bodyPr wrap="square" lIns="0" tIns="0" rIns="0" bIns="0" rtlCol="0" anchor="t"/>
          <a:lstStyle/>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Fleckenstein et al. (2023). Frontiers in Artificial Intelligence — automated feedback, g = 0.55 (20 studies, n = 2,828).</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Zhai &amp; Ma (2023). J. of Educational Computing Research — AWE effect on writing, g = 0.861 (26 studies, n = 2,468).</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Hewlett Foundation ASAP / Kaggle (2012). Automated essay scoring benchmark.</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National Statistics Committee of Uzbekistan (2025). 564,900 teachers, 2024/25; +43% vs 2015/16. stat.uz</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The Diplomat (2024). 6.5M students, 10,522 schools, 73% multi-shift. thediplomat.com</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Presidential Decree DP-6079 (2020). “Digital Uzbekistan 2030.” lex.uz</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Presidential Resolution PQ-358 (2024). National AI Strategy — $1.5B market target. lex.uz</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Grand View Research (2025). AI-in-education market: $5.88B (2024) → $32.27B (2030). grandviewresearch.com</a:t>
            </a:r>
            <a:endParaRPr lang="en-US" sz="950" dirty="0"/>
          </a:p>
        </p:txBody>
      </p:sp>
      <p:sp>
        <p:nvSpPr>
          <p:cNvPr id="6" name="Text 4"/>
          <p:cNvSpPr/>
          <p:nvPr/>
        </p:nvSpPr>
        <p:spPr>
          <a:xfrm>
            <a:off x="548640" y="6510528"/>
            <a:ext cx="1106424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Figures marked “illustrative” or “BilimAI’s model” are our projections, not source data.</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2026-08-14T18:48:10Z</dcterms:created>
  <dcterms:modified xsi:type="dcterms:W3CDTF">2026-08-14T18:48:10Z</dcterms:modified>
</cp:coreProperties>
</file>