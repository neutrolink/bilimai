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9" r:id="rId20"/>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  <Relationship Id="rId20" Type="http://schemas.openxmlformats.org/officeDocument/2006/relationships/slide" Target="slides/slide14.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 per week</c:v>
                </c:pt>
              </c:strCache>
            </c:strRef>
          </c:tx>
          <c:spPr>
            <a:solidFill>
              <a:srgbClr val="2158E8"/>
            </a:solidFill>
            <a:effectLst/>
          </c:spPr>
          <c:invertIfNegative val="0"/>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cat>
            <c:multiLvlStrRef>
              <c:f>Sheet1!$A$2:$A$4</c:f>
              <c:multiLvlStrCache>
                <c:ptCount val="3"/>
                <c:lvl>
                  <c:pt idx="0">
                    <c:v>England</c:v>
                  </c:pt>
                  <c:pt idx="1">
                    <c:v>Singapore</c:v>
                  </c:pt>
                  <c:pt idx="2">
                    <c:v>OECD average</c:v>
                  </c:pt>
                </c:lvl>
              </c:multiLvlStrCache>
            </c:multiLvlStrRef>
          </c:cat>
          <c:val>
            <c:numRef>
              <c:f>Sheet1!$B$2:$B$4</c:f>
              <c:numCache>
                <c:formatCode>General</c:formatCode>
                <c:ptCount val="3"/>
                <c:pt idx="0">
                  <c:v>49.5</c:v>
                </c:pt>
                <c:pt idx="1">
                  <c:v>47</c:v>
                </c:pt>
                <c:pt idx="2">
                  <c:v>41</c:v>
                </c:pt>
              </c:numCache>
            </c:numRef>
          </c:val>
        </c:ser>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Schools</c:v>
                </c:pt>
              </c:strCache>
            </c:strRef>
          </c:tx>
          <c:spPr>
            <a:solidFill>
              <a:schemeClr val="accent1"/>
            </a:solidFill>
            <a:ln w="9525" cap="flat">
              <a:solidFill>
                <a:srgbClr val="F9F9F9"/>
              </a:solidFill>
              <a:prstDash val="solid"/>
              <a:round/>
            </a:ln>
            <a:effectLst/>
          </c:spPr>
          <c:dPt>
            <c:idx val="0"/>
            <c:bubble3D val="0"/>
            <c:spPr>
              <a:solidFill>
                <a:srgbClr val="2158E8"/>
              </a:solidFill>
              <a:effectLst/>
            </c:spPr>
          </c:dPt>
          <c:dPt>
            <c:idx val="1"/>
            <c:bubble3D val="0"/>
            <c:spPr>
              <a:solidFill>
                <a:srgbClr val="CBD5E1"/>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 the trial</c:v>
                </c:pt>
                <c:pt idx="1">
                  <c:v>Other schools</c:v>
                </c:pt>
              </c:strCache>
            </c:strRef>
          </c:cat>
          <c:val>
            <c:numRef>
              <c:f>Sheet1!$B$2:$B$3</c:f>
              <c:numCache>
                <c:ptCount val="2"/>
                <c:pt idx="0">
                  <c:v>25</c:v>
                </c:pt>
                <c:pt idx="1">
                  <c:v>75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Effect size</c:v>
                </c:pt>
              </c:strCache>
            </c:strRef>
          </c:tx>
          <c:spPr>
            <a:solidFill>
              <a:srgbClr val="2158E8"/>
            </a:solidFill>
            <a:effectLst/>
          </c:spPr>
          <c:invertIfNegative val="0"/>
          <c:dLbls>
            <c:numFmt formatCode="0.00"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cat>
            <c:multiLvlStrRef>
              <c:f>Sheet1!$A$2:$A$3</c:f>
              <c:multiLvlStrCache>
                <c:ptCount val="2"/>
                <c:lvl>
                  <c:pt idx="0">
                    <c:v>Fleckenstein et al. 2023
(20 studies, n=2,828)</c:v>
                  </c:pt>
                  <c:pt idx="1">
                    <c:v>Zhai &amp; Ma 2023
(26 studies, n=2,468)</c:v>
                  </c:pt>
                </c:lvl>
              </c:multiLvlStrCache>
            </c:multiLvlStrRef>
          </c:cat>
          <c:val>
            <c:numRef>
              <c:f>Sheet1!$B$2:$B$3</c:f>
              <c:numCache>
                <c:formatCode>General</c:formatCode>
                <c:ptCount val="2"/>
                <c:pt idx="0">
                  <c:v>0.55</c:v>
                </c:pt>
                <c:pt idx="1">
                  <c:v>0.861</c:v>
                </c:pt>
              </c:numCache>
            </c:numRef>
          </c:val>
        </c:ser>
        <c:dLbls>
          <c:numFmt formatCode="0.00"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 per week</c:v>
                </c:pt>
              </c:strCache>
            </c:strRef>
          </c:tx>
          <c:spPr>
            <a:solidFill>
              <a:srgbClr val="2158E8"/>
            </a:solidFill>
            <a:effectLst/>
          </c:spPr>
          <c:invertIfNegative val="0"/>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dPt>
            <c:idx val="0"/>
            <c:invertIfNegative val="0"/>
            <c:bubble3D val="0"/>
            <c:spPr>
              <a:solidFill>
                <a:srgbClr val="2158E8"/>
              </a:solidFill>
              <a:effectLst/>
            </c:spPr>
          </c:dPt>
          <c:dPt>
            <c:idx val="1"/>
            <c:invertIfNegative val="0"/>
            <c:bubble3D val="0"/>
            <c:spPr>
              <a:solidFill>
                <a:srgbClr val="D97706"/>
              </a:solidFill>
              <a:effectLst/>
            </c:spPr>
          </c:dPt>
          <c:cat>
            <c:multiLvlStrRef>
              <c:f>Sheet1!$A$2:$A$3</c:f>
              <c:multiLvlStrCache>
                <c:ptCount val="2"/>
                <c:lvl>
                  <c:pt idx="0">
                    <c:v>Today (typical)</c:v>
                  </c:pt>
                  <c:pt idx="1">
                    <c:v>With BilimAI</c:v>
                  </c:pt>
                </c:lvl>
              </c:multiLvlStrCache>
            </c:multiLvlStrRef>
          </c:cat>
          <c:val>
            <c:numRef>
              <c:f>Sheet1!$B$2:$B$3</c:f>
              <c:numCache>
                <c:formatCode>General</c:formatCode>
                <c:ptCount val="2"/>
                <c:pt idx="0">
                  <c:v>5</c:v>
                </c:pt>
                <c:pt idx="1">
                  <c:v>1.25</c:v>
                </c:pt>
              </c:numCache>
            </c:numRef>
          </c:val>
        </c:ser>
        <c:dLbls>
          <c:numFmt formatCode="General" sourceLinked="0"/>
          <c:txPr>
            <a:bodyPr/>
            <a:lstStyle/>
            <a:p>
              <a:pPr>
                <a:defRPr b="1" i="0" strike="noStrike" sz="1200" u="none">
                  <a:solidFill>
                    <a:srgbClr val="111A33"/>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635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Market size ($B)</c:v>
                </c:pt>
              </c:strCache>
            </c:strRef>
          </c:tx>
          <c:spPr>
            <a:solidFill>
              <a:srgbClr val="2158E8"/>
            </a:solidFill>
            <a:effectLst/>
          </c:spPr>
          <c:invertIfNegative val="0"/>
          <c:dLbls>
            <c:numFmt formatCode="General" sourceLinked="0"/>
            <c:txPr>
              <a:bodyPr/>
              <a:lstStyle/>
              <a:p>
                <a:pPr>
                  <a:defRPr b="1" i="0" strike="noStrike" sz="1050" u="none">
                    <a:solidFill>
                      <a:srgbClr val="111A33"/>
                    </a:solidFill>
                    <a:latin typeface="Arial"/>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c:v>
                  </c:pt>
                  <c:pt idx="3">
                    <c:v>2027</c:v>
                  </c:pt>
                  <c:pt idx="4">
                    <c:v>2028</c:v>
                  </c:pt>
                  <c:pt idx="5">
                    <c:v>2029</c:v>
                  </c:pt>
                  <c:pt idx="6">
                    <c:v>2030</c:v>
                  </c:pt>
                </c:lvl>
              </c:multiLvlStrCache>
            </c:multiLvlStrRef>
          </c:cat>
          <c:val>
            <c:numRef>
              <c:f>Sheet1!$B$2:$B$8</c:f>
              <c:numCache>
                <c:formatCode>General</c:formatCode>
                <c:ptCount val="7"/>
                <c:pt idx="0">
                  <c:v>5.9</c:v>
                </c:pt>
                <c:pt idx="1">
                  <c:v>7.8</c:v>
                </c:pt>
                <c:pt idx="2">
                  <c:v>10.4</c:v>
                </c:pt>
                <c:pt idx="3">
                  <c:v>13.8</c:v>
                </c:pt>
                <c:pt idx="4">
                  <c:v>18.3</c:v>
                </c:pt>
                <c:pt idx="5">
                  <c:v>24.3</c:v>
                </c:pt>
                <c:pt idx="6">
                  <c:v>32.3</c:v>
                </c:pt>
              </c:numCache>
            </c:numRef>
          </c:val>
        </c:ser>
        <c:dLbls>
          <c:numFmt formatCode="General" sourceLinked="0"/>
          <c:txPr>
            <a:bodyPr/>
            <a:lstStyle/>
            <a:p>
              <a:pPr>
                <a:defRPr b="1" i="0" strike="noStrike" sz="1050" u="none">
                  <a:solidFill>
                    <a:srgbClr val="111A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6304A"/>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BilimAI: AI grading assistant for written assignments. Pitch to government-sponsored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image" Target="../media/image-7-1.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33"/>
        </a:solidFill>
      </p:bgPr>
    </p:bg>
    <p:spTree>
      <p:nvGrpSpPr>
        <p:cNvPr id="1" name=""/>
        <p:cNvGrpSpPr/>
        <p:nvPr/>
      </p:nvGrpSpPr>
      <p:grpSpPr>
        <a:xfrm>
          <a:off x="0" y="0"/>
          <a:ext cx="0" cy="0"/>
          <a:chOff x="0" y="0"/>
          <a:chExt cx="0" cy="0"/>
        </a:xfrm>
      </p:grpSpPr>
      <p:sp>
        <p:nvSpPr>
          <p:cNvPr id="2" name="Shape 0"/>
          <p:cNvSpPr/>
          <p:nvPr/>
        </p:nvSpPr>
        <p:spPr>
          <a:xfrm>
            <a:off x="9052560" y="0"/>
            <a:ext cx="3136392" cy="6858000"/>
          </a:xfrm>
          <a:prstGeom prst="rect">
            <a:avLst/>
          </a:prstGeom>
          <a:solidFill>
            <a:srgbClr val="18244A"/>
          </a:solidFill>
          <a:ln/>
        </p:spPr>
      </p:sp>
      <p:sp>
        <p:nvSpPr>
          <p:cNvPr id="3" name="Shape 1"/>
          <p:cNvSpPr/>
          <p:nvPr/>
        </p:nvSpPr>
        <p:spPr>
          <a:xfrm>
            <a:off x="9646920" y="2542032"/>
            <a:ext cx="1920240" cy="1920240"/>
          </a:xfrm>
          <a:prstGeom prst="ellipse">
            <a:avLst/>
          </a:prstGeom>
          <a:solidFill>
            <a:srgbClr val="22315E"/>
          </a:solidFill>
          <a:ln/>
        </p:spPr>
      </p:sp>
      <p:pic>
        <p:nvPicPr>
          <p:cNvPr id="4" name="Image 0" descr="/private/tmp/claude-501/-Users-furb-x-Desktop-My-Projects/d365b27d-a89f-47fc-8734-df20f634a92b/scratchpad/bilimai/icons/pencil-cream.png">    </p:cNvPr>
          <p:cNvPicPr>
            <a:picLocks noChangeAspect="1"/>
          </p:cNvPicPr>
          <p:nvPr/>
        </p:nvPicPr>
        <p:blipFill>
          <a:blip r:embed="rId1"/>
          <a:stretch>
            <a:fillRect/>
          </a:stretch>
        </p:blipFill>
        <p:spPr>
          <a:xfrm>
            <a:off x="10168128" y="3063240"/>
            <a:ext cx="877824" cy="877824"/>
          </a:xfrm>
          <a:prstGeom prst="rect">
            <a:avLst/>
          </a:prstGeom>
        </p:spPr>
      </p:pic>
      <p:sp>
        <p:nvSpPr>
          <p:cNvPr id="5" name="Text 2"/>
          <p:cNvSpPr/>
          <p:nvPr/>
        </p:nvSpPr>
        <p:spPr>
          <a:xfrm>
            <a:off x="822960" y="1554480"/>
            <a:ext cx="7315200" cy="320040"/>
          </a:xfrm>
          <a:prstGeom prst="rect">
            <a:avLst/>
          </a:prstGeom>
          <a:noFill/>
          <a:ln/>
        </p:spPr>
        <p:txBody>
          <a:bodyPr wrap="square" lIns="0" tIns="0" rIns="0" bIns="0" rtlCol="0" anchor="ctr"/>
          <a:lstStyle/>
          <a:p>
            <a:pPr indent="0" marL="0">
              <a:buNone/>
            </a:pPr>
            <a:r>
              <a:rPr lang="en-US" sz="1400" b="1" spc="300" kern="0" dirty="0">
                <a:solidFill>
                  <a:srgbClr val="8FB0F0"/>
                </a:solidFill>
                <a:latin typeface="Calibri" pitchFamily="34" charset="0"/>
                <a:ea typeface="Calibri" pitchFamily="34" charset="-122"/>
                <a:cs typeface="Calibri" pitchFamily="34" charset="-120"/>
              </a:rPr>
              <a:t>BILIMAI · TASHKENT · 2026</a:t>
            </a:r>
            <a:endParaRPr lang="en-US" sz="1400" dirty="0"/>
          </a:p>
        </p:txBody>
      </p:sp>
      <p:sp>
        <p:nvSpPr>
          <p:cNvPr id="6" name="Text 3"/>
          <p:cNvSpPr/>
          <p:nvPr/>
        </p:nvSpPr>
        <p:spPr>
          <a:xfrm>
            <a:off x="777240" y="1920240"/>
            <a:ext cx="7863840" cy="137160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Bilim</a:t>
            </a:r>
            <a:pPr indent="0" marL="0">
              <a:buNone/>
            </a:pPr>
            <a:r>
              <a:rPr lang="en-US" sz="8000" b="1" dirty="0">
                <a:solidFill>
                  <a:srgbClr val="5B8BF5"/>
                </a:solidFill>
                <a:latin typeface="Calibri" pitchFamily="34" charset="0"/>
                <a:ea typeface="Calibri" pitchFamily="34" charset="-122"/>
                <a:cs typeface="Calibri" pitchFamily="34" charset="-120"/>
              </a:rPr>
              <a:t>AI</a:t>
            </a:r>
            <a:endParaRPr lang="en-US" sz="8000" dirty="0"/>
          </a:p>
        </p:txBody>
      </p:sp>
      <p:sp>
        <p:nvSpPr>
          <p:cNvPr id="7" name="Text 4"/>
          <p:cNvSpPr/>
          <p:nvPr/>
        </p:nvSpPr>
        <p:spPr>
          <a:xfrm>
            <a:off x="822960" y="3429000"/>
            <a:ext cx="7406640" cy="914400"/>
          </a:xfrm>
          <a:prstGeom prst="rect">
            <a:avLst/>
          </a:prstGeom>
          <a:noFill/>
          <a:ln/>
        </p:spPr>
        <p:txBody>
          <a:bodyPr wrap="square" lIns="0" tIns="0" rIns="0" bIns="0" rtlCol="0" anchor="ctr"/>
          <a:lstStyle/>
          <a:p>
            <a:pPr indent="0" marL="0">
              <a:buNone/>
            </a:pPr>
            <a:r>
              <a:rPr lang="en-US" sz="2200" dirty="0">
                <a:solidFill>
                  <a:srgbClr val="D8E4FA"/>
                </a:solidFill>
                <a:latin typeface="Calibri" pitchFamily="34" charset="0"/>
                <a:ea typeface="Calibri" pitchFamily="34" charset="-122"/>
                <a:cs typeface="Calibri" pitchFamily="34" charset="-120"/>
              </a:rPr>
              <a:t>AI that reads, checks and grades students’ written work — so teachers can teach.</a:t>
            </a:r>
            <a:endParaRPr lang="en-US" sz="2200" dirty="0"/>
          </a:p>
        </p:txBody>
      </p:sp>
      <p:sp>
        <p:nvSpPr>
          <p:cNvPr id="8" name="Text 5"/>
          <p:cNvSpPr/>
          <p:nvPr/>
        </p:nvSpPr>
        <p:spPr>
          <a:xfrm>
            <a:off x="822960" y="5394960"/>
            <a:ext cx="7315200" cy="365760"/>
          </a:xfrm>
          <a:prstGeom prst="rect">
            <a:avLst/>
          </a:prstGeom>
          <a:noFill/>
          <a:ln/>
        </p:spPr>
        <p:txBody>
          <a:bodyPr wrap="square" lIns="0" tIns="0" rIns="0" bIns="0" rtlCol="0" anchor="ctr"/>
          <a:lstStyle/>
          <a:p>
            <a:pPr indent="0" marL="0">
              <a:buNone/>
            </a:pPr>
            <a:r>
              <a:rPr lang="en-US" sz="1400" dirty="0">
                <a:solidFill>
                  <a:srgbClr val="8FA3C8"/>
                </a:solidFill>
                <a:latin typeface="Calibri" pitchFamily="34" charset="0"/>
                <a:ea typeface="Calibri" pitchFamily="34" charset="-122"/>
                <a:cs typeface="Calibri" pitchFamily="34" charset="-120"/>
              </a:rPr>
              <a:t>Investment proposal for government-sponsored investors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Teachers spend their evenings marking, not teaching</a:t>
            </a:r>
            <a:endParaRPr lang="en-US" sz="3400" dirty="0"/>
          </a:p>
        </p:txBody>
      </p:sp>
      <p:sp>
        <p:nvSpPr>
          <p:cNvPr id="4" name="Text 2"/>
          <p:cNvSpPr/>
          <p:nvPr/>
        </p:nvSpPr>
        <p:spPr>
          <a:xfrm>
            <a:off x="548640" y="178308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41 h</a:t>
            </a:r>
            <a:endParaRPr lang="en-US" sz="4400" dirty="0"/>
          </a:p>
        </p:txBody>
      </p:sp>
      <p:sp>
        <p:nvSpPr>
          <p:cNvPr id="5" name="Text 3"/>
          <p:cNvSpPr/>
          <p:nvPr/>
        </p:nvSpPr>
        <p:spPr>
          <a:xfrm>
            <a:off x="548640" y="244144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average teacher working week across OECD systems — up from 38.8 h in 2018</a:t>
            </a:r>
            <a:endParaRPr lang="en-US" sz="1250" dirty="0"/>
          </a:p>
        </p:txBody>
      </p:sp>
      <p:sp>
        <p:nvSpPr>
          <p:cNvPr id="6" name="Text 4"/>
          <p:cNvSpPr/>
          <p:nvPr/>
        </p:nvSpPr>
        <p:spPr>
          <a:xfrm>
            <a:off x="548640" y="324612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~half</a:t>
            </a:r>
            <a:endParaRPr lang="en-US" sz="4400" dirty="0"/>
          </a:p>
        </p:txBody>
      </p:sp>
      <p:sp>
        <p:nvSpPr>
          <p:cNvPr id="7" name="Text 5"/>
          <p:cNvSpPr/>
          <p:nvPr/>
        </p:nvSpPr>
        <p:spPr>
          <a:xfrm>
            <a:off x="548640" y="390448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that week is spent on tasks other than teaching — marking, admin, paperwork</a:t>
            </a:r>
            <a:endParaRPr lang="en-US" sz="1250" dirty="0"/>
          </a:p>
        </p:txBody>
      </p:sp>
      <p:sp>
        <p:nvSpPr>
          <p:cNvPr id="8" name="Text 6"/>
          <p:cNvSpPr/>
          <p:nvPr/>
        </p:nvSpPr>
        <p:spPr>
          <a:xfrm>
            <a:off x="548640" y="4709160"/>
            <a:ext cx="3291840" cy="658368"/>
          </a:xfrm>
          <a:prstGeom prst="rect">
            <a:avLst/>
          </a:prstGeom>
          <a:noFill/>
          <a:ln/>
        </p:spPr>
        <p:txBody>
          <a:bodyPr wrap="square" lIns="0" tIns="0" rIns="0" bIns="0" rtlCol="0" anchor="ctr"/>
          <a:lstStyle/>
          <a:p>
            <a:pPr indent="0" marL="0">
              <a:buNone/>
            </a:pPr>
            <a:r>
              <a:rPr lang="en-US" sz="4400" b="1" dirty="0">
                <a:solidFill>
                  <a:srgbClr val="2158E8"/>
                </a:solidFill>
                <a:latin typeface="Calibri" pitchFamily="34" charset="0"/>
                <a:ea typeface="Calibri" pitchFamily="34" charset="-122"/>
                <a:cs typeface="Calibri" pitchFamily="34" charset="-120"/>
              </a:rPr>
              <a:t>16 : 6</a:t>
            </a:r>
            <a:endParaRPr lang="en-US" sz="4400" dirty="0"/>
          </a:p>
        </p:txBody>
      </p:sp>
      <p:sp>
        <p:nvSpPr>
          <p:cNvPr id="9" name="Text 7"/>
          <p:cNvSpPr/>
          <p:nvPr/>
        </p:nvSpPr>
        <p:spPr>
          <a:xfrm>
            <a:off x="548640" y="536752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education systems where marking time rose since 2018, versus only 6 where it fell</a:t>
            </a:r>
            <a:endParaRPr lang="en-US" sz="1250" dirty="0"/>
          </a:p>
        </p:txBody>
      </p:sp>
      <p:sp>
        <p:nvSpPr>
          <p:cNvPr id="10" name="Shape 8"/>
          <p:cNvSpPr/>
          <p:nvPr/>
        </p:nvSpPr>
        <p:spPr>
          <a:xfrm>
            <a:off x="4297680" y="1691640"/>
            <a:ext cx="7342632" cy="4526280"/>
          </a:xfrm>
          <a:prstGeom prst="roundRect">
            <a:avLst>
              <a:gd name="adj" fmla="val 2424"/>
            </a:avLst>
          </a:prstGeom>
          <a:solidFill>
            <a:srgbClr val="EDF3FC"/>
          </a:solidFill>
          <a:ln/>
        </p:spPr>
      </p:sp>
      <p:sp>
        <p:nvSpPr>
          <p:cNvPr id="11" name="Text 9"/>
          <p:cNvSpPr/>
          <p:nvPr/>
        </p:nvSpPr>
        <p:spPr>
          <a:xfrm>
            <a:off x="4572000" y="1874520"/>
            <a:ext cx="6766560" cy="320040"/>
          </a:xfrm>
          <a:prstGeom prst="rect">
            <a:avLst/>
          </a:prstGeom>
          <a:noFill/>
          <a:ln/>
        </p:spPr>
        <p:txBody>
          <a:bodyPr wrap="square" lIns="0" tIns="0" rIns="0" bIns="0" rtlCol="0" anchor="ctr"/>
          <a:lstStyle/>
          <a:p>
            <a:pPr indent="0" marL="0">
              <a:buNone/>
            </a:pPr>
            <a:r>
              <a:rPr lang="en-US" sz="1400" b="1" dirty="0">
                <a:solidFill>
                  <a:srgbClr val="111A33"/>
                </a:solidFill>
                <a:latin typeface="Calibri" pitchFamily="34" charset="0"/>
                <a:ea typeface="Calibri" pitchFamily="34" charset="-122"/>
                <a:cs typeface="Calibri" pitchFamily="34" charset="-120"/>
              </a:rPr>
              <a:t>Teacher working hours per week (term time)</a:t>
            </a:r>
            <a:endParaRPr lang="en-US" sz="1400" dirty="0"/>
          </a:p>
        </p:txBody>
      </p:sp>
      <p:graphicFrame>
        <p:nvGraphicFramePr>
          <p:cNvPr id="12" name="Chart 0" descr=""/>
          <p:cNvGraphicFramePr/>
          <p:nvPr/>
        </p:nvGraphicFramePr>
        <p:xfrm>
          <a:off x="4572000" y="2286000"/>
          <a:ext cx="6812280" cy="3291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4572000" y="5623560"/>
            <a:ext cx="6766560" cy="320040"/>
          </a:xfrm>
          <a:prstGeom prst="rect">
            <a:avLst/>
          </a:prstGeom>
          <a:noFill/>
          <a:ln/>
        </p:spPr>
        <p:txBody>
          <a:bodyPr wrap="square" lIns="0" tIns="0" rIns="0" bIns="0" rtlCol="0" anchor="ctr"/>
          <a:lstStyle/>
          <a:p>
            <a:pPr indent="0" marL="0">
              <a:buNone/>
            </a:pPr>
            <a:r>
              <a:rPr lang="en-US" sz="1250" i="1" dirty="0">
                <a:solidFill>
                  <a:srgbClr val="26304A"/>
                </a:solidFill>
                <a:latin typeface="Calibri" pitchFamily="34" charset="0"/>
                <a:ea typeface="Calibri" pitchFamily="34" charset="-122"/>
                <a:cs typeface="Calibri" pitchFamily="34" charset="-120"/>
              </a:rPr>
              <a:t>Singapore teachers alone report 6.4 h of marking every week.</a:t>
            </a:r>
            <a:endParaRPr lang="en-US" sz="1250" dirty="0"/>
          </a:p>
        </p:txBody>
      </p:sp>
      <p:sp>
        <p:nvSpPr>
          <p:cNvPr id="14" name="Text 11"/>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OECD TALIS 2018 &amp; TALIS 2024; UK DfE Teacher Workload Survey 2019. Full citations on the Sources slide.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BilimAI — a marking assistant for every teacher</a:t>
            </a:r>
            <a:endParaRPr lang="en-US" sz="3400" dirty="0"/>
          </a:p>
        </p:txBody>
      </p:sp>
      <p:sp>
        <p:nvSpPr>
          <p:cNvPr id="4" name="Shape 2"/>
          <p:cNvSpPr/>
          <p:nvPr/>
        </p:nvSpPr>
        <p:spPr>
          <a:xfrm>
            <a:off x="548640" y="1828800"/>
            <a:ext cx="2551176" cy="3200400"/>
          </a:xfrm>
          <a:prstGeom prst="roundRect">
            <a:avLst>
              <a:gd name="adj" fmla="val 4301"/>
            </a:avLst>
          </a:prstGeom>
          <a:solidFill>
            <a:srgbClr val="EDF3FC"/>
          </a:solidFill>
          <a:ln/>
        </p:spPr>
      </p:sp>
      <p:sp>
        <p:nvSpPr>
          <p:cNvPr id="5" name="Shape 3"/>
          <p:cNvSpPr/>
          <p:nvPr/>
        </p:nvSpPr>
        <p:spPr>
          <a:xfrm>
            <a:off x="804672" y="2103120"/>
            <a:ext cx="640080" cy="640080"/>
          </a:xfrm>
          <a:prstGeom prst="ellipse">
            <a:avLst/>
          </a:prstGeom>
          <a:solidFill>
            <a:srgbClr val="DCE8FA"/>
          </a:solidFill>
          <a:ln/>
        </p:spPr>
      </p:sp>
      <p:pic>
        <p:nvPicPr>
          <p:cNvPr id="6" name="Image 0" descr="/private/tmp/claude-501/-Users-furb-x-Desktop-My-Projects/d365b27d-a89f-47fc-8734-df20f634a92b/scratchpad/bilimai/icons/scan-blue.png">    </p:cNvPr>
          <p:cNvPicPr>
            <a:picLocks noChangeAspect="1"/>
          </p:cNvPicPr>
          <p:nvPr/>
        </p:nvPicPr>
        <p:blipFill>
          <a:blip r:embed="rId1"/>
          <a:stretch>
            <a:fillRect/>
          </a:stretch>
        </p:blipFill>
        <p:spPr>
          <a:xfrm>
            <a:off x="971093" y="2269541"/>
            <a:ext cx="307238" cy="307238"/>
          </a:xfrm>
          <a:prstGeom prst="rect">
            <a:avLst/>
          </a:prstGeom>
        </p:spPr>
      </p:pic>
      <p:sp>
        <p:nvSpPr>
          <p:cNvPr id="7" name="Text 4"/>
          <p:cNvSpPr/>
          <p:nvPr/>
        </p:nvSpPr>
        <p:spPr>
          <a:xfrm>
            <a:off x="804672"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Reads</a:t>
            </a:r>
            <a:endParaRPr lang="en-US" sz="1800" dirty="0"/>
          </a:p>
        </p:txBody>
      </p:sp>
      <p:sp>
        <p:nvSpPr>
          <p:cNvPr id="8" name="Text 5"/>
          <p:cNvSpPr/>
          <p:nvPr/>
        </p:nvSpPr>
        <p:spPr>
          <a:xfrm>
            <a:off x="804672"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Reads handwritten notebook pages straight from a scan — Uzbek (Latin), Russian and English, even mixed on one page.</a:t>
            </a:r>
            <a:endParaRPr lang="en-US" sz="1250" dirty="0"/>
          </a:p>
        </p:txBody>
      </p:sp>
      <p:sp>
        <p:nvSpPr>
          <p:cNvPr id="9" name="Shape 6"/>
          <p:cNvSpPr/>
          <p:nvPr/>
        </p:nvSpPr>
        <p:spPr>
          <a:xfrm>
            <a:off x="3392424" y="1828800"/>
            <a:ext cx="2551176" cy="3200400"/>
          </a:xfrm>
          <a:prstGeom prst="roundRect">
            <a:avLst>
              <a:gd name="adj" fmla="val 4301"/>
            </a:avLst>
          </a:prstGeom>
          <a:solidFill>
            <a:srgbClr val="EDF3FC"/>
          </a:solidFill>
          <a:ln/>
        </p:spPr>
      </p:sp>
      <p:sp>
        <p:nvSpPr>
          <p:cNvPr id="10" name="Shape 7"/>
          <p:cNvSpPr/>
          <p:nvPr/>
        </p:nvSpPr>
        <p:spPr>
          <a:xfrm>
            <a:off x="3648456" y="2103120"/>
            <a:ext cx="640080" cy="640080"/>
          </a:xfrm>
          <a:prstGeom prst="ellipse">
            <a:avLst/>
          </a:prstGeom>
          <a:solidFill>
            <a:srgbClr val="DCE8FA"/>
          </a:solidFill>
          <a:ln/>
        </p:spPr>
      </p:sp>
      <p:pic>
        <p:nvPicPr>
          <p:cNvPr id="11" name="Image 1" descr="/private/tmp/claude-501/-Users-furb-x-Desktop-My-Projects/d365b27d-a89f-47fc-8734-df20f634a92b/scratchpad/bilimai/icons/factcheck-blue.png">    </p:cNvPr>
          <p:cNvPicPr>
            <a:picLocks noChangeAspect="1"/>
          </p:cNvPicPr>
          <p:nvPr/>
        </p:nvPicPr>
        <p:blipFill>
          <a:blip r:embed="rId2"/>
          <a:stretch>
            <a:fillRect/>
          </a:stretch>
        </p:blipFill>
        <p:spPr>
          <a:xfrm>
            <a:off x="3814877" y="2269541"/>
            <a:ext cx="307238" cy="307238"/>
          </a:xfrm>
          <a:prstGeom prst="rect">
            <a:avLst/>
          </a:prstGeom>
        </p:spPr>
      </p:pic>
      <p:sp>
        <p:nvSpPr>
          <p:cNvPr id="12" name="Text 8"/>
          <p:cNvSpPr/>
          <p:nvPr/>
        </p:nvSpPr>
        <p:spPr>
          <a:xfrm>
            <a:off x="3648456"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Checks</a:t>
            </a:r>
            <a:endParaRPr lang="en-US" sz="1800" dirty="0"/>
          </a:p>
        </p:txBody>
      </p:sp>
      <p:sp>
        <p:nvSpPr>
          <p:cNvPr id="13" name="Text 9"/>
          <p:cNvSpPr/>
          <p:nvPr/>
        </p:nvSpPr>
        <p:spPr>
          <a:xfrm>
            <a:off x="3648456"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Dictations, math, tests, retellings and open questions — checked against the key or rubric, the same way every time.</a:t>
            </a:r>
            <a:endParaRPr lang="en-US" sz="1250" dirty="0"/>
          </a:p>
        </p:txBody>
      </p:sp>
      <p:sp>
        <p:nvSpPr>
          <p:cNvPr id="14" name="Shape 10"/>
          <p:cNvSpPr/>
          <p:nvPr/>
        </p:nvSpPr>
        <p:spPr>
          <a:xfrm>
            <a:off x="6236208" y="1828800"/>
            <a:ext cx="2551176" cy="3200400"/>
          </a:xfrm>
          <a:prstGeom prst="roundRect">
            <a:avLst>
              <a:gd name="adj" fmla="val 4301"/>
            </a:avLst>
          </a:prstGeom>
          <a:solidFill>
            <a:srgbClr val="EDF3FC"/>
          </a:solidFill>
          <a:ln/>
        </p:spPr>
      </p:sp>
      <p:sp>
        <p:nvSpPr>
          <p:cNvPr id="15" name="Shape 11"/>
          <p:cNvSpPr/>
          <p:nvPr/>
        </p:nvSpPr>
        <p:spPr>
          <a:xfrm>
            <a:off x="6492240" y="2103120"/>
            <a:ext cx="640080" cy="640080"/>
          </a:xfrm>
          <a:prstGeom prst="ellipse">
            <a:avLst/>
          </a:prstGeom>
          <a:solidFill>
            <a:srgbClr val="DCE8FA"/>
          </a:solidFill>
          <a:ln/>
        </p:spPr>
      </p:sp>
      <p:pic>
        <p:nvPicPr>
          <p:cNvPr id="16" name="Image 2" descr="/private/tmp/claude-501/-Users-furb-x-Desktop-My-Projects/d365b27d-a89f-47fc-8734-df20f634a92b/scratchpad/bilimai/icons/bolt-blue.png">    </p:cNvPr>
          <p:cNvPicPr>
            <a:picLocks noChangeAspect="1"/>
          </p:cNvPicPr>
          <p:nvPr/>
        </p:nvPicPr>
        <p:blipFill>
          <a:blip r:embed="rId3"/>
          <a:stretch>
            <a:fillRect/>
          </a:stretch>
        </p:blipFill>
        <p:spPr>
          <a:xfrm>
            <a:off x="6658661" y="2269541"/>
            <a:ext cx="307238" cy="307238"/>
          </a:xfrm>
          <a:prstGeom prst="rect">
            <a:avLst/>
          </a:prstGeom>
        </p:spPr>
      </p:pic>
      <p:sp>
        <p:nvSpPr>
          <p:cNvPr id="17" name="Text 12"/>
          <p:cNvSpPr/>
          <p:nvPr/>
        </p:nvSpPr>
        <p:spPr>
          <a:xfrm>
            <a:off x="6492240"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Grades</a:t>
            </a:r>
            <a:endParaRPr lang="en-US" sz="1800" dirty="0"/>
          </a:p>
        </p:txBody>
      </p:sp>
      <p:sp>
        <p:nvSpPr>
          <p:cNvPr id="18" name="Text 13"/>
          <p:cNvSpPr/>
          <p:nvPr/>
        </p:nvSpPr>
        <p:spPr>
          <a:xfrm>
            <a:off x="6492240"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Returns a consistent draft grade in seconds, not evenings — for a whole class at once.</a:t>
            </a:r>
            <a:endParaRPr lang="en-US" sz="1250" dirty="0"/>
          </a:p>
        </p:txBody>
      </p:sp>
      <p:sp>
        <p:nvSpPr>
          <p:cNvPr id="19" name="Shape 14"/>
          <p:cNvSpPr/>
          <p:nvPr/>
        </p:nvSpPr>
        <p:spPr>
          <a:xfrm>
            <a:off x="9079992" y="1828800"/>
            <a:ext cx="2551176" cy="3200400"/>
          </a:xfrm>
          <a:prstGeom prst="roundRect">
            <a:avLst>
              <a:gd name="adj" fmla="val 4301"/>
            </a:avLst>
          </a:prstGeom>
          <a:solidFill>
            <a:srgbClr val="EDF3FC"/>
          </a:solidFill>
          <a:ln/>
        </p:spPr>
      </p:sp>
      <p:sp>
        <p:nvSpPr>
          <p:cNvPr id="20" name="Shape 15"/>
          <p:cNvSpPr/>
          <p:nvPr/>
        </p:nvSpPr>
        <p:spPr>
          <a:xfrm>
            <a:off x="9336024" y="2103120"/>
            <a:ext cx="640080" cy="640080"/>
          </a:xfrm>
          <a:prstGeom prst="ellipse">
            <a:avLst/>
          </a:prstGeom>
          <a:solidFill>
            <a:srgbClr val="DCE8FA"/>
          </a:solidFill>
          <a:ln/>
        </p:spPr>
      </p:sp>
      <p:pic>
        <p:nvPicPr>
          <p:cNvPr id="21" name="Image 3" descr="/private/tmp/claude-501/-Users-furb-x-Desktop-My-Projects/d365b27d-a89f-47fc-8734-df20f634a92b/scratchpad/bilimai/icons/comment-blue.png">    </p:cNvPr>
          <p:cNvPicPr>
            <a:picLocks noChangeAspect="1"/>
          </p:cNvPicPr>
          <p:nvPr/>
        </p:nvPicPr>
        <p:blipFill>
          <a:blip r:embed="rId4"/>
          <a:stretch>
            <a:fillRect/>
          </a:stretch>
        </p:blipFill>
        <p:spPr>
          <a:xfrm>
            <a:off x="9502445" y="2269541"/>
            <a:ext cx="307238" cy="307238"/>
          </a:xfrm>
          <a:prstGeom prst="rect">
            <a:avLst/>
          </a:prstGeom>
        </p:spPr>
      </p:pic>
      <p:sp>
        <p:nvSpPr>
          <p:cNvPr id="22" name="Text 16"/>
          <p:cNvSpPr/>
          <p:nvPr/>
        </p:nvSpPr>
        <p:spPr>
          <a:xfrm>
            <a:off x="9336024" y="2880360"/>
            <a:ext cx="2039112" cy="36576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Gives feedback</a:t>
            </a:r>
            <a:endParaRPr lang="en-US" sz="1800" dirty="0"/>
          </a:p>
        </p:txBody>
      </p:sp>
      <p:sp>
        <p:nvSpPr>
          <p:cNvPr id="23" name="Text 17"/>
          <p:cNvSpPr/>
          <p:nvPr/>
        </p:nvSpPr>
        <p:spPr>
          <a:xfrm>
            <a:off x="9336024" y="3291840"/>
            <a:ext cx="2039112" cy="160020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Writes personal, constructive feedback for each student, ready for the teacher to approve.</a:t>
            </a:r>
            <a:endParaRPr lang="en-US" sz="1250" dirty="0"/>
          </a:p>
        </p:txBody>
      </p:sp>
      <p:sp>
        <p:nvSpPr>
          <p:cNvPr id="24" name="Shape 18"/>
          <p:cNvSpPr/>
          <p:nvPr/>
        </p:nvSpPr>
        <p:spPr>
          <a:xfrm>
            <a:off x="548640" y="5349240"/>
            <a:ext cx="11091672" cy="777240"/>
          </a:xfrm>
          <a:prstGeom prst="roundRect">
            <a:avLst>
              <a:gd name="adj" fmla="val 11765"/>
            </a:avLst>
          </a:prstGeom>
          <a:solidFill>
            <a:srgbClr val="111A33"/>
          </a:solidFill>
          <a:ln/>
        </p:spPr>
      </p:sp>
      <p:pic>
        <p:nvPicPr>
          <p:cNvPr id="25" name="Image 4" descr="/private/tmp/claude-501/-Users-furb-x-Desktop-My-Projects/d365b27d-a89f-47fc-8734-df20f634a92b/scratchpad/bilimai/icons/teacher-white.png">    </p:cNvPr>
          <p:cNvPicPr>
            <a:picLocks noChangeAspect="1"/>
          </p:cNvPicPr>
          <p:nvPr/>
        </p:nvPicPr>
        <p:blipFill>
          <a:blip r:embed="rId5"/>
          <a:stretch>
            <a:fillRect/>
          </a:stretch>
        </p:blipFill>
        <p:spPr>
          <a:xfrm>
            <a:off x="868680" y="5550408"/>
            <a:ext cx="365760" cy="365760"/>
          </a:xfrm>
          <a:prstGeom prst="rect">
            <a:avLst/>
          </a:prstGeom>
        </p:spPr>
      </p:pic>
      <p:sp>
        <p:nvSpPr>
          <p:cNvPr id="26" name="Text 19"/>
          <p:cNvSpPr/>
          <p:nvPr/>
        </p:nvSpPr>
        <p:spPr>
          <a:xfrm>
            <a:off x="1371600" y="5349240"/>
            <a:ext cx="10058400" cy="7772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teacher stays in control.  </a:t>
            </a:r>
            <a:pPr indent="0" marL="0">
              <a:buNone/>
            </a:pPr>
            <a:r>
              <a:rPr lang="en-US" sz="1450" dirty="0">
                <a:solidFill>
                  <a:srgbClr val="FFFFFF"/>
                </a:solidFill>
                <a:latin typeface="Calibri" pitchFamily="34" charset="0"/>
                <a:ea typeface="Calibri" pitchFamily="34" charset="-122"/>
                <a:cs typeface="Calibri" pitchFamily="34" charset="-120"/>
              </a:rPr>
              <a:t>Every grade and every comment is a draft until the teacher approves it.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HOW IT WORKS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From a pile of notebooks to approved feedback</a:t>
            </a:r>
            <a:endParaRPr lang="en-US" sz="3400" dirty="0"/>
          </a:p>
        </p:txBody>
      </p:sp>
      <p:sp>
        <p:nvSpPr>
          <p:cNvPr id="4" name="Shape 2"/>
          <p:cNvSpPr/>
          <p:nvPr/>
        </p:nvSpPr>
        <p:spPr>
          <a:xfrm>
            <a:off x="548640" y="2103120"/>
            <a:ext cx="2057400" cy="2651760"/>
          </a:xfrm>
          <a:prstGeom prst="roundRect">
            <a:avLst>
              <a:gd name="adj" fmla="val 4444"/>
            </a:avLst>
          </a:prstGeom>
          <a:solidFill>
            <a:srgbClr val="EDF3FC"/>
          </a:solidFill>
          <a:ln/>
        </p:spPr>
      </p:sp>
      <p:sp>
        <p:nvSpPr>
          <p:cNvPr id="5" name="Shape 3"/>
          <p:cNvSpPr/>
          <p:nvPr/>
        </p:nvSpPr>
        <p:spPr>
          <a:xfrm>
            <a:off x="768096" y="2331720"/>
            <a:ext cx="566928" cy="566928"/>
          </a:xfrm>
          <a:prstGeom prst="ellipse">
            <a:avLst/>
          </a:prstGeom>
          <a:solidFill>
            <a:srgbClr val="DCE8FA"/>
          </a:solidFill>
          <a:ln/>
        </p:spPr>
      </p:sp>
      <p:pic>
        <p:nvPicPr>
          <p:cNvPr id="6" name="Image 0" descr="/private/tmp/claude-501/-Users-furb-x-Desktop-My-Projects/d365b27d-a89f-47fc-8734-df20f634a92b/scratchpad/bilimai/icons/upload-blue.png">    </p:cNvPr>
          <p:cNvPicPr>
            <a:picLocks noChangeAspect="1"/>
          </p:cNvPicPr>
          <p:nvPr/>
        </p:nvPicPr>
        <p:blipFill>
          <a:blip r:embed="rId1"/>
          <a:stretch>
            <a:fillRect/>
          </a:stretch>
        </p:blipFill>
        <p:spPr>
          <a:xfrm>
            <a:off x="915497" y="2479121"/>
            <a:ext cx="272125" cy="272125"/>
          </a:xfrm>
          <a:prstGeom prst="rect">
            <a:avLst/>
          </a:prstGeom>
        </p:spPr>
      </p:pic>
      <p:sp>
        <p:nvSpPr>
          <p:cNvPr id="7" name="Text 4"/>
          <p:cNvSpPr/>
          <p:nvPr/>
        </p:nvSpPr>
        <p:spPr>
          <a:xfrm>
            <a:off x="768096"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1. Scan</a:t>
            </a:r>
            <a:endParaRPr lang="en-US" sz="1500" dirty="0"/>
          </a:p>
        </p:txBody>
      </p:sp>
      <p:sp>
        <p:nvSpPr>
          <p:cNvPr id="8" name="Text 5"/>
          <p:cNvSpPr/>
          <p:nvPr/>
        </p:nvSpPr>
        <p:spPr>
          <a:xfrm>
            <a:off x="768096"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Teacher scans the class’s notebooks on the school printer.</a:t>
            </a:r>
            <a:endParaRPr lang="en-US" sz="1150" dirty="0"/>
          </a:p>
        </p:txBody>
      </p:sp>
      <p:sp>
        <p:nvSpPr>
          <p:cNvPr id="9" name="Text 6"/>
          <p:cNvSpPr/>
          <p:nvPr/>
        </p:nvSpPr>
        <p:spPr>
          <a:xfrm>
            <a:off x="2551176"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825496" y="2103120"/>
            <a:ext cx="2057400" cy="2651760"/>
          </a:xfrm>
          <a:prstGeom prst="roundRect">
            <a:avLst>
              <a:gd name="adj" fmla="val 4444"/>
            </a:avLst>
          </a:prstGeom>
          <a:solidFill>
            <a:srgbClr val="EDF3FC"/>
          </a:solidFill>
          <a:ln/>
        </p:spPr>
      </p:sp>
      <p:sp>
        <p:nvSpPr>
          <p:cNvPr id="11" name="Shape 8"/>
          <p:cNvSpPr/>
          <p:nvPr/>
        </p:nvSpPr>
        <p:spPr>
          <a:xfrm>
            <a:off x="3044952" y="2331720"/>
            <a:ext cx="566928" cy="566928"/>
          </a:xfrm>
          <a:prstGeom prst="ellipse">
            <a:avLst/>
          </a:prstGeom>
          <a:solidFill>
            <a:srgbClr val="DCE8FA"/>
          </a:solidFill>
          <a:ln/>
        </p:spPr>
      </p:sp>
      <p:pic>
        <p:nvPicPr>
          <p:cNvPr id="12" name="Image 1" descr="/private/tmp/claude-501/-Users-furb-x-Desktop-My-Projects/d365b27d-a89f-47fc-8734-df20f634a92b/scratchpad/bilimai/icons/eye-blue.png">    </p:cNvPr>
          <p:cNvPicPr>
            <a:picLocks noChangeAspect="1"/>
          </p:cNvPicPr>
          <p:nvPr/>
        </p:nvPicPr>
        <p:blipFill>
          <a:blip r:embed="rId2"/>
          <a:stretch>
            <a:fillRect/>
          </a:stretch>
        </p:blipFill>
        <p:spPr>
          <a:xfrm>
            <a:off x="3192353" y="2479121"/>
            <a:ext cx="272125" cy="272125"/>
          </a:xfrm>
          <a:prstGeom prst="rect">
            <a:avLst/>
          </a:prstGeom>
        </p:spPr>
      </p:pic>
      <p:sp>
        <p:nvSpPr>
          <p:cNvPr id="13" name="Text 9"/>
          <p:cNvSpPr/>
          <p:nvPr/>
        </p:nvSpPr>
        <p:spPr>
          <a:xfrm>
            <a:off x="3044952"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2. Read</a:t>
            </a:r>
            <a:endParaRPr lang="en-US" sz="1500" dirty="0"/>
          </a:p>
        </p:txBody>
      </p:sp>
      <p:sp>
        <p:nvSpPr>
          <p:cNvPr id="14" name="Text 10"/>
          <p:cNvSpPr/>
          <p:nvPr/>
        </p:nvSpPr>
        <p:spPr>
          <a:xfrm>
            <a:off x="3044952"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BilimAI reads the handwriting and understands the answer.</a:t>
            </a:r>
            <a:endParaRPr lang="en-US" sz="1150" dirty="0"/>
          </a:p>
        </p:txBody>
      </p:sp>
      <p:sp>
        <p:nvSpPr>
          <p:cNvPr id="15" name="Text 11"/>
          <p:cNvSpPr/>
          <p:nvPr/>
        </p:nvSpPr>
        <p:spPr>
          <a:xfrm>
            <a:off x="4828032"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5102352" y="2103120"/>
            <a:ext cx="2057400" cy="2651760"/>
          </a:xfrm>
          <a:prstGeom prst="roundRect">
            <a:avLst>
              <a:gd name="adj" fmla="val 4444"/>
            </a:avLst>
          </a:prstGeom>
          <a:solidFill>
            <a:srgbClr val="EDF3FC"/>
          </a:solidFill>
          <a:ln/>
        </p:spPr>
      </p:sp>
      <p:sp>
        <p:nvSpPr>
          <p:cNvPr id="17" name="Shape 13"/>
          <p:cNvSpPr/>
          <p:nvPr/>
        </p:nvSpPr>
        <p:spPr>
          <a:xfrm>
            <a:off x="5321808" y="2331720"/>
            <a:ext cx="566928" cy="566928"/>
          </a:xfrm>
          <a:prstGeom prst="ellipse">
            <a:avLst/>
          </a:prstGeom>
          <a:solidFill>
            <a:srgbClr val="DCE8FA"/>
          </a:solidFill>
          <a:ln/>
        </p:spPr>
      </p:sp>
      <p:pic>
        <p:nvPicPr>
          <p:cNvPr id="18" name="Image 2" descr="/private/tmp/claude-501/-Users-furb-x-Desktop-My-Projects/d365b27d-a89f-47fc-8734-df20f634a92b/scratchpad/bilimai/icons/factcheck-blue.png">    </p:cNvPr>
          <p:cNvPicPr>
            <a:picLocks noChangeAspect="1"/>
          </p:cNvPicPr>
          <p:nvPr/>
        </p:nvPicPr>
        <p:blipFill>
          <a:blip r:embed="rId3"/>
          <a:stretch>
            <a:fillRect/>
          </a:stretch>
        </p:blipFill>
        <p:spPr>
          <a:xfrm>
            <a:off x="5469209" y="2479121"/>
            <a:ext cx="272125" cy="272125"/>
          </a:xfrm>
          <a:prstGeom prst="rect">
            <a:avLst/>
          </a:prstGeom>
        </p:spPr>
      </p:pic>
      <p:sp>
        <p:nvSpPr>
          <p:cNvPr id="19" name="Text 14"/>
          <p:cNvSpPr/>
          <p:nvPr/>
        </p:nvSpPr>
        <p:spPr>
          <a:xfrm>
            <a:off x="5321808"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3. Assess</a:t>
            </a:r>
            <a:endParaRPr lang="en-US" sz="1500" dirty="0"/>
          </a:p>
        </p:txBody>
      </p:sp>
      <p:sp>
        <p:nvSpPr>
          <p:cNvPr id="20" name="Text 15"/>
          <p:cNvSpPr/>
          <p:nvPr/>
        </p:nvSpPr>
        <p:spPr>
          <a:xfrm>
            <a:off x="5321808"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Work is scored against the official curriculum rubric.</a:t>
            </a:r>
            <a:endParaRPr lang="en-US" sz="1150" dirty="0"/>
          </a:p>
        </p:txBody>
      </p:sp>
      <p:sp>
        <p:nvSpPr>
          <p:cNvPr id="21" name="Text 16"/>
          <p:cNvSpPr/>
          <p:nvPr/>
        </p:nvSpPr>
        <p:spPr>
          <a:xfrm>
            <a:off x="7104888"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379208" y="2103120"/>
            <a:ext cx="2057400" cy="2651760"/>
          </a:xfrm>
          <a:prstGeom prst="roundRect">
            <a:avLst>
              <a:gd name="adj" fmla="val 4444"/>
            </a:avLst>
          </a:prstGeom>
          <a:solidFill>
            <a:srgbClr val="EDF3FC"/>
          </a:solidFill>
          <a:ln/>
        </p:spPr>
      </p:sp>
      <p:sp>
        <p:nvSpPr>
          <p:cNvPr id="23" name="Shape 18"/>
          <p:cNvSpPr/>
          <p:nvPr/>
        </p:nvSpPr>
        <p:spPr>
          <a:xfrm>
            <a:off x="7598664" y="2331720"/>
            <a:ext cx="566928" cy="566928"/>
          </a:xfrm>
          <a:prstGeom prst="ellipse">
            <a:avLst/>
          </a:prstGeom>
          <a:solidFill>
            <a:srgbClr val="DCE8FA"/>
          </a:solidFill>
          <a:ln/>
        </p:spPr>
      </p:sp>
      <p:pic>
        <p:nvPicPr>
          <p:cNvPr id="24" name="Image 3" descr="/private/tmp/claude-501/-Users-furb-x-Desktop-My-Projects/d365b27d-a89f-47fc-8734-df20f634a92b/scratchpad/bilimai/icons/comment-blue.png">    </p:cNvPr>
          <p:cNvPicPr>
            <a:picLocks noChangeAspect="1"/>
          </p:cNvPicPr>
          <p:nvPr/>
        </p:nvPicPr>
        <p:blipFill>
          <a:blip r:embed="rId4"/>
          <a:stretch>
            <a:fillRect/>
          </a:stretch>
        </p:blipFill>
        <p:spPr>
          <a:xfrm>
            <a:off x="7746065" y="2479121"/>
            <a:ext cx="272125" cy="272125"/>
          </a:xfrm>
          <a:prstGeom prst="rect">
            <a:avLst/>
          </a:prstGeom>
        </p:spPr>
      </p:pic>
      <p:sp>
        <p:nvSpPr>
          <p:cNvPr id="25" name="Text 19"/>
          <p:cNvSpPr/>
          <p:nvPr/>
        </p:nvSpPr>
        <p:spPr>
          <a:xfrm>
            <a:off x="7598664" y="3063240"/>
            <a:ext cx="1618488" cy="347472"/>
          </a:xfrm>
          <a:prstGeom prst="rect">
            <a:avLst/>
          </a:prstGeom>
          <a:noFill/>
          <a:ln/>
        </p:spPr>
        <p:txBody>
          <a:bodyPr wrap="square" lIns="0" tIns="0" rIns="0" bIns="0" rtlCol="0" anchor="ctr"/>
          <a:lstStyle/>
          <a:p>
            <a:pPr indent="0" marL="0">
              <a:buNone/>
            </a:pPr>
            <a:r>
              <a:rPr lang="en-US" sz="1500" b="1" dirty="0">
                <a:solidFill>
                  <a:srgbClr val="111A33"/>
                </a:solidFill>
                <a:latin typeface="Calibri" pitchFamily="34" charset="0"/>
                <a:ea typeface="Calibri" pitchFamily="34" charset="-122"/>
                <a:cs typeface="Calibri" pitchFamily="34" charset="-120"/>
              </a:rPr>
              <a:t>4. Mark</a:t>
            </a:r>
            <a:endParaRPr lang="en-US" sz="1500" dirty="0"/>
          </a:p>
        </p:txBody>
      </p:sp>
      <p:sp>
        <p:nvSpPr>
          <p:cNvPr id="26" name="Text 20"/>
          <p:cNvSpPr/>
          <p:nvPr/>
        </p:nvSpPr>
        <p:spPr>
          <a:xfrm>
            <a:off x="7598664" y="3429000"/>
            <a:ext cx="1618488" cy="11887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Red-pen marks on the scan plus a score card, per student.</a:t>
            </a:r>
            <a:endParaRPr lang="en-US" sz="1150" dirty="0"/>
          </a:p>
        </p:txBody>
      </p:sp>
      <p:sp>
        <p:nvSpPr>
          <p:cNvPr id="27" name="Text 21"/>
          <p:cNvSpPr/>
          <p:nvPr/>
        </p:nvSpPr>
        <p:spPr>
          <a:xfrm>
            <a:off x="9381744" y="3154680"/>
            <a:ext cx="347472" cy="457200"/>
          </a:xfrm>
          <a:prstGeom prst="rect">
            <a:avLst/>
          </a:prstGeom>
          <a:noFill/>
          <a:ln/>
        </p:spPr>
        <p:txBody>
          <a:bodyPr wrap="square" lIns="0" tIns="0" rIns="0" bIns="0" rtlCol="0" anchor="ctr"/>
          <a:lstStyle/>
          <a:p>
            <a:pPr algn="ctr" indent="0" marL="0">
              <a:buNone/>
            </a:pPr>
            <a:r>
              <a:rPr lang="en-US" sz="2000" b="1" dirty="0">
                <a:solidFill>
                  <a:srgbClr val="2158E8"/>
                </a:solidFill>
                <a:latin typeface="Calibri" pitchFamily="34" charset="0"/>
                <a:ea typeface="Calibri" pitchFamily="34" charset="-122"/>
                <a:cs typeface="Calibri" pitchFamily="34" charset="-120"/>
              </a:rPr>
              <a:t>→</a:t>
            </a:r>
            <a:endParaRPr lang="en-US" sz="2000" dirty="0"/>
          </a:p>
        </p:txBody>
      </p:sp>
      <p:sp>
        <p:nvSpPr>
          <p:cNvPr id="28" name="Shape 22"/>
          <p:cNvSpPr/>
          <p:nvPr/>
        </p:nvSpPr>
        <p:spPr>
          <a:xfrm>
            <a:off x="9656064" y="2103120"/>
            <a:ext cx="2057400" cy="2651760"/>
          </a:xfrm>
          <a:prstGeom prst="roundRect">
            <a:avLst>
              <a:gd name="adj" fmla="val 4444"/>
            </a:avLst>
          </a:prstGeom>
          <a:solidFill>
            <a:srgbClr val="111A33"/>
          </a:solidFill>
          <a:ln/>
        </p:spPr>
      </p:sp>
      <p:sp>
        <p:nvSpPr>
          <p:cNvPr id="29" name="Shape 23"/>
          <p:cNvSpPr/>
          <p:nvPr/>
        </p:nvSpPr>
        <p:spPr>
          <a:xfrm>
            <a:off x="9875520" y="2331720"/>
            <a:ext cx="566928" cy="566928"/>
          </a:xfrm>
          <a:prstGeom prst="ellipse">
            <a:avLst/>
          </a:prstGeom>
          <a:solidFill>
            <a:srgbClr val="22315E"/>
          </a:solidFill>
          <a:ln/>
        </p:spPr>
      </p:sp>
      <p:pic>
        <p:nvPicPr>
          <p:cNvPr id="30" name="Image 4" descr="/private/tmp/claude-501/-Users-furb-x-Desktop-My-Projects/d365b27d-a89f-47fc-8734-df20f634a92b/scratchpad/bilimai/icons/check-white.png">    </p:cNvPr>
          <p:cNvPicPr>
            <a:picLocks noChangeAspect="1"/>
          </p:cNvPicPr>
          <p:nvPr/>
        </p:nvPicPr>
        <p:blipFill>
          <a:blip r:embed="rId5"/>
          <a:stretch>
            <a:fillRect/>
          </a:stretch>
        </p:blipFill>
        <p:spPr>
          <a:xfrm>
            <a:off x="10022921" y="2479121"/>
            <a:ext cx="272125" cy="272125"/>
          </a:xfrm>
          <a:prstGeom prst="rect">
            <a:avLst/>
          </a:prstGeom>
        </p:spPr>
      </p:pic>
      <p:sp>
        <p:nvSpPr>
          <p:cNvPr id="31" name="Text 24"/>
          <p:cNvSpPr/>
          <p:nvPr/>
        </p:nvSpPr>
        <p:spPr>
          <a:xfrm>
            <a:off x="9875520" y="3063240"/>
            <a:ext cx="1618488"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 Approve</a:t>
            </a:r>
            <a:endParaRPr lang="en-US" sz="1500" dirty="0"/>
          </a:p>
        </p:txBody>
      </p:sp>
      <p:sp>
        <p:nvSpPr>
          <p:cNvPr id="32" name="Text 25"/>
          <p:cNvSpPr/>
          <p:nvPr/>
        </p:nvSpPr>
        <p:spPr>
          <a:xfrm>
            <a:off x="9875520" y="3429000"/>
            <a:ext cx="1618488" cy="1188720"/>
          </a:xfrm>
          <a:prstGeom prst="rect">
            <a:avLst/>
          </a:prstGeom>
          <a:noFill/>
          <a:ln/>
        </p:spPr>
        <p:txBody>
          <a:bodyPr wrap="square" lIns="0" tIns="0" rIns="0" bIns="0" rtlCol="0" anchor="ctr"/>
          <a:lstStyle/>
          <a:p>
            <a:pPr indent="0" marL="0">
              <a:buNone/>
            </a:pPr>
            <a:r>
              <a:rPr lang="en-US" sz="1150" dirty="0">
                <a:solidFill>
                  <a:srgbClr val="D8E4FA"/>
                </a:solidFill>
                <a:latin typeface="Calibri" pitchFamily="34" charset="0"/>
                <a:ea typeface="Calibri" pitchFamily="34" charset="-122"/>
                <a:cs typeface="Calibri" pitchFamily="34" charset="-120"/>
              </a:rPr>
              <a:t>Teacher reviews, adjusts and releases in one screen.</a:t>
            </a:r>
            <a:endParaRPr lang="en-US" sz="1150" dirty="0"/>
          </a:p>
        </p:txBody>
      </p:sp>
      <p:sp>
        <p:nvSpPr>
          <p:cNvPr id="33" name="Text 26"/>
          <p:cNvSpPr/>
          <p:nvPr/>
        </p:nvSpPr>
        <p:spPr>
          <a:xfrm>
            <a:off x="548640" y="5212080"/>
            <a:ext cx="11064240" cy="731520"/>
          </a:xfrm>
          <a:prstGeom prst="rect">
            <a:avLst/>
          </a:prstGeom>
          <a:noFill/>
          <a:ln/>
        </p:spPr>
        <p:txBody>
          <a:bodyPr wrap="square" lIns="0" tIns="0" rIns="0" bIns="0" rtlCol="0" anchor="ctr"/>
          <a:lstStyle/>
          <a:p>
            <a:pPr indent="0" marL="0">
              <a:buNone/>
            </a:pPr>
            <a:r>
              <a:rPr lang="en-US" sz="1500" b="1" dirty="0">
                <a:solidFill>
                  <a:srgbClr val="2158E8"/>
                </a:solidFill>
                <a:latin typeface="Calibri" pitchFamily="34" charset="0"/>
                <a:ea typeface="Calibri" pitchFamily="34" charset="-122"/>
                <a:cs typeface="Calibri" pitchFamily="34" charset="-120"/>
              </a:rPr>
              <a:t>Minutes per class, not evenings.  </a:t>
            </a:r>
            <a:pPr indent="0" marL="0">
              <a:buNone/>
            </a:pPr>
            <a:r>
              <a:rPr lang="en-US" sz="1500" dirty="0">
                <a:solidFill>
                  <a:srgbClr val="26304A"/>
                </a:solidFill>
                <a:latin typeface="Calibri" pitchFamily="34" charset="0"/>
                <a:ea typeface="Calibri" pitchFamily="34" charset="-122"/>
                <a:cs typeface="Calibri" pitchFamily="34" charset="-120"/>
              </a:rPr>
              <a:t>And the same guardrail China’s Ministry of Education wrote into its 2025 rules: AI assists — the teacher decides.</a:t>
            </a:r>
            <a:endParaRPr lang="en-US" sz="1500" dirty="0"/>
          </a:p>
        </p:txBody>
      </p:sp>
      <p:sp>
        <p:nvSpPr>
          <p:cNvPr id="34" name="Text 27"/>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China MoE generative-AI guidance for schools, May 2025 — see Sources.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PROVEN ABROAD</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China already did this — at national scale</a:t>
            </a:r>
            <a:endParaRPr lang="en-US" sz="3400" dirty="0"/>
          </a:p>
        </p:txBody>
      </p:sp>
      <p:sp>
        <p:nvSpPr>
          <p:cNvPr id="4" name="Shape 2"/>
          <p:cNvSpPr/>
          <p:nvPr/>
        </p:nvSpPr>
        <p:spPr>
          <a:xfrm>
            <a:off x="548640" y="1783080"/>
            <a:ext cx="3566160" cy="4206240"/>
          </a:xfrm>
          <a:prstGeom prst="roundRect">
            <a:avLst>
              <a:gd name="adj" fmla="val 3077"/>
            </a:avLst>
          </a:prstGeom>
          <a:solidFill>
            <a:srgbClr val="EDF3FC"/>
          </a:solidFill>
          <a:ln/>
        </p:spPr>
      </p:sp>
      <p:sp>
        <p:nvSpPr>
          <p:cNvPr id="5" name="Text 3"/>
          <p:cNvSpPr/>
          <p:nvPr/>
        </p:nvSpPr>
        <p:spPr>
          <a:xfrm>
            <a:off x="804672" y="1965960"/>
            <a:ext cx="3063240" cy="548640"/>
          </a:xfrm>
          <a:prstGeom prst="rect">
            <a:avLst/>
          </a:prstGeom>
          <a:noFill/>
          <a:ln/>
        </p:spPr>
        <p:txBody>
          <a:bodyPr wrap="square" lIns="0" tIns="0" rIns="0" bIns="0" rtlCol="0" anchor="ctr"/>
          <a:lstStyle/>
          <a:p>
            <a:pPr indent="0" marL="0">
              <a:buNone/>
            </a:pPr>
            <a:r>
              <a:rPr lang="en-US" sz="1300" b="1" dirty="0">
                <a:solidFill>
                  <a:srgbClr val="111A33"/>
                </a:solidFill>
                <a:latin typeface="Calibri" pitchFamily="34" charset="0"/>
                <a:ea typeface="Calibri" pitchFamily="34" charset="-122"/>
                <a:cs typeface="Calibri" pitchFamily="34" charset="-120"/>
              </a:rPr>
              <a:t>Share of Chinese schools in the AI essay-grading trial</a:t>
            </a:r>
            <a:endParaRPr lang="en-US" sz="1300" dirty="0"/>
          </a:p>
        </p:txBody>
      </p:sp>
      <p:graphicFrame>
        <p:nvGraphicFramePr>
          <p:cNvPr id="6" name="Chart 0" descr=""/>
          <p:cNvGraphicFramePr/>
          <p:nvPr/>
        </p:nvGraphicFramePr>
        <p:xfrm>
          <a:off x="804672" y="2560320"/>
          <a:ext cx="3063240" cy="2377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04672" y="3429000"/>
            <a:ext cx="3063240" cy="548640"/>
          </a:xfrm>
          <a:prstGeom prst="rect">
            <a:avLst/>
          </a:prstGeom>
          <a:noFill/>
          <a:ln/>
        </p:spPr>
        <p:txBody>
          <a:bodyPr wrap="square" lIns="0" tIns="0" rIns="0" bIns="0" rtlCol="0" anchor="ctr"/>
          <a:lstStyle/>
          <a:p>
            <a:pPr algn="ctr" indent="0" marL="0">
              <a:buNone/>
            </a:pPr>
            <a:r>
              <a:rPr lang="en-US" sz="2600" b="1" dirty="0">
                <a:solidFill>
                  <a:srgbClr val="111A33"/>
                </a:solidFill>
                <a:latin typeface="Calibri" pitchFamily="34" charset="0"/>
                <a:ea typeface="Calibri" pitchFamily="34" charset="-122"/>
                <a:cs typeface="Calibri" pitchFamily="34" charset="-120"/>
              </a:rPr>
              <a:t>1 in 4</a:t>
            </a:r>
            <a:endParaRPr lang="en-US" sz="2600" dirty="0"/>
          </a:p>
        </p:txBody>
      </p:sp>
      <p:sp>
        <p:nvSpPr>
          <p:cNvPr id="8" name="Text 5"/>
          <p:cNvSpPr/>
          <p:nvPr/>
        </p:nvSpPr>
        <p:spPr>
          <a:xfrm>
            <a:off x="804672" y="5029200"/>
            <a:ext cx="3063240" cy="365760"/>
          </a:xfrm>
          <a:prstGeom prst="rect">
            <a:avLst/>
          </a:prstGeom>
          <a:noFill/>
          <a:ln/>
        </p:spPr>
        <p:txBody>
          <a:bodyPr wrap="square" lIns="0" tIns="0" rIns="0" bIns="0" rtlCol="0" anchor="ctr"/>
          <a:lstStyle/>
          <a:p>
            <a:pPr algn="ctr" indent="0" marL="0">
              <a:buNone/>
            </a:pPr>
            <a:r>
              <a:rPr lang="en-US" sz="1250" dirty="0">
                <a:solidFill>
                  <a:srgbClr val="26304A"/>
                </a:solidFill>
                <a:latin typeface="Calibri" pitchFamily="34" charset="0"/>
                <a:ea typeface="Calibri" pitchFamily="34" charset="-122"/>
                <a:cs typeface="Calibri" pitchFamily="34" charset="-120"/>
              </a:rPr>
              <a:t>~60,000 schools · 120M+ people</a:t>
            </a:r>
            <a:endParaRPr lang="en-US" sz="1250" dirty="0"/>
          </a:p>
        </p:txBody>
      </p:sp>
      <p:sp>
        <p:nvSpPr>
          <p:cNvPr id="9" name="Text 6"/>
          <p:cNvSpPr/>
          <p:nvPr/>
        </p:nvSpPr>
        <p:spPr>
          <a:xfrm>
            <a:off x="4572000" y="1828800"/>
            <a:ext cx="3566160" cy="658368"/>
          </a:xfrm>
          <a:prstGeom prst="rect">
            <a:avLst/>
          </a:prstGeom>
          <a:noFill/>
          <a:ln/>
        </p:spPr>
        <p:txBody>
          <a:bodyPr wrap="square" lIns="0" tIns="0" rIns="0" bIns="0" rtlCol="0" anchor="ctr"/>
          <a:lstStyle/>
          <a:p>
            <a:pPr indent="0" marL="0">
              <a:buNone/>
            </a:pPr>
            <a:r>
              <a:rPr lang="en-US" sz="5400" b="1" dirty="0">
                <a:solidFill>
                  <a:srgbClr val="2158E8"/>
                </a:solidFill>
                <a:latin typeface="Calibri" pitchFamily="34" charset="0"/>
                <a:ea typeface="Calibri" pitchFamily="34" charset="-122"/>
                <a:cs typeface="Calibri" pitchFamily="34" charset="-120"/>
              </a:rPr>
              <a:t>92%</a:t>
            </a:r>
            <a:endParaRPr lang="en-US" sz="5400" dirty="0"/>
          </a:p>
        </p:txBody>
      </p:sp>
      <p:sp>
        <p:nvSpPr>
          <p:cNvPr id="10" name="Text 7"/>
          <p:cNvSpPr/>
          <p:nvPr/>
        </p:nvSpPr>
        <p:spPr>
          <a:xfrm>
            <a:off x="4572000" y="2487168"/>
            <a:ext cx="35661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the AI’s grades matched the human teacher’s score in the national trial</a:t>
            </a:r>
            <a:endParaRPr lang="en-US" sz="1250" dirty="0"/>
          </a:p>
        </p:txBody>
      </p:sp>
      <p:sp>
        <p:nvSpPr>
          <p:cNvPr id="11" name="Text 8"/>
          <p:cNvSpPr/>
          <p:nvPr/>
        </p:nvSpPr>
        <p:spPr>
          <a:xfrm>
            <a:off x="8366760" y="1828800"/>
            <a:ext cx="3291840" cy="658368"/>
          </a:xfrm>
          <a:prstGeom prst="rect">
            <a:avLst/>
          </a:prstGeom>
          <a:noFill/>
          <a:ln/>
        </p:spPr>
        <p:txBody>
          <a:bodyPr wrap="square" lIns="0" tIns="0" rIns="0" bIns="0" rtlCol="0" anchor="ctr"/>
          <a:lstStyle/>
          <a:p>
            <a:pPr indent="0" marL="0">
              <a:buNone/>
            </a:pPr>
            <a:r>
              <a:rPr lang="en-US" sz="5400" b="1" dirty="0">
                <a:solidFill>
                  <a:srgbClr val="2158E8"/>
                </a:solidFill>
                <a:latin typeface="Calibri" pitchFamily="34" charset="0"/>
                <a:ea typeface="Calibri" pitchFamily="34" charset="-122"/>
                <a:cs typeface="Calibri" pitchFamily="34" charset="-120"/>
              </a:rPr>
              <a:t>130M+</a:t>
            </a:r>
            <a:endParaRPr lang="en-US" sz="5400" dirty="0"/>
          </a:p>
        </p:txBody>
      </p:sp>
      <p:sp>
        <p:nvSpPr>
          <p:cNvPr id="12" name="Text 9"/>
          <p:cNvSpPr/>
          <p:nvPr/>
        </p:nvSpPr>
        <p:spPr>
          <a:xfrm>
            <a:off x="8366760" y="2487168"/>
            <a:ext cx="329184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teachers and students use iFlytek’s AI education tools in 50,000+ Chinese schools</a:t>
            </a:r>
            <a:endParaRPr lang="en-US" sz="1250" dirty="0"/>
          </a:p>
        </p:txBody>
      </p:sp>
      <p:sp>
        <p:nvSpPr>
          <p:cNvPr id="13" name="Shape 10"/>
          <p:cNvSpPr/>
          <p:nvPr/>
        </p:nvSpPr>
        <p:spPr>
          <a:xfrm>
            <a:off x="4572000" y="3977640"/>
            <a:ext cx="7068312" cy="914400"/>
          </a:xfrm>
          <a:prstGeom prst="roundRect">
            <a:avLst>
              <a:gd name="adj" fmla="val 10000"/>
            </a:avLst>
          </a:prstGeom>
          <a:solidFill>
            <a:srgbClr val="EDF3FC"/>
          </a:solidFill>
          <a:ln/>
        </p:spPr>
      </p:sp>
      <p:sp>
        <p:nvSpPr>
          <p:cNvPr id="14" name="Shape 11"/>
          <p:cNvSpPr/>
          <p:nvPr/>
        </p:nvSpPr>
        <p:spPr>
          <a:xfrm>
            <a:off x="4773168" y="4151376"/>
            <a:ext cx="566928" cy="566928"/>
          </a:xfrm>
          <a:prstGeom prst="ellipse">
            <a:avLst/>
          </a:prstGeom>
          <a:solidFill>
            <a:srgbClr val="DCE8FA"/>
          </a:solidFill>
          <a:ln/>
        </p:spPr>
      </p:sp>
      <p:pic>
        <p:nvPicPr>
          <p:cNvPr id="15" name="Image 0" descr="/private/tmp/claude-501/-Users-furb-x-Desktop-My-Projects/d365b27d-a89f-47fc-8734-df20f634a92b/scratchpad/bilimai/icons/landmark-blue.png">    </p:cNvPr>
          <p:cNvPicPr>
            <a:picLocks noChangeAspect="1"/>
          </p:cNvPicPr>
          <p:nvPr/>
        </p:nvPicPr>
        <p:blipFill>
          <a:blip r:embed="rId2"/>
          <a:stretch>
            <a:fillRect/>
          </a:stretch>
        </p:blipFill>
        <p:spPr>
          <a:xfrm>
            <a:off x="4920569" y="4298777"/>
            <a:ext cx="272125" cy="272125"/>
          </a:xfrm>
          <a:prstGeom prst="rect">
            <a:avLst/>
          </a:prstGeom>
        </p:spPr>
      </p:pic>
      <p:sp>
        <p:nvSpPr>
          <p:cNvPr id="16" name="Text 12"/>
          <p:cNvSpPr/>
          <p:nvPr/>
        </p:nvSpPr>
        <p:spPr>
          <a:xfrm>
            <a:off x="5532120" y="3977640"/>
            <a:ext cx="5943600" cy="914400"/>
          </a:xfrm>
          <a:prstGeom prst="rect">
            <a:avLst/>
          </a:prstGeom>
          <a:noFill/>
          <a:ln/>
        </p:spPr>
        <p:txBody>
          <a:bodyPr wrap="square" lIns="0" tIns="0" rIns="0" bIns="0" rtlCol="0" anchor="ctr"/>
          <a:lstStyle/>
          <a:p>
            <a:pPr indent="0" marL="0">
              <a:buNone/>
            </a:pPr>
            <a:r>
              <a:rPr lang="en-US" sz="1250" b="1" dirty="0">
                <a:solidFill>
                  <a:srgbClr val="26304A"/>
                </a:solidFill>
                <a:latin typeface="Calibri" pitchFamily="34" charset="0"/>
                <a:ea typeface="Calibri" pitchFamily="34" charset="-122"/>
                <a:cs typeface="Calibri" pitchFamily="34" charset="-120"/>
              </a:rPr>
              <a:t>National policy since May 2025.  </a:t>
            </a:r>
            <a:pPr indent="0" marL="0">
              <a:buNone/>
            </a:pPr>
            <a:r>
              <a:rPr lang="en-US" sz="1250" dirty="0">
                <a:solidFill>
                  <a:srgbClr val="26304A"/>
                </a:solidFill>
                <a:latin typeface="Calibri" pitchFamily="34" charset="0"/>
                <a:ea typeface="Calibri" pitchFamily="34" charset="-122"/>
                <a:cs typeface="Calibri" pitchFamily="34" charset="-120"/>
              </a:rPr>
              <a:t>China’s Ministry of Education made AI literacy part of the school curriculum and issued rules for AI use in classrooms.</a:t>
            </a:r>
            <a:endParaRPr lang="en-US" sz="1250" dirty="0"/>
          </a:p>
        </p:txBody>
      </p:sp>
      <p:sp>
        <p:nvSpPr>
          <p:cNvPr id="17" name="Shape 13"/>
          <p:cNvSpPr/>
          <p:nvPr/>
        </p:nvSpPr>
        <p:spPr>
          <a:xfrm>
            <a:off x="4572000" y="5029200"/>
            <a:ext cx="7068312" cy="914400"/>
          </a:xfrm>
          <a:prstGeom prst="roundRect">
            <a:avLst>
              <a:gd name="adj" fmla="val 10000"/>
            </a:avLst>
          </a:prstGeom>
          <a:solidFill>
            <a:srgbClr val="EDF3FC"/>
          </a:solidFill>
          <a:ln/>
        </p:spPr>
      </p:sp>
      <p:sp>
        <p:nvSpPr>
          <p:cNvPr id="18" name="Shape 14"/>
          <p:cNvSpPr/>
          <p:nvPr/>
        </p:nvSpPr>
        <p:spPr>
          <a:xfrm>
            <a:off x="4773168" y="5202936"/>
            <a:ext cx="566928" cy="566928"/>
          </a:xfrm>
          <a:prstGeom prst="ellipse">
            <a:avLst/>
          </a:prstGeom>
          <a:solidFill>
            <a:srgbClr val="DCE8FA"/>
          </a:solidFill>
          <a:ln/>
        </p:spPr>
      </p:sp>
      <p:pic>
        <p:nvPicPr>
          <p:cNvPr id="19" name="Image 1" descr="/private/tmp/claude-501/-Users-furb-x-Desktop-My-Projects/d365b27d-a89f-47fc-8734-df20f634a92b/scratchpad/bilimai/icons/users-blue.png">    </p:cNvPr>
          <p:cNvPicPr>
            <a:picLocks noChangeAspect="1"/>
          </p:cNvPicPr>
          <p:nvPr/>
        </p:nvPicPr>
        <p:blipFill>
          <a:blip r:embed="rId3"/>
          <a:stretch>
            <a:fillRect/>
          </a:stretch>
        </p:blipFill>
        <p:spPr>
          <a:xfrm>
            <a:off x="4920569" y="5350337"/>
            <a:ext cx="272125" cy="272125"/>
          </a:xfrm>
          <a:prstGeom prst="rect">
            <a:avLst/>
          </a:prstGeom>
        </p:spPr>
      </p:pic>
      <p:sp>
        <p:nvSpPr>
          <p:cNvPr id="20" name="Text 15"/>
          <p:cNvSpPr/>
          <p:nvPr/>
        </p:nvSpPr>
        <p:spPr>
          <a:xfrm>
            <a:off x="5532120" y="5029200"/>
            <a:ext cx="5943600" cy="914400"/>
          </a:xfrm>
          <a:prstGeom prst="rect">
            <a:avLst/>
          </a:prstGeom>
          <a:noFill/>
          <a:ln/>
        </p:spPr>
        <p:txBody>
          <a:bodyPr wrap="square" lIns="0" tIns="0" rIns="0" bIns="0" rtlCol="0" anchor="ctr"/>
          <a:lstStyle/>
          <a:p>
            <a:pPr indent="0" marL="0">
              <a:buNone/>
            </a:pPr>
            <a:r>
              <a:rPr lang="en-US" sz="1250" b="1" dirty="0">
                <a:solidFill>
                  <a:srgbClr val="26304A"/>
                </a:solidFill>
                <a:latin typeface="Calibri" pitchFamily="34" charset="0"/>
                <a:ea typeface="Calibri" pitchFamily="34" charset="-122"/>
                <a:cs typeface="Calibri" pitchFamily="34" charset="-120"/>
              </a:rPr>
              <a:t>Personalised learning at scale.  </a:t>
            </a:r>
            <a:pPr indent="0" marL="0">
              <a:buNone/>
            </a:pPr>
            <a:r>
              <a:rPr lang="en-US" sz="1250" dirty="0">
                <a:solidFill>
                  <a:srgbClr val="26304A"/>
                </a:solidFill>
                <a:latin typeface="Calibri" pitchFamily="34" charset="0"/>
                <a:ea typeface="Calibri" pitchFamily="34" charset="-122"/>
                <a:cs typeface="Calibri" pitchFamily="34" charset="-120"/>
              </a:rPr>
              <a:t>Squirrel AI’s adaptive system has taught 24M+ students across 300+ cities — named a TIME Best Invention 2025.</a:t>
            </a:r>
            <a:endParaRPr lang="en-US" sz="1250" dirty="0"/>
          </a:p>
        </p:txBody>
      </p:sp>
      <p:sp>
        <p:nvSpPr>
          <p:cNvPr id="21" name="Text 16"/>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South China Morning Post 2018 (govt document); iFLYTEK 2024; People’s Daily / China Daily, May 2025; TIME 2025.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DOES IT HELP STUDENTS?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Automated feedback measurably improves writing</a:t>
            </a:r>
            <a:endParaRPr lang="en-US" sz="3400" dirty="0"/>
          </a:p>
        </p:txBody>
      </p:sp>
      <p:sp>
        <p:nvSpPr>
          <p:cNvPr id="4" name="Shape 2"/>
          <p:cNvSpPr/>
          <p:nvPr/>
        </p:nvSpPr>
        <p:spPr>
          <a:xfrm>
            <a:off x="548640" y="1783080"/>
            <a:ext cx="6720840" cy="4343400"/>
          </a:xfrm>
          <a:prstGeom prst="roundRect">
            <a:avLst>
              <a:gd name="adj" fmla="val 2526"/>
            </a:avLst>
          </a:prstGeom>
          <a:solidFill>
            <a:srgbClr val="EDF3FC"/>
          </a:solidFill>
          <a:ln/>
        </p:spPr>
      </p:sp>
      <p:sp>
        <p:nvSpPr>
          <p:cNvPr id="5" name="Text 3"/>
          <p:cNvSpPr/>
          <p:nvPr/>
        </p:nvSpPr>
        <p:spPr>
          <a:xfrm>
            <a:off x="822960" y="1965960"/>
            <a:ext cx="62179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Effect of automated writing feedback on writing quality (Hedges’ g)</a:t>
            </a:r>
            <a:endParaRPr lang="en-US" sz="1350" dirty="0"/>
          </a:p>
        </p:txBody>
      </p:sp>
      <p:graphicFrame>
        <p:nvGraphicFramePr>
          <p:cNvPr id="6" name="Chart 0" descr=""/>
          <p:cNvGraphicFramePr/>
          <p:nvPr/>
        </p:nvGraphicFramePr>
        <p:xfrm>
          <a:off x="822960" y="2377440"/>
          <a:ext cx="617220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22960" y="5486400"/>
            <a:ext cx="6172200" cy="502920"/>
          </a:xfrm>
          <a:prstGeom prst="rect">
            <a:avLst/>
          </a:prstGeom>
          <a:noFill/>
          <a:ln/>
        </p:spPr>
        <p:txBody>
          <a:bodyPr wrap="square" lIns="0" tIns="0" rIns="0" bIns="0" rtlCol="0" anchor="ctr"/>
          <a:lstStyle/>
          <a:p>
            <a:pPr indent="0" marL="0">
              <a:buNone/>
            </a:pPr>
            <a:r>
              <a:rPr lang="en-US" sz="1150" i="1" dirty="0">
                <a:solidFill>
                  <a:srgbClr val="26304A"/>
                </a:solidFill>
                <a:latin typeface="Calibri" pitchFamily="34" charset="0"/>
                <a:ea typeface="Calibri" pitchFamily="34" charset="-122"/>
                <a:cs typeface="Calibri" pitchFamily="34" charset="-120"/>
              </a:rPr>
              <a:t>Both are peer-reviewed meta-analyses. In education research, g ≥ 0.55 is a medium-to-large effect.</a:t>
            </a:r>
            <a:endParaRPr lang="en-US" sz="1150" dirty="0"/>
          </a:p>
        </p:txBody>
      </p:sp>
      <p:sp>
        <p:nvSpPr>
          <p:cNvPr id="8" name="Shape 5"/>
          <p:cNvSpPr/>
          <p:nvPr/>
        </p:nvSpPr>
        <p:spPr>
          <a:xfrm>
            <a:off x="7543800" y="1783080"/>
            <a:ext cx="4096512" cy="1371600"/>
          </a:xfrm>
          <a:prstGeom prst="roundRect">
            <a:avLst>
              <a:gd name="adj" fmla="val 6667"/>
            </a:avLst>
          </a:prstGeom>
          <a:solidFill>
            <a:srgbClr val="EDF3FC"/>
          </a:solidFill>
          <a:ln/>
        </p:spPr>
      </p:sp>
      <p:sp>
        <p:nvSpPr>
          <p:cNvPr id="9" name="Shape 6"/>
          <p:cNvSpPr/>
          <p:nvPr/>
        </p:nvSpPr>
        <p:spPr>
          <a:xfrm>
            <a:off x="7744968" y="1965960"/>
            <a:ext cx="502920" cy="502920"/>
          </a:xfrm>
          <a:prstGeom prst="ellipse">
            <a:avLst/>
          </a:prstGeom>
          <a:solidFill>
            <a:srgbClr val="DCE8FA"/>
          </a:solidFill>
          <a:ln/>
        </p:spPr>
      </p:sp>
      <p:pic>
        <p:nvPicPr>
          <p:cNvPr id="10" name="Image 0" descr="/private/tmp/claude-501/-Users-furb-x-Desktop-My-Projects/d365b27d-a89f-47fc-8734-df20f634a92b/scratchpad/bilimai/icons/check-blue.png">    </p:cNvPr>
          <p:cNvPicPr>
            <a:picLocks noChangeAspect="1"/>
          </p:cNvPicPr>
          <p:nvPr/>
        </p:nvPicPr>
        <p:blipFill>
          <a:blip r:embed="rId2"/>
          <a:stretch>
            <a:fillRect/>
          </a:stretch>
        </p:blipFill>
        <p:spPr>
          <a:xfrm>
            <a:off x="7875727" y="2096719"/>
            <a:ext cx="241402" cy="241402"/>
          </a:xfrm>
          <a:prstGeom prst="rect">
            <a:avLst/>
          </a:prstGeom>
        </p:spPr>
      </p:pic>
      <p:sp>
        <p:nvSpPr>
          <p:cNvPr id="11" name="Text 7"/>
          <p:cNvSpPr/>
          <p:nvPr/>
        </p:nvSpPr>
        <p:spPr>
          <a:xfrm>
            <a:off x="8458200" y="192938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As accurate as humans</a:t>
            </a:r>
            <a:endParaRPr lang="en-US" sz="1350" dirty="0"/>
          </a:p>
        </p:txBody>
      </p:sp>
      <p:sp>
        <p:nvSpPr>
          <p:cNvPr id="12" name="Text 8"/>
          <p:cNvSpPr/>
          <p:nvPr/>
        </p:nvSpPr>
        <p:spPr>
          <a:xfrm>
            <a:off x="8458200" y="225856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In the Hewlett Foundation’s ASAP benchmark, automated essay scoring matched human-to-human agreement on most prompt types.</a:t>
            </a:r>
            <a:endParaRPr lang="en-US" sz="1050" dirty="0"/>
          </a:p>
        </p:txBody>
      </p:sp>
      <p:sp>
        <p:nvSpPr>
          <p:cNvPr id="13" name="Shape 9"/>
          <p:cNvSpPr/>
          <p:nvPr/>
        </p:nvSpPr>
        <p:spPr>
          <a:xfrm>
            <a:off x="7543800" y="3291840"/>
            <a:ext cx="4096512" cy="1371600"/>
          </a:xfrm>
          <a:prstGeom prst="roundRect">
            <a:avLst>
              <a:gd name="adj" fmla="val 6667"/>
            </a:avLst>
          </a:prstGeom>
          <a:solidFill>
            <a:srgbClr val="EDF3FC"/>
          </a:solidFill>
          <a:ln/>
        </p:spPr>
      </p:sp>
      <p:sp>
        <p:nvSpPr>
          <p:cNvPr id="14" name="Shape 10"/>
          <p:cNvSpPr/>
          <p:nvPr/>
        </p:nvSpPr>
        <p:spPr>
          <a:xfrm>
            <a:off x="7744968" y="3474720"/>
            <a:ext cx="502920" cy="502920"/>
          </a:xfrm>
          <a:prstGeom prst="ellipse">
            <a:avLst/>
          </a:prstGeom>
          <a:solidFill>
            <a:srgbClr val="DCE8FA"/>
          </a:solidFill>
          <a:ln/>
        </p:spPr>
      </p:sp>
      <p:pic>
        <p:nvPicPr>
          <p:cNvPr id="15" name="Image 1" descr="/private/tmp/claude-501/-Users-furb-x-Desktop-My-Projects/d365b27d-a89f-47fc-8734-df20f634a92b/scratchpad/bilimai/icons/bolt-blue.png">    </p:cNvPr>
          <p:cNvPicPr>
            <a:picLocks noChangeAspect="1"/>
          </p:cNvPicPr>
          <p:nvPr/>
        </p:nvPicPr>
        <p:blipFill>
          <a:blip r:embed="rId3"/>
          <a:stretch>
            <a:fillRect/>
          </a:stretch>
        </p:blipFill>
        <p:spPr>
          <a:xfrm>
            <a:off x="7875727" y="3605479"/>
            <a:ext cx="241402" cy="241402"/>
          </a:xfrm>
          <a:prstGeom prst="rect">
            <a:avLst/>
          </a:prstGeom>
        </p:spPr>
      </p:pic>
      <p:sp>
        <p:nvSpPr>
          <p:cNvPr id="16" name="Text 11"/>
          <p:cNvSpPr/>
          <p:nvPr/>
        </p:nvSpPr>
        <p:spPr>
          <a:xfrm>
            <a:off x="8458200" y="343814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Feedback arrives while it matters</a:t>
            </a:r>
            <a:endParaRPr lang="en-US" sz="1350" dirty="0"/>
          </a:p>
        </p:txBody>
      </p:sp>
      <p:sp>
        <p:nvSpPr>
          <p:cNvPr id="17" name="Text 12"/>
          <p:cNvSpPr/>
          <p:nvPr/>
        </p:nvSpPr>
        <p:spPr>
          <a:xfrm>
            <a:off x="8458200" y="376732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Students get feedback the same day they write — not two weeks later when the class has moved on.</a:t>
            </a:r>
            <a:endParaRPr lang="en-US" sz="1050" dirty="0"/>
          </a:p>
        </p:txBody>
      </p:sp>
      <p:sp>
        <p:nvSpPr>
          <p:cNvPr id="18" name="Shape 13"/>
          <p:cNvSpPr/>
          <p:nvPr/>
        </p:nvSpPr>
        <p:spPr>
          <a:xfrm>
            <a:off x="7543800" y="4800600"/>
            <a:ext cx="4096512" cy="1371600"/>
          </a:xfrm>
          <a:prstGeom prst="roundRect">
            <a:avLst>
              <a:gd name="adj" fmla="val 6667"/>
            </a:avLst>
          </a:prstGeom>
          <a:solidFill>
            <a:srgbClr val="EDF3FC"/>
          </a:solidFill>
          <a:ln/>
        </p:spPr>
      </p:sp>
      <p:sp>
        <p:nvSpPr>
          <p:cNvPr id="19" name="Shape 14"/>
          <p:cNvSpPr/>
          <p:nvPr/>
        </p:nvSpPr>
        <p:spPr>
          <a:xfrm>
            <a:off x="7744968" y="4983480"/>
            <a:ext cx="502920" cy="502920"/>
          </a:xfrm>
          <a:prstGeom prst="ellipse">
            <a:avLst/>
          </a:prstGeom>
          <a:solidFill>
            <a:srgbClr val="DCE8FA"/>
          </a:solidFill>
          <a:ln/>
        </p:spPr>
      </p:sp>
      <p:pic>
        <p:nvPicPr>
          <p:cNvPr id="20" name="Image 2" descr="/private/tmp/claude-501/-Users-furb-x-Desktop-My-Projects/d365b27d-a89f-47fc-8734-df20f634a92b/scratchpad/bilimai/icons/shield-blue.png">    </p:cNvPr>
          <p:cNvPicPr>
            <a:picLocks noChangeAspect="1"/>
          </p:cNvPicPr>
          <p:nvPr/>
        </p:nvPicPr>
        <p:blipFill>
          <a:blip r:embed="rId4"/>
          <a:stretch>
            <a:fillRect/>
          </a:stretch>
        </p:blipFill>
        <p:spPr>
          <a:xfrm>
            <a:off x="7875727" y="5114239"/>
            <a:ext cx="241402" cy="241402"/>
          </a:xfrm>
          <a:prstGeom prst="rect">
            <a:avLst/>
          </a:prstGeom>
        </p:spPr>
      </p:pic>
      <p:sp>
        <p:nvSpPr>
          <p:cNvPr id="21" name="Text 15"/>
          <p:cNvSpPr/>
          <p:nvPr/>
        </p:nvSpPr>
        <p:spPr>
          <a:xfrm>
            <a:off x="8458200" y="4946904"/>
            <a:ext cx="301752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Consistent and fair</a:t>
            </a:r>
            <a:endParaRPr lang="en-US" sz="1350" dirty="0"/>
          </a:p>
        </p:txBody>
      </p:sp>
      <p:sp>
        <p:nvSpPr>
          <p:cNvPr id="22" name="Text 16"/>
          <p:cNvSpPr/>
          <p:nvPr/>
        </p:nvSpPr>
        <p:spPr>
          <a:xfrm>
            <a:off x="8458200" y="5276088"/>
            <a:ext cx="3063240" cy="868680"/>
          </a:xfrm>
          <a:prstGeom prst="rect">
            <a:avLst/>
          </a:prstGeom>
          <a:noFill/>
          <a:ln/>
        </p:spPr>
        <p:txBody>
          <a:bodyPr wrap="square" lIns="0" tIns="0" rIns="0" bIns="0" rtlCol="0" anchor="ctr"/>
          <a:lstStyle/>
          <a:p>
            <a:pPr indent="0" marL="0">
              <a:buNone/>
            </a:pPr>
            <a:r>
              <a:rPr lang="en-US" sz="1050" dirty="0">
                <a:solidFill>
                  <a:srgbClr val="26304A"/>
                </a:solidFill>
                <a:latin typeface="Calibri" pitchFamily="34" charset="0"/>
                <a:ea typeface="Calibri" pitchFamily="34" charset="-122"/>
                <a:cs typeface="Calibri" pitchFamily="34" charset="-120"/>
              </a:rPr>
              <a:t>The same rubric, applied the same way, to every student — no end-of-stack fatigue.</a:t>
            </a:r>
            <a:endParaRPr lang="en-US" sz="1050" dirty="0"/>
          </a:p>
        </p:txBody>
      </p:sp>
      <p:sp>
        <p:nvSpPr>
          <p:cNvPr id="23" name="Text 17"/>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Fleckenstein et al., Frontiers in AI 2023; Zhai &amp; Ma, J. Educational Computing Research 2023; Kaggle ASAP-AES 2012.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WHY UZBEKISTAN, WHY NOW</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The impact here would be enormous</a:t>
            </a:r>
            <a:endParaRPr lang="en-US" sz="3400" dirty="0"/>
          </a:p>
        </p:txBody>
      </p:sp>
      <p:sp>
        <p:nvSpPr>
          <p:cNvPr id="4" name="Text 2"/>
          <p:cNvSpPr/>
          <p:nvPr/>
        </p:nvSpPr>
        <p:spPr>
          <a:xfrm>
            <a:off x="54864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564,900</a:t>
            </a:r>
            <a:endParaRPr lang="en-US" sz="3000" dirty="0"/>
          </a:p>
        </p:txBody>
      </p:sp>
      <p:sp>
        <p:nvSpPr>
          <p:cNvPr id="5" name="Text 3"/>
          <p:cNvSpPr/>
          <p:nvPr/>
        </p:nvSpPr>
        <p:spPr>
          <a:xfrm>
            <a:off x="54864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school teachers (2024/25)</a:t>
            </a:r>
            <a:endParaRPr lang="en-US" sz="1250" dirty="0"/>
          </a:p>
        </p:txBody>
      </p:sp>
      <p:sp>
        <p:nvSpPr>
          <p:cNvPr id="6" name="Text 4"/>
          <p:cNvSpPr/>
          <p:nvPr/>
        </p:nvSpPr>
        <p:spPr>
          <a:xfrm>
            <a:off x="338328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6.5M</a:t>
            </a:r>
            <a:endParaRPr lang="en-US" sz="3000" dirty="0"/>
          </a:p>
        </p:txBody>
      </p:sp>
      <p:sp>
        <p:nvSpPr>
          <p:cNvPr id="7" name="Text 5"/>
          <p:cNvSpPr/>
          <p:nvPr/>
        </p:nvSpPr>
        <p:spPr>
          <a:xfrm>
            <a:off x="338328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students in 10,522 schools</a:t>
            </a:r>
            <a:endParaRPr lang="en-US" sz="1250" dirty="0"/>
          </a:p>
        </p:txBody>
      </p:sp>
      <p:sp>
        <p:nvSpPr>
          <p:cNvPr id="8" name="Text 6"/>
          <p:cNvSpPr/>
          <p:nvPr/>
        </p:nvSpPr>
        <p:spPr>
          <a:xfrm>
            <a:off x="621792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73%</a:t>
            </a:r>
            <a:endParaRPr lang="en-US" sz="3000" dirty="0"/>
          </a:p>
        </p:txBody>
      </p:sp>
      <p:sp>
        <p:nvSpPr>
          <p:cNvPr id="9" name="Text 7"/>
          <p:cNvSpPr/>
          <p:nvPr/>
        </p:nvSpPr>
        <p:spPr>
          <a:xfrm>
            <a:off x="621792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of schools run multiple shifts</a:t>
            </a:r>
            <a:endParaRPr lang="en-US" sz="1250" dirty="0"/>
          </a:p>
        </p:txBody>
      </p:sp>
      <p:sp>
        <p:nvSpPr>
          <p:cNvPr id="10" name="Text 8"/>
          <p:cNvSpPr/>
          <p:nvPr/>
        </p:nvSpPr>
        <p:spPr>
          <a:xfrm>
            <a:off x="9052560" y="1783080"/>
            <a:ext cx="256032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+43%</a:t>
            </a:r>
            <a:endParaRPr lang="en-US" sz="3000" dirty="0"/>
          </a:p>
        </p:txBody>
      </p:sp>
      <p:sp>
        <p:nvSpPr>
          <p:cNvPr id="11" name="Text 9"/>
          <p:cNvSpPr/>
          <p:nvPr/>
        </p:nvSpPr>
        <p:spPr>
          <a:xfrm>
            <a:off x="9052560" y="2441448"/>
            <a:ext cx="256032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more teachers than 2015 — and still short</a:t>
            </a:r>
            <a:endParaRPr lang="en-US" sz="1250" dirty="0"/>
          </a:p>
        </p:txBody>
      </p:sp>
      <p:sp>
        <p:nvSpPr>
          <p:cNvPr id="12" name="Shape 10"/>
          <p:cNvSpPr/>
          <p:nvPr/>
        </p:nvSpPr>
        <p:spPr>
          <a:xfrm>
            <a:off x="548640" y="3154680"/>
            <a:ext cx="6035040" cy="3017520"/>
          </a:xfrm>
          <a:prstGeom prst="roundRect">
            <a:avLst>
              <a:gd name="adj" fmla="val 3636"/>
            </a:avLst>
          </a:prstGeom>
          <a:solidFill>
            <a:srgbClr val="EDF3FC"/>
          </a:solidFill>
          <a:ln/>
        </p:spPr>
      </p:sp>
      <p:sp>
        <p:nvSpPr>
          <p:cNvPr id="13" name="Text 11"/>
          <p:cNvSpPr/>
          <p:nvPr/>
        </p:nvSpPr>
        <p:spPr>
          <a:xfrm>
            <a:off x="822960" y="3310128"/>
            <a:ext cx="548640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Marking hours per teacher per week</a:t>
            </a:r>
            <a:endParaRPr lang="en-US" sz="1350" dirty="0"/>
          </a:p>
        </p:txBody>
      </p:sp>
      <p:graphicFrame>
        <p:nvGraphicFramePr>
          <p:cNvPr id="14" name="Chart 0" descr=""/>
          <p:cNvGraphicFramePr/>
          <p:nvPr/>
        </p:nvGraphicFramePr>
        <p:xfrm>
          <a:off x="822960" y="3657600"/>
          <a:ext cx="5486400" cy="19659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822960" y="5669280"/>
            <a:ext cx="5486400" cy="4572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Illustrative model: 75% marking-time reduction on a 5 h/week baseline (regional surveys report 4.6–6.4 h).</a:t>
            </a:r>
            <a:endParaRPr lang="en-US" sz="1000" dirty="0"/>
          </a:p>
        </p:txBody>
      </p:sp>
      <p:sp>
        <p:nvSpPr>
          <p:cNvPr id="16" name="Shape 13"/>
          <p:cNvSpPr/>
          <p:nvPr/>
        </p:nvSpPr>
        <p:spPr>
          <a:xfrm>
            <a:off x="6903720" y="3154680"/>
            <a:ext cx="4736592" cy="3017520"/>
          </a:xfrm>
          <a:prstGeom prst="roundRect">
            <a:avLst>
              <a:gd name="adj" fmla="val 3636"/>
            </a:avLst>
          </a:prstGeom>
          <a:solidFill>
            <a:srgbClr val="111A33"/>
          </a:solidFill>
          <a:ln/>
        </p:spPr>
      </p:sp>
      <p:pic>
        <p:nvPicPr>
          <p:cNvPr id="17" name="Image 0" descr="/private/tmp/claude-501/-Users-furb-x-Desktop-My-Projects/d365b27d-a89f-47fc-8734-df20f634a92b/scratchpad/bilimai/icons/clock-white.png">    </p:cNvPr>
          <p:cNvPicPr>
            <a:picLocks noChangeAspect="1"/>
          </p:cNvPicPr>
          <p:nvPr/>
        </p:nvPicPr>
        <p:blipFill>
          <a:blip r:embed="rId2"/>
          <a:stretch>
            <a:fillRect/>
          </a:stretch>
        </p:blipFill>
        <p:spPr>
          <a:xfrm>
            <a:off x="7223760" y="3474720"/>
            <a:ext cx="457200" cy="457200"/>
          </a:xfrm>
          <a:prstGeom prst="rect">
            <a:avLst/>
          </a:prstGeom>
        </p:spPr>
      </p:pic>
      <p:sp>
        <p:nvSpPr>
          <p:cNvPr id="18" name="Text 14"/>
          <p:cNvSpPr/>
          <p:nvPr/>
        </p:nvSpPr>
        <p:spPr>
          <a:xfrm>
            <a:off x="7223760" y="3977640"/>
            <a:ext cx="4114800" cy="6858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 2 million</a:t>
            </a:r>
            <a:endParaRPr lang="en-US" sz="4400" dirty="0"/>
          </a:p>
        </p:txBody>
      </p:sp>
      <p:sp>
        <p:nvSpPr>
          <p:cNvPr id="19" name="Text 15"/>
          <p:cNvSpPr/>
          <p:nvPr/>
        </p:nvSpPr>
        <p:spPr>
          <a:xfrm>
            <a:off x="7223760" y="4709160"/>
            <a:ext cx="4114800" cy="1280160"/>
          </a:xfrm>
          <a:prstGeom prst="rect">
            <a:avLst/>
          </a:prstGeom>
          <a:noFill/>
          <a:ln/>
        </p:spPr>
        <p:txBody>
          <a:bodyPr wrap="square" lIns="0" tIns="0" rIns="0" bIns="0" rtlCol="0" anchor="ctr"/>
          <a:lstStyle/>
          <a:p>
            <a:pPr indent="0" marL="0">
              <a:buNone/>
            </a:pPr>
            <a:r>
              <a:rPr lang="en-US" sz="1400" dirty="0">
                <a:solidFill>
                  <a:srgbClr val="D8E4FA"/>
                </a:solidFill>
                <a:latin typeface="Calibri" pitchFamily="34" charset="0"/>
                <a:ea typeface="Calibri" pitchFamily="34" charset="-122"/>
                <a:cs typeface="Calibri" pitchFamily="34" charset="-120"/>
              </a:rPr>
              <a:t>teacher-hours handed back every single week, nationwide — time for lesson quality, struggling students, and teachers’ own lives.</a:t>
            </a:r>
            <a:endParaRPr lang="en-US" sz="1400" dirty="0"/>
          </a:p>
        </p:txBody>
      </p:sp>
      <p:sp>
        <p:nvSpPr>
          <p:cNvPr id="20" name="Text 16"/>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National Statistics Committee of Uzbekistan 2025; The Diplomat 2024; OECD TALIS 2024. Savings figure is BilimAI’s model.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POLICY FIT</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Aligned with the state’s own strategy</a:t>
            </a:r>
            <a:endParaRPr lang="en-US" sz="3400" dirty="0"/>
          </a:p>
        </p:txBody>
      </p:sp>
      <p:sp>
        <p:nvSpPr>
          <p:cNvPr id="4" name="Shape 2"/>
          <p:cNvSpPr/>
          <p:nvPr/>
        </p:nvSpPr>
        <p:spPr>
          <a:xfrm>
            <a:off x="548640" y="1920240"/>
            <a:ext cx="3611880" cy="3749040"/>
          </a:xfrm>
          <a:prstGeom prst="roundRect">
            <a:avLst>
              <a:gd name="adj" fmla="val 3038"/>
            </a:avLst>
          </a:prstGeom>
          <a:solidFill>
            <a:srgbClr val="EDF3FC"/>
          </a:solidFill>
          <a:ln/>
        </p:spPr>
      </p:sp>
      <p:sp>
        <p:nvSpPr>
          <p:cNvPr id="5" name="Shape 3"/>
          <p:cNvSpPr/>
          <p:nvPr/>
        </p:nvSpPr>
        <p:spPr>
          <a:xfrm>
            <a:off x="841248" y="2240280"/>
            <a:ext cx="658368" cy="658368"/>
          </a:xfrm>
          <a:prstGeom prst="ellipse">
            <a:avLst/>
          </a:prstGeom>
          <a:solidFill>
            <a:srgbClr val="DCE8FA"/>
          </a:solidFill>
          <a:ln/>
        </p:spPr>
      </p:sp>
      <p:pic>
        <p:nvPicPr>
          <p:cNvPr id="6" name="Image 0" descr="/private/tmp/claude-501/-Users-furb-x-Desktop-My-Projects/d365b27d-a89f-47fc-8734-df20f634a92b/scratchpad/bilimai/icons/landmark-blue.png">    </p:cNvPr>
          <p:cNvPicPr>
            <a:picLocks noChangeAspect="1"/>
          </p:cNvPicPr>
          <p:nvPr/>
        </p:nvPicPr>
        <p:blipFill>
          <a:blip r:embed="rId1"/>
          <a:stretch>
            <a:fillRect/>
          </a:stretch>
        </p:blipFill>
        <p:spPr>
          <a:xfrm>
            <a:off x="1012424" y="2411456"/>
            <a:ext cx="316017" cy="316017"/>
          </a:xfrm>
          <a:prstGeom prst="rect">
            <a:avLst/>
          </a:prstGeom>
        </p:spPr>
      </p:pic>
      <p:sp>
        <p:nvSpPr>
          <p:cNvPr id="7" name="Text 4"/>
          <p:cNvSpPr/>
          <p:nvPr/>
        </p:nvSpPr>
        <p:spPr>
          <a:xfrm>
            <a:off x="841248"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DECREE DP-6079</a:t>
            </a:r>
            <a:endParaRPr lang="en-US" sz="1050" dirty="0"/>
          </a:p>
        </p:txBody>
      </p:sp>
      <p:sp>
        <p:nvSpPr>
          <p:cNvPr id="8" name="Text 5"/>
          <p:cNvSpPr/>
          <p:nvPr/>
        </p:nvSpPr>
        <p:spPr>
          <a:xfrm>
            <a:off x="841248"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Digital Uzbekistan 2030</a:t>
            </a:r>
            <a:endParaRPr lang="en-US" sz="1800" dirty="0"/>
          </a:p>
        </p:txBody>
      </p:sp>
      <p:sp>
        <p:nvSpPr>
          <p:cNvPr id="9" name="Text 6"/>
          <p:cNvSpPr/>
          <p:nvPr/>
        </p:nvSpPr>
        <p:spPr>
          <a:xfrm>
            <a:off x="841248"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Presidential Decree DP-6079 (2020) names education a priority sector for digital transformation — 1,627 projects nationwide.</a:t>
            </a:r>
            <a:endParaRPr lang="en-US" sz="1250" dirty="0"/>
          </a:p>
        </p:txBody>
      </p:sp>
      <p:sp>
        <p:nvSpPr>
          <p:cNvPr id="10" name="Shape 7"/>
          <p:cNvSpPr/>
          <p:nvPr/>
        </p:nvSpPr>
        <p:spPr>
          <a:xfrm>
            <a:off x="4425696" y="1920240"/>
            <a:ext cx="3611880" cy="3749040"/>
          </a:xfrm>
          <a:prstGeom prst="roundRect">
            <a:avLst>
              <a:gd name="adj" fmla="val 3038"/>
            </a:avLst>
          </a:prstGeom>
          <a:solidFill>
            <a:srgbClr val="EDF3FC"/>
          </a:solidFill>
          <a:ln/>
        </p:spPr>
      </p:sp>
      <p:sp>
        <p:nvSpPr>
          <p:cNvPr id="11" name="Shape 8"/>
          <p:cNvSpPr/>
          <p:nvPr/>
        </p:nvSpPr>
        <p:spPr>
          <a:xfrm>
            <a:off x="4718304" y="2240280"/>
            <a:ext cx="658368" cy="658368"/>
          </a:xfrm>
          <a:prstGeom prst="ellipse">
            <a:avLst/>
          </a:prstGeom>
          <a:solidFill>
            <a:srgbClr val="DCE8FA"/>
          </a:solidFill>
          <a:ln/>
        </p:spPr>
      </p:sp>
      <p:pic>
        <p:nvPicPr>
          <p:cNvPr id="12" name="Image 1" descr="/private/tmp/claude-501/-Users-furb-x-Desktop-My-Projects/d365b27d-a89f-47fc-8734-df20f634a92b/scratchpad/bilimai/icons/brain-blue.png">    </p:cNvPr>
          <p:cNvPicPr>
            <a:picLocks noChangeAspect="1"/>
          </p:cNvPicPr>
          <p:nvPr/>
        </p:nvPicPr>
        <p:blipFill>
          <a:blip r:embed="rId2"/>
          <a:stretch>
            <a:fillRect/>
          </a:stretch>
        </p:blipFill>
        <p:spPr>
          <a:xfrm>
            <a:off x="4889480" y="2411456"/>
            <a:ext cx="316017" cy="316017"/>
          </a:xfrm>
          <a:prstGeom prst="rect">
            <a:avLst/>
          </a:prstGeom>
        </p:spPr>
      </p:pic>
      <p:sp>
        <p:nvSpPr>
          <p:cNvPr id="13" name="Text 9"/>
          <p:cNvSpPr/>
          <p:nvPr/>
        </p:nvSpPr>
        <p:spPr>
          <a:xfrm>
            <a:off x="4718304"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RESOLUTION PQ-358</a:t>
            </a:r>
            <a:endParaRPr lang="en-US" sz="1050" dirty="0"/>
          </a:p>
        </p:txBody>
      </p:sp>
      <p:sp>
        <p:nvSpPr>
          <p:cNvPr id="14" name="Text 10"/>
          <p:cNvSpPr/>
          <p:nvPr/>
        </p:nvSpPr>
        <p:spPr>
          <a:xfrm>
            <a:off x="4718304"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National AI Strategy 2030</a:t>
            </a:r>
            <a:endParaRPr lang="en-US" sz="1800" dirty="0"/>
          </a:p>
        </p:txBody>
      </p:sp>
      <p:sp>
        <p:nvSpPr>
          <p:cNvPr id="15" name="Text 11"/>
          <p:cNvSpPr/>
          <p:nvPr/>
        </p:nvSpPr>
        <p:spPr>
          <a:xfrm>
            <a:off x="4718304"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Presidential Resolution PQ-358 (Oct 2024) targets a $1.5B domestic AI market by 2030 — with education a named priority for AI adoption.</a:t>
            </a:r>
            <a:endParaRPr lang="en-US" sz="1250" dirty="0"/>
          </a:p>
        </p:txBody>
      </p:sp>
      <p:sp>
        <p:nvSpPr>
          <p:cNvPr id="16" name="Shape 12"/>
          <p:cNvSpPr/>
          <p:nvPr/>
        </p:nvSpPr>
        <p:spPr>
          <a:xfrm>
            <a:off x="8302752" y="1920240"/>
            <a:ext cx="3611880" cy="3749040"/>
          </a:xfrm>
          <a:prstGeom prst="roundRect">
            <a:avLst>
              <a:gd name="adj" fmla="val 3038"/>
            </a:avLst>
          </a:prstGeom>
          <a:solidFill>
            <a:srgbClr val="EDF3FC"/>
          </a:solidFill>
          <a:ln/>
        </p:spPr>
      </p:sp>
      <p:sp>
        <p:nvSpPr>
          <p:cNvPr id="17" name="Shape 13"/>
          <p:cNvSpPr/>
          <p:nvPr/>
        </p:nvSpPr>
        <p:spPr>
          <a:xfrm>
            <a:off x="8595360" y="2240280"/>
            <a:ext cx="658368" cy="658368"/>
          </a:xfrm>
          <a:prstGeom prst="ellipse">
            <a:avLst/>
          </a:prstGeom>
          <a:solidFill>
            <a:srgbClr val="DCE8FA"/>
          </a:solidFill>
          <a:ln/>
        </p:spPr>
      </p:sp>
      <p:pic>
        <p:nvPicPr>
          <p:cNvPr id="18" name="Image 2" descr="/private/tmp/claude-501/-Users-furb-x-Desktop-My-Projects/d365b27d-a89f-47fc-8734-df20f634a92b/scratchpad/bilimai/icons/globe-blue.png">    </p:cNvPr>
          <p:cNvPicPr>
            <a:picLocks noChangeAspect="1"/>
          </p:cNvPicPr>
          <p:nvPr/>
        </p:nvPicPr>
        <p:blipFill>
          <a:blip r:embed="rId3"/>
          <a:stretch>
            <a:fillRect/>
          </a:stretch>
        </p:blipFill>
        <p:spPr>
          <a:xfrm>
            <a:off x="8766536" y="2411456"/>
            <a:ext cx="316017" cy="316017"/>
          </a:xfrm>
          <a:prstGeom prst="rect">
            <a:avLst/>
          </a:prstGeom>
        </p:spPr>
      </p:pic>
      <p:sp>
        <p:nvSpPr>
          <p:cNvPr id="19" name="Text 14"/>
          <p:cNvSpPr/>
          <p:nvPr/>
        </p:nvSpPr>
        <p:spPr>
          <a:xfrm>
            <a:off x="8595360" y="310896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CHINA MOE MODEL</a:t>
            </a:r>
            <a:endParaRPr lang="en-US" sz="1050" dirty="0"/>
          </a:p>
        </p:txBody>
      </p:sp>
      <p:sp>
        <p:nvSpPr>
          <p:cNvPr id="20" name="Text 15"/>
          <p:cNvSpPr/>
          <p:nvPr/>
        </p:nvSpPr>
        <p:spPr>
          <a:xfrm>
            <a:off x="8595360" y="3401568"/>
            <a:ext cx="3026664" cy="68580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The proven playbook</a:t>
            </a:r>
            <a:endParaRPr lang="en-US" sz="1800" dirty="0"/>
          </a:p>
        </p:txBody>
      </p:sp>
      <p:sp>
        <p:nvSpPr>
          <p:cNvPr id="21" name="Text 16"/>
          <p:cNvSpPr/>
          <p:nvPr/>
        </p:nvSpPr>
        <p:spPr>
          <a:xfrm>
            <a:off x="8595360" y="4114800"/>
            <a:ext cx="3026664" cy="141732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China moved from trials (2018) to national AI-in-education policy (2025). BilimAI brings the same playbook home — with teachers in charge.</a:t>
            </a:r>
            <a:endParaRPr lang="en-US" sz="1250" dirty="0"/>
          </a:p>
        </p:txBody>
      </p:sp>
      <p:sp>
        <p:nvSpPr>
          <p:cNvPr id="22" name="Text 17"/>
          <p:cNvSpPr/>
          <p:nvPr/>
        </p:nvSpPr>
        <p:spPr>
          <a:xfrm>
            <a:off x="548640" y="5943600"/>
            <a:ext cx="11064240" cy="411480"/>
          </a:xfrm>
          <a:prstGeom prst="rect">
            <a:avLst/>
          </a:prstGeom>
          <a:noFill/>
          <a:ln/>
        </p:spPr>
        <p:txBody>
          <a:bodyPr wrap="square" lIns="0" tIns="0" rIns="0" bIns="0" rtlCol="0" anchor="ctr"/>
          <a:lstStyle/>
          <a:p>
            <a:pPr indent="0" marL="0">
              <a:buNone/>
            </a:pPr>
            <a:r>
              <a:rPr lang="en-US" sz="1600" b="1" i="1" dirty="0">
                <a:solidFill>
                  <a:srgbClr val="2158E8"/>
                </a:solidFill>
                <a:latin typeface="Calibri" pitchFamily="34" charset="0"/>
                <a:ea typeface="Calibri" pitchFamily="34" charset="-122"/>
                <a:cs typeface="Calibri" pitchFamily="34" charset="-120"/>
              </a:rPr>
              <a:t>A state-backed BilimAI pilot is not a bet against policy — it executes 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MARKET</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AI in education is growing 5× in six years</a:t>
            </a:r>
            <a:endParaRPr lang="en-US" sz="3400" dirty="0"/>
          </a:p>
        </p:txBody>
      </p:sp>
      <p:sp>
        <p:nvSpPr>
          <p:cNvPr id="4" name="Shape 2"/>
          <p:cNvSpPr/>
          <p:nvPr/>
        </p:nvSpPr>
        <p:spPr>
          <a:xfrm>
            <a:off x="548640" y="1783080"/>
            <a:ext cx="7315200" cy="4343400"/>
          </a:xfrm>
          <a:prstGeom prst="roundRect">
            <a:avLst>
              <a:gd name="adj" fmla="val 2526"/>
            </a:avLst>
          </a:prstGeom>
          <a:solidFill>
            <a:srgbClr val="EDF3FC"/>
          </a:solidFill>
          <a:ln/>
        </p:spPr>
      </p:sp>
      <p:sp>
        <p:nvSpPr>
          <p:cNvPr id="5" name="Text 3"/>
          <p:cNvSpPr/>
          <p:nvPr/>
        </p:nvSpPr>
        <p:spPr>
          <a:xfrm>
            <a:off x="822960" y="1965960"/>
            <a:ext cx="6766560" cy="320040"/>
          </a:xfrm>
          <a:prstGeom prst="rect">
            <a:avLst/>
          </a:prstGeom>
          <a:noFill/>
          <a:ln/>
        </p:spPr>
        <p:txBody>
          <a:bodyPr wrap="square" lIns="0" tIns="0" rIns="0" bIns="0" rtlCol="0" anchor="ctr"/>
          <a:lstStyle/>
          <a:p>
            <a:pPr indent="0" marL="0">
              <a:buNone/>
            </a:pPr>
            <a:r>
              <a:rPr lang="en-US" sz="1350" b="1" dirty="0">
                <a:solidFill>
                  <a:srgbClr val="111A33"/>
                </a:solidFill>
                <a:latin typeface="Calibri" pitchFamily="34" charset="0"/>
                <a:ea typeface="Calibri" pitchFamily="34" charset="-122"/>
                <a:cs typeface="Calibri" pitchFamily="34" charset="-120"/>
              </a:rPr>
              <a:t>Global AI-in-education market, USD billions</a:t>
            </a:r>
            <a:endParaRPr lang="en-US" sz="1350" dirty="0"/>
          </a:p>
        </p:txBody>
      </p:sp>
      <p:graphicFrame>
        <p:nvGraphicFramePr>
          <p:cNvPr id="6" name="Chart 0" descr=""/>
          <p:cNvGraphicFramePr/>
          <p:nvPr/>
        </p:nvGraphicFramePr>
        <p:xfrm>
          <a:off x="822960" y="2377440"/>
          <a:ext cx="676656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22960" y="5623560"/>
            <a:ext cx="6766560" cy="36576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2025–2029 interpolated at the reported ~33% CAGR between the published 2024 and 2030 figures.</a:t>
            </a:r>
            <a:endParaRPr lang="en-US" sz="1000" dirty="0"/>
          </a:p>
        </p:txBody>
      </p:sp>
      <p:sp>
        <p:nvSpPr>
          <p:cNvPr id="8" name="Text 5"/>
          <p:cNvSpPr/>
          <p:nvPr/>
        </p:nvSpPr>
        <p:spPr>
          <a:xfrm>
            <a:off x="8229600" y="2103120"/>
            <a:ext cx="3383280" cy="658368"/>
          </a:xfrm>
          <a:prstGeom prst="rect">
            <a:avLst/>
          </a:prstGeom>
          <a:noFill/>
          <a:ln/>
        </p:spPr>
        <p:txBody>
          <a:bodyPr wrap="square" lIns="0" tIns="0" rIns="0" bIns="0" rtlCol="0" anchor="ctr"/>
          <a:lstStyle/>
          <a:p>
            <a:pPr indent="0" marL="0">
              <a:buNone/>
            </a:pPr>
            <a:r>
              <a:rPr lang="en-US" sz="4000" b="1" dirty="0">
                <a:solidFill>
                  <a:srgbClr val="2158E8"/>
                </a:solidFill>
                <a:latin typeface="Calibri" pitchFamily="34" charset="0"/>
                <a:ea typeface="Calibri" pitchFamily="34" charset="-122"/>
                <a:cs typeface="Calibri" pitchFamily="34" charset="-120"/>
              </a:rPr>
              <a:t>$32.3B</a:t>
            </a:r>
            <a:endParaRPr lang="en-US" sz="4000" dirty="0"/>
          </a:p>
        </p:txBody>
      </p:sp>
      <p:sp>
        <p:nvSpPr>
          <p:cNvPr id="9" name="Text 6"/>
          <p:cNvSpPr/>
          <p:nvPr/>
        </p:nvSpPr>
        <p:spPr>
          <a:xfrm>
            <a:off x="8229600" y="2761488"/>
            <a:ext cx="338328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projected global AI-education market by 2030 (Grand View Research)</a:t>
            </a:r>
            <a:endParaRPr lang="en-US" sz="1250" dirty="0"/>
          </a:p>
        </p:txBody>
      </p:sp>
      <p:sp>
        <p:nvSpPr>
          <p:cNvPr id="10" name="Text 7"/>
          <p:cNvSpPr/>
          <p:nvPr/>
        </p:nvSpPr>
        <p:spPr>
          <a:xfrm>
            <a:off x="8229600" y="3657600"/>
            <a:ext cx="3383280" cy="658368"/>
          </a:xfrm>
          <a:prstGeom prst="rect">
            <a:avLst/>
          </a:prstGeom>
          <a:noFill/>
          <a:ln/>
        </p:spPr>
        <p:txBody>
          <a:bodyPr wrap="square" lIns="0" tIns="0" rIns="0" bIns="0" rtlCol="0" anchor="ctr"/>
          <a:lstStyle/>
          <a:p>
            <a:pPr indent="0" marL="0">
              <a:buNone/>
            </a:pPr>
            <a:r>
              <a:rPr lang="en-US" sz="4000" b="1" dirty="0">
                <a:solidFill>
                  <a:srgbClr val="2158E8"/>
                </a:solidFill>
                <a:latin typeface="Calibri" pitchFamily="34" charset="0"/>
                <a:ea typeface="Calibri" pitchFamily="34" charset="-122"/>
                <a:cs typeface="Calibri" pitchFamily="34" charset="-120"/>
              </a:rPr>
              <a:t>$1.5B</a:t>
            </a:r>
            <a:endParaRPr lang="en-US" sz="4000" dirty="0"/>
          </a:p>
        </p:txBody>
      </p:sp>
      <p:sp>
        <p:nvSpPr>
          <p:cNvPr id="11" name="Text 8"/>
          <p:cNvSpPr/>
          <p:nvPr/>
        </p:nvSpPr>
        <p:spPr>
          <a:xfrm>
            <a:off x="8229600" y="4315968"/>
            <a:ext cx="338328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Uzbekistan’s own 2030 target for domestic AI products and services</a:t>
            </a:r>
            <a:endParaRPr lang="en-US" sz="1250" dirty="0"/>
          </a:p>
        </p:txBody>
      </p:sp>
      <p:sp>
        <p:nvSpPr>
          <p:cNvPr id="12" name="Text 9"/>
          <p:cNvSpPr/>
          <p:nvPr/>
        </p:nvSpPr>
        <p:spPr>
          <a:xfrm>
            <a:off x="8229600" y="5120640"/>
            <a:ext cx="3383280" cy="1005840"/>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First-mover in Uzbek-language grading — and a bridge to 80M+ Turkic-language speakers across Central Asia.</a:t>
            </a:r>
            <a:endParaRPr lang="en-US" sz="1250" dirty="0"/>
          </a:p>
        </p:txBody>
      </p:sp>
      <p:sp>
        <p:nvSpPr>
          <p:cNvPr id="13" name="Text 10"/>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Sources: Grand View Research 2025; Presidential Resolution PQ-358 (2024).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Pilot first. Prove it. Then scale.</a:t>
            </a:r>
            <a:endParaRPr lang="en-US" sz="3400" dirty="0"/>
          </a:p>
        </p:txBody>
      </p:sp>
      <p:sp>
        <p:nvSpPr>
          <p:cNvPr id="4" name="Shape 2"/>
          <p:cNvSpPr/>
          <p:nvPr/>
        </p:nvSpPr>
        <p:spPr>
          <a:xfrm>
            <a:off x="548640" y="1874520"/>
            <a:ext cx="3611880" cy="3977640"/>
          </a:xfrm>
          <a:prstGeom prst="roundRect">
            <a:avLst>
              <a:gd name="adj" fmla="val 3038"/>
            </a:avLst>
          </a:prstGeom>
          <a:solidFill>
            <a:srgbClr val="111A33"/>
          </a:solidFill>
          <a:ln/>
        </p:spPr>
      </p:sp>
      <p:sp>
        <p:nvSpPr>
          <p:cNvPr id="5" name="Shape 3"/>
          <p:cNvSpPr/>
          <p:nvPr/>
        </p:nvSpPr>
        <p:spPr>
          <a:xfrm>
            <a:off x="841248" y="2194560"/>
            <a:ext cx="658368" cy="658368"/>
          </a:xfrm>
          <a:prstGeom prst="ellipse">
            <a:avLst/>
          </a:prstGeom>
          <a:solidFill>
            <a:srgbClr val="22315E"/>
          </a:solidFill>
          <a:ln/>
        </p:spPr>
      </p:sp>
      <p:pic>
        <p:nvPicPr>
          <p:cNvPr id="6" name="Image 0" descr="/private/tmp/claude-501/-Users-furb-x-Desktop-My-Projects/d365b27d-a89f-47fc-8734-df20f634a92b/scratchpad/bilimai/icons/rocket-white.png">    </p:cNvPr>
          <p:cNvPicPr>
            <a:picLocks noChangeAspect="1"/>
          </p:cNvPicPr>
          <p:nvPr/>
        </p:nvPicPr>
        <p:blipFill>
          <a:blip r:embed="rId1"/>
          <a:stretch>
            <a:fillRect/>
          </a:stretch>
        </p:blipFill>
        <p:spPr>
          <a:xfrm>
            <a:off x="1012424" y="2365736"/>
            <a:ext cx="316017" cy="316017"/>
          </a:xfrm>
          <a:prstGeom prst="rect">
            <a:avLst/>
          </a:prstGeom>
        </p:spPr>
      </p:pic>
      <p:sp>
        <p:nvSpPr>
          <p:cNvPr id="7" name="Text 4"/>
          <p:cNvSpPr/>
          <p:nvPr/>
        </p:nvSpPr>
        <p:spPr>
          <a:xfrm>
            <a:off x="841248" y="3063240"/>
            <a:ext cx="3026664" cy="274320"/>
          </a:xfrm>
          <a:prstGeom prst="rect">
            <a:avLst/>
          </a:prstGeom>
          <a:noFill/>
          <a:ln/>
        </p:spPr>
        <p:txBody>
          <a:bodyPr wrap="square" lIns="0" tIns="0" rIns="0" bIns="0" rtlCol="0" anchor="ctr"/>
          <a:lstStyle/>
          <a:p>
            <a:pPr indent="0" marL="0">
              <a:buNone/>
            </a:pPr>
            <a:r>
              <a:rPr lang="en-US" sz="1050" b="1" spc="150" kern="0" dirty="0">
                <a:solidFill>
                  <a:srgbClr val="8FB0F0"/>
                </a:solidFill>
                <a:latin typeface="Calibri" pitchFamily="34" charset="0"/>
                <a:ea typeface="Calibri" pitchFamily="34" charset="-122"/>
                <a:cs typeface="Calibri" pitchFamily="34" charset="-120"/>
              </a:rPr>
              <a:t>PHASE 1 · 2026–27</a:t>
            </a:r>
            <a:endParaRPr lang="en-US" sz="1050" dirty="0"/>
          </a:p>
        </p:txBody>
      </p:sp>
      <p:sp>
        <p:nvSpPr>
          <p:cNvPr id="8" name="Text 5"/>
          <p:cNvSpPr/>
          <p:nvPr/>
        </p:nvSpPr>
        <p:spPr>
          <a:xfrm>
            <a:off x="841248" y="3355848"/>
            <a:ext cx="3026664"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Pilot</a:t>
            </a:r>
            <a:endParaRPr lang="en-US" sz="2000" dirty="0"/>
          </a:p>
        </p:txBody>
      </p:sp>
      <p:sp>
        <p:nvSpPr>
          <p:cNvPr id="9" name="Text 6"/>
          <p:cNvSpPr/>
          <p:nvPr/>
        </p:nvSpPr>
        <p:spPr>
          <a:xfrm>
            <a:off x="841248" y="3840480"/>
            <a:ext cx="3026664" cy="1874520"/>
          </a:xfrm>
          <a:prstGeom prst="rect">
            <a:avLst/>
          </a:prstGeom>
          <a:noFill/>
          <a:ln/>
        </p:spPr>
        <p:txBody>
          <a:bodyPr wrap="square" lIns="0" tIns="0" rIns="0" bIns="0" rtlCol="0" anchor="ctr"/>
          <a:lstStyle/>
          <a:p>
            <a:pPr indent="0" marL="0">
              <a:buNone/>
            </a:pPr>
            <a:r>
              <a:rPr lang="en-US" sz="1150" dirty="0">
                <a:solidFill>
                  <a:srgbClr val="D8E4FA"/>
                </a:solidFill>
                <a:latin typeface="Calibri" pitchFamily="34" charset="0"/>
                <a:ea typeface="Calibri" pitchFamily="34" charset="-122"/>
                <a:cs typeface="Calibri" pitchFamily="34" charset="-120"/>
              </a:rPr>
              <a:t>100 schools in 1–2 regions. Uzbek + Russian language models trained on curriculum rubrics. Teachers co-design the feedback style. Independent evaluation of accuracy vs teacher grades.</a:t>
            </a:r>
            <a:endParaRPr lang="en-US" sz="1150" dirty="0"/>
          </a:p>
        </p:txBody>
      </p:sp>
      <p:sp>
        <p:nvSpPr>
          <p:cNvPr id="10" name="Shape 7"/>
          <p:cNvSpPr/>
          <p:nvPr/>
        </p:nvSpPr>
        <p:spPr>
          <a:xfrm>
            <a:off x="4425696" y="1874520"/>
            <a:ext cx="3611880" cy="3977640"/>
          </a:xfrm>
          <a:prstGeom prst="roundRect">
            <a:avLst>
              <a:gd name="adj" fmla="val 3038"/>
            </a:avLst>
          </a:prstGeom>
          <a:solidFill>
            <a:srgbClr val="EDF3FC"/>
          </a:solidFill>
          <a:ln/>
        </p:spPr>
      </p:sp>
      <p:sp>
        <p:nvSpPr>
          <p:cNvPr id="11" name="Shape 8"/>
          <p:cNvSpPr/>
          <p:nvPr/>
        </p:nvSpPr>
        <p:spPr>
          <a:xfrm>
            <a:off x="4718304" y="2194560"/>
            <a:ext cx="658368" cy="658368"/>
          </a:xfrm>
          <a:prstGeom prst="ellipse">
            <a:avLst/>
          </a:prstGeom>
          <a:solidFill>
            <a:srgbClr val="DCE8FA"/>
          </a:solidFill>
          <a:ln/>
        </p:spPr>
      </p:sp>
      <p:pic>
        <p:nvPicPr>
          <p:cNvPr id="12" name="Image 1" descr="/private/tmp/claude-501/-Users-furb-x-Desktop-My-Projects/d365b27d-a89f-47fc-8734-df20f634a92b/scratchpad/bilimai/icons/school-blue.png">    </p:cNvPr>
          <p:cNvPicPr>
            <a:picLocks noChangeAspect="1"/>
          </p:cNvPicPr>
          <p:nvPr/>
        </p:nvPicPr>
        <p:blipFill>
          <a:blip r:embed="rId2"/>
          <a:stretch>
            <a:fillRect/>
          </a:stretch>
        </p:blipFill>
        <p:spPr>
          <a:xfrm>
            <a:off x="4889480" y="2365736"/>
            <a:ext cx="316017" cy="316017"/>
          </a:xfrm>
          <a:prstGeom prst="rect">
            <a:avLst/>
          </a:prstGeom>
        </p:spPr>
      </p:pic>
      <p:sp>
        <p:nvSpPr>
          <p:cNvPr id="13" name="Text 9"/>
          <p:cNvSpPr/>
          <p:nvPr/>
        </p:nvSpPr>
        <p:spPr>
          <a:xfrm>
            <a:off x="4718304" y="306324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PHASE 2 · 2027–28</a:t>
            </a:r>
            <a:endParaRPr lang="en-US" sz="1050" dirty="0"/>
          </a:p>
        </p:txBody>
      </p:sp>
      <p:sp>
        <p:nvSpPr>
          <p:cNvPr id="14" name="Text 10"/>
          <p:cNvSpPr/>
          <p:nvPr/>
        </p:nvSpPr>
        <p:spPr>
          <a:xfrm>
            <a:off x="4718304" y="3355848"/>
            <a:ext cx="3026664" cy="457200"/>
          </a:xfrm>
          <a:prstGeom prst="rect">
            <a:avLst/>
          </a:prstGeom>
          <a:noFill/>
          <a:ln/>
        </p:spPr>
        <p:txBody>
          <a:bodyPr wrap="square" lIns="0" tIns="0" rIns="0" bIns="0" rtlCol="0" anchor="ctr"/>
          <a:lstStyle/>
          <a:p>
            <a:pPr indent="0" marL="0">
              <a:buNone/>
            </a:pPr>
            <a:r>
              <a:rPr lang="en-US" sz="2000" b="1" dirty="0">
                <a:solidFill>
                  <a:srgbClr val="111A33"/>
                </a:solidFill>
                <a:latin typeface="Calibri" pitchFamily="34" charset="0"/>
                <a:ea typeface="Calibri" pitchFamily="34" charset="-122"/>
                <a:cs typeface="Calibri" pitchFamily="34" charset="-120"/>
              </a:rPr>
              <a:t>Regional scale</a:t>
            </a:r>
            <a:endParaRPr lang="en-US" sz="2000" dirty="0"/>
          </a:p>
        </p:txBody>
      </p:sp>
      <p:sp>
        <p:nvSpPr>
          <p:cNvPr id="15" name="Text 11"/>
          <p:cNvSpPr/>
          <p:nvPr/>
        </p:nvSpPr>
        <p:spPr>
          <a:xfrm>
            <a:off x="4718304" y="3840480"/>
            <a:ext cx="3026664" cy="18745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1,000 schools. Integration with national e-education platforms. Teacher-training programme. Published accuracy and time-saved metrics.</a:t>
            </a:r>
            <a:endParaRPr lang="en-US" sz="1150" dirty="0"/>
          </a:p>
        </p:txBody>
      </p:sp>
      <p:sp>
        <p:nvSpPr>
          <p:cNvPr id="16" name="Shape 12"/>
          <p:cNvSpPr/>
          <p:nvPr/>
        </p:nvSpPr>
        <p:spPr>
          <a:xfrm>
            <a:off x="8302752" y="1874520"/>
            <a:ext cx="3611880" cy="3977640"/>
          </a:xfrm>
          <a:prstGeom prst="roundRect">
            <a:avLst>
              <a:gd name="adj" fmla="val 3038"/>
            </a:avLst>
          </a:prstGeom>
          <a:solidFill>
            <a:srgbClr val="EDF3FC"/>
          </a:solidFill>
          <a:ln/>
        </p:spPr>
      </p:sp>
      <p:sp>
        <p:nvSpPr>
          <p:cNvPr id="17" name="Shape 13"/>
          <p:cNvSpPr/>
          <p:nvPr/>
        </p:nvSpPr>
        <p:spPr>
          <a:xfrm>
            <a:off x="8595360" y="2194560"/>
            <a:ext cx="658368" cy="658368"/>
          </a:xfrm>
          <a:prstGeom prst="ellipse">
            <a:avLst/>
          </a:prstGeom>
          <a:solidFill>
            <a:srgbClr val="DCE8FA"/>
          </a:solidFill>
          <a:ln/>
        </p:spPr>
      </p:sp>
      <p:pic>
        <p:nvPicPr>
          <p:cNvPr id="18" name="Image 2" descr="/private/tmp/claude-501/-Users-furb-x-Desktop-My-Projects/d365b27d-a89f-47fc-8734-df20f634a92b/scratchpad/bilimai/icons/globe-blue.png">    </p:cNvPr>
          <p:cNvPicPr>
            <a:picLocks noChangeAspect="1"/>
          </p:cNvPicPr>
          <p:nvPr/>
        </p:nvPicPr>
        <p:blipFill>
          <a:blip r:embed="rId3"/>
          <a:stretch>
            <a:fillRect/>
          </a:stretch>
        </p:blipFill>
        <p:spPr>
          <a:xfrm>
            <a:off x="8766536" y="2365736"/>
            <a:ext cx="316017" cy="316017"/>
          </a:xfrm>
          <a:prstGeom prst="rect">
            <a:avLst/>
          </a:prstGeom>
        </p:spPr>
      </p:pic>
      <p:sp>
        <p:nvSpPr>
          <p:cNvPr id="19" name="Text 14"/>
          <p:cNvSpPr/>
          <p:nvPr/>
        </p:nvSpPr>
        <p:spPr>
          <a:xfrm>
            <a:off x="8595360" y="3063240"/>
            <a:ext cx="3026664" cy="274320"/>
          </a:xfrm>
          <a:prstGeom prst="rect">
            <a:avLst/>
          </a:prstGeom>
          <a:noFill/>
          <a:ln/>
        </p:spPr>
        <p:txBody>
          <a:bodyPr wrap="square" lIns="0" tIns="0" rIns="0" bIns="0" rtlCol="0" anchor="ctr"/>
          <a:lstStyle/>
          <a:p>
            <a:pPr indent="0" marL="0">
              <a:buNone/>
            </a:pPr>
            <a:r>
              <a:rPr lang="en-US" sz="1050" b="1" spc="150" kern="0" dirty="0">
                <a:solidFill>
                  <a:srgbClr val="2158E8"/>
                </a:solidFill>
                <a:latin typeface="Calibri" pitchFamily="34" charset="0"/>
                <a:ea typeface="Calibri" pitchFamily="34" charset="-122"/>
                <a:cs typeface="Calibri" pitchFamily="34" charset="-120"/>
              </a:rPr>
              <a:t>PHASE 3 · 2028–30</a:t>
            </a:r>
            <a:endParaRPr lang="en-US" sz="1050" dirty="0"/>
          </a:p>
        </p:txBody>
      </p:sp>
      <p:sp>
        <p:nvSpPr>
          <p:cNvPr id="20" name="Text 15"/>
          <p:cNvSpPr/>
          <p:nvPr/>
        </p:nvSpPr>
        <p:spPr>
          <a:xfrm>
            <a:off x="8595360" y="3355848"/>
            <a:ext cx="3026664" cy="457200"/>
          </a:xfrm>
          <a:prstGeom prst="rect">
            <a:avLst/>
          </a:prstGeom>
          <a:noFill/>
          <a:ln/>
        </p:spPr>
        <p:txBody>
          <a:bodyPr wrap="square" lIns="0" tIns="0" rIns="0" bIns="0" rtlCol="0" anchor="ctr"/>
          <a:lstStyle/>
          <a:p>
            <a:pPr indent="0" marL="0">
              <a:buNone/>
            </a:pPr>
            <a:r>
              <a:rPr lang="en-US" sz="2000" b="1" dirty="0">
                <a:solidFill>
                  <a:srgbClr val="111A33"/>
                </a:solidFill>
                <a:latin typeface="Calibri" pitchFamily="34" charset="0"/>
                <a:ea typeface="Calibri" pitchFamily="34" charset="-122"/>
                <a:cs typeface="Calibri" pitchFamily="34" charset="-120"/>
              </a:rPr>
              <a:t>National + export</a:t>
            </a:r>
            <a:endParaRPr lang="en-US" sz="2000" dirty="0"/>
          </a:p>
        </p:txBody>
      </p:sp>
      <p:sp>
        <p:nvSpPr>
          <p:cNvPr id="21" name="Text 16"/>
          <p:cNvSpPr/>
          <p:nvPr/>
        </p:nvSpPr>
        <p:spPr>
          <a:xfrm>
            <a:off x="8595360" y="3840480"/>
            <a:ext cx="3026664" cy="1874520"/>
          </a:xfrm>
          <a:prstGeom prst="rect">
            <a:avLst/>
          </a:prstGeom>
          <a:noFill/>
          <a:ln/>
        </p:spPr>
        <p:txBody>
          <a:bodyPr wrap="square" lIns="0" tIns="0" rIns="0" bIns="0" rtlCol="0" anchor="ctr"/>
          <a:lstStyle/>
          <a:p>
            <a:pPr indent="0" marL="0">
              <a:buNone/>
            </a:pPr>
            <a:r>
              <a:rPr lang="en-US" sz="1150" dirty="0">
                <a:solidFill>
                  <a:srgbClr val="26304A"/>
                </a:solidFill>
                <a:latin typeface="Calibri" pitchFamily="34" charset="0"/>
                <a:ea typeface="Calibri" pitchFamily="34" charset="-122"/>
                <a:cs typeface="Calibri" pitchFamily="34" charset="-120"/>
              </a:rPr>
              <a:t>Nationwide rollout across 10,000+ schools. Export the Uzbek/Turkic-language engine to Central Asian neighbours.</a:t>
            </a:r>
            <a:endParaRPr lang="en-US" sz="1150" dirty="0"/>
          </a:p>
        </p:txBody>
      </p:sp>
      <p:sp>
        <p:nvSpPr>
          <p:cNvPr id="22" name="Text 17"/>
          <p:cNvSpPr/>
          <p:nvPr/>
        </p:nvSpPr>
        <p:spPr>
          <a:xfrm>
            <a:off x="548640" y="6080760"/>
            <a:ext cx="11064240" cy="365760"/>
          </a:xfrm>
          <a:prstGeom prst="rect">
            <a:avLst/>
          </a:prstGeom>
          <a:noFill/>
          <a:ln/>
        </p:spPr>
        <p:txBody>
          <a:bodyPr wrap="square" lIns="0" tIns="0" rIns="0" bIns="0" rtlCol="0" anchor="ctr"/>
          <a:lstStyle/>
          <a:p>
            <a:pPr indent="0" marL="0">
              <a:buNone/>
            </a:pPr>
            <a:r>
              <a:rPr lang="en-US" sz="1350" i="1" dirty="0">
                <a:solidFill>
                  <a:srgbClr val="6B7280"/>
                </a:solidFill>
                <a:latin typeface="Calibri" pitchFamily="34" charset="0"/>
                <a:ea typeface="Calibri" pitchFamily="34" charset="-122"/>
                <a:cs typeface="Calibri" pitchFamily="34" charset="-120"/>
              </a:rPr>
              <a:t>Every phase gates on published evidence — the pilot’s independent evaluation decides the scale-up.</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THE ASK</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What we need from you</a:t>
            </a:r>
            <a:endParaRPr lang="en-US" sz="3400" dirty="0"/>
          </a:p>
        </p:txBody>
      </p:sp>
      <p:sp>
        <p:nvSpPr>
          <p:cNvPr id="4" name="Shape 2"/>
          <p:cNvSpPr/>
          <p:nvPr/>
        </p:nvSpPr>
        <p:spPr>
          <a:xfrm>
            <a:off x="548640" y="1874520"/>
            <a:ext cx="3611880" cy="2926080"/>
          </a:xfrm>
          <a:prstGeom prst="roundRect">
            <a:avLst>
              <a:gd name="adj" fmla="val 3750"/>
            </a:avLst>
          </a:prstGeom>
          <a:solidFill>
            <a:srgbClr val="EDF3FC"/>
          </a:solidFill>
          <a:ln/>
        </p:spPr>
      </p:sp>
      <p:sp>
        <p:nvSpPr>
          <p:cNvPr id="5" name="Shape 3"/>
          <p:cNvSpPr/>
          <p:nvPr/>
        </p:nvSpPr>
        <p:spPr>
          <a:xfrm>
            <a:off x="841248" y="2194560"/>
            <a:ext cx="658368" cy="658368"/>
          </a:xfrm>
          <a:prstGeom prst="ellipse">
            <a:avLst/>
          </a:prstGeom>
          <a:solidFill>
            <a:srgbClr val="DCE8FA"/>
          </a:solidFill>
          <a:ln/>
        </p:spPr>
      </p:sp>
      <p:pic>
        <p:nvPicPr>
          <p:cNvPr id="6" name="Image 0" descr="/private/tmp/claude-501/-Users-furb-x-Desktop-My-Projects/d365b27d-a89f-47fc-8734-df20f634a92b/scratchpad/bilimai/icons/handshake-blue.png">    </p:cNvPr>
          <p:cNvPicPr>
            <a:picLocks noChangeAspect="1"/>
          </p:cNvPicPr>
          <p:nvPr/>
        </p:nvPicPr>
        <p:blipFill>
          <a:blip r:embed="rId1"/>
          <a:stretch>
            <a:fillRect/>
          </a:stretch>
        </p:blipFill>
        <p:spPr>
          <a:xfrm>
            <a:off x="1012424" y="2365736"/>
            <a:ext cx="316017" cy="316017"/>
          </a:xfrm>
          <a:prstGeom prst="rect">
            <a:avLst/>
          </a:prstGeom>
        </p:spPr>
      </p:pic>
      <p:sp>
        <p:nvSpPr>
          <p:cNvPr id="7" name="Text 4"/>
          <p:cNvSpPr/>
          <p:nvPr/>
        </p:nvSpPr>
        <p:spPr>
          <a:xfrm>
            <a:off x="841248"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Pilot funding</a:t>
            </a:r>
            <a:endParaRPr lang="en-US" sz="1800" dirty="0"/>
          </a:p>
        </p:txBody>
      </p:sp>
      <p:sp>
        <p:nvSpPr>
          <p:cNvPr id="8" name="Text 5"/>
          <p:cNvSpPr/>
          <p:nvPr/>
        </p:nvSpPr>
        <p:spPr>
          <a:xfrm>
            <a:off x="841248"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Finance the 100-school pilot: model development for Uzbek and Russian, teacher training, and an independent accuracy evaluation.</a:t>
            </a:r>
            <a:endParaRPr lang="en-US" sz="1200" dirty="0"/>
          </a:p>
        </p:txBody>
      </p:sp>
      <p:sp>
        <p:nvSpPr>
          <p:cNvPr id="9" name="Shape 6"/>
          <p:cNvSpPr/>
          <p:nvPr/>
        </p:nvSpPr>
        <p:spPr>
          <a:xfrm>
            <a:off x="4425696" y="1874520"/>
            <a:ext cx="3611880" cy="2926080"/>
          </a:xfrm>
          <a:prstGeom prst="roundRect">
            <a:avLst>
              <a:gd name="adj" fmla="val 3750"/>
            </a:avLst>
          </a:prstGeom>
          <a:solidFill>
            <a:srgbClr val="EDF3FC"/>
          </a:solidFill>
          <a:ln/>
        </p:spPr>
      </p:sp>
      <p:sp>
        <p:nvSpPr>
          <p:cNvPr id="10" name="Shape 7"/>
          <p:cNvSpPr/>
          <p:nvPr/>
        </p:nvSpPr>
        <p:spPr>
          <a:xfrm>
            <a:off x="4718304" y="2194560"/>
            <a:ext cx="658368" cy="658368"/>
          </a:xfrm>
          <a:prstGeom prst="ellipse">
            <a:avLst/>
          </a:prstGeom>
          <a:solidFill>
            <a:srgbClr val="DCE8FA"/>
          </a:solidFill>
          <a:ln/>
        </p:spPr>
      </p:sp>
      <p:pic>
        <p:nvPicPr>
          <p:cNvPr id="11" name="Image 1" descr="/private/tmp/claude-501/-Users-furb-x-Desktop-My-Projects/d365b27d-a89f-47fc-8734-df20f634a92b/scratchpad/bilimai/icons/landmark-blue.png">    </p:cNvPr>
          <p:cNvPicPr>
            <a:picLocks noChangeAspect="1"/>
          </p:cNvPicPr>
          <p:nvPr/>
        </p:nvPicPr>
        <p:blipFill>
          <a:blip r:embed="rId2"/>
          <a:stretch>
            <a:fillRect/>
          </a:stretch>
        </p:blipFill>
        <p:spPr>
          <a:xfrm>
            <a:off x="4889480" y="2365736"/>
            <a:ext cx="316017" cy="316017"/>
          </a:xfrm>
          <a:prstGeom prst="rect">
            <a:avLst/>
          </a:prstGeom>
        </p:spPr>
      </p:pic>
      <p:sp>
        <p:nvSpPr>
          <p:cNvPr id="12" name="Text 8"/>
          <p:cNvSpPr/>
          <p:nvPr/>
        </p:nvSpPr>
        <p:spPr>
          <a:xfrm>
            <a:off x="4718304"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Access &amp; partnership</a:t>
            </a:r>
            <a:endParaRPr lang="en-US" sz="1800" dirty="0"/>
          </a:p>
        </p:txBody>
      </p:sp>
      <p:sp>
        <p:nvSpPr>
          <p:cNvPr id="13" name="Text 9"/>
          <p:cNvSpPr/>
          <p:nvPr/>
        </p:nvSpPr>
        <p:spPr>
          <a:xfrm>
            <a:off x="4718304"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A partnership with the Ministry of Preschool and School Education: pilot schools, official curriculum rubrics, and anonymised sample work.</a:t>
            </a:r>
            <a:endParaRPr lang="en-US" sz="1200" dirty="0"/>
          </a:p>
        </p:txBody>
      </p:sp>
      <p:sp>
        <p:nvSpPr>
          <p:cNvPr id="14" name="Shape 10"/>
          <p:cNvSpPr/>
          <p:nvPr/>
        </p:nvSpPr>
        <p:spPr>
          <a:xfrm>
            <a:off x="8302752" y="1874520"/>
            <a:ext cx="3611880" cy="2926080"/>
          </a:xfrm>
          <a:prstGeom prst="roundRect">
            <a:avLst>
              <a:gd name="adj" fmla="val 3750"/>
            </a:avLst>
          </a:prstGeom>
          <a:solidFill>
            <a:srgbClr val="EDF3FC"/>
          </a:solidFill>
          <a:ln/>
        </p:spPr>
      </p:sp>
      <p:sp>
        <p:nvSpPr>
          <p:cNvPr id="15" name="Shape 11"/>
          <p:cNvSpPr/>
          <p:nvPr/>
        </p:nvSpPr>
        <p:spPr>
          <a:xfrm>
            <a:off x="8595360" y="2194560"/>
            <a:ext cx="658368" cy="658368"/>
          </a:xfrm>
          <a:prstGeom prst="ellipse">
            <a:avLst/>
          </a:prstGeom>
          <a:solidFill>
            <a:srgbClr val="DCE8FA"/>
          </a:solidFill>
          <a:ln/>
        </p:spPr>
      </p:sp>
      <p:pic>
        <p:nvPicPr>
          <p:cNvPr id="16" name="Image 2" descr="/private/tmp/claude-501/-Users-furb-x-Desktop-My-Projects/d365b27d-a89f-47fc-8734-df20f634a92b/scratchpad/bilimai/icons/shield-blue.png">    </p:cNvPr>
          <p:cNvPicPr>
            <a:picLocks noChangeAspect="1"/>
          </p:cNvPicPr>
          <p:nvPr/>
        </p:nvPicPr>
        <p:blipFill>
          <a:blip r:embed="rId3"/>
          <a:stretch>
            <a:fillRect/>
          </a:stretch>
        </p:blipFill>
        <p:spPr>
          <a:xfrm>
            <a:off x="8766536" y="2365736"/>
            <a:ext cx="316017" cy="316017"/>
          </a:xfrm>
          <a:prstGeom prst="rect">
            <a:avLst/>
          </a:prstGeom>
        </p:spPr>
      </p:pic>
      <p:sp>
        <p:nvSpPr>
          <p:cNvPr id="17" name="Text 12"/>
          <p:cNvSpPr/>
          <p:nvPr/>
        </p:nvSpPr>
        <p:spPr>
          <a:xfrm>
            <a:off x="8595360" y="3063240"/>
            <a:ext cx="3026664" cy="411480"/>
          </a:xfrm>
          <a:prstGeom prst="rect">
            <a:avLst/>
          </a:prstGeom>
          <a:noFill/>
          <a:ln/>
        </p:spPr>
        <p:txBody>
          <a:bodyPr wrap="square" lIns="0" tIns="0" rIns="0" bIns="0" rtlCol="0" anchor="ctr"/>
          <a:lstStyle/>
          <a:p>
            <a:pPr indent="0" marL="0">
              <a:buNone/>
            </a:pPr>
            <a:r>
              <a:rPr lang="en-US" sz="1800" b="1" dirty="0">
                <a:solidFill>
                  <a:srgbClr val="111A33"/>
                </a:solidFill>
                <a:latin typeface="Calibri" pitchFamily="34" charset="0"/>
                <a:ea typeface="Calibri" pitchFamily="34" charset="-122"/>
                <a:cs typeface="Calibri" pitchFamily="34" charset="-120"/>
              </a:rPr>
              <a:t>Trust &amp; oversight</a:t>
            </a:r>
            <a:endParaRPr lang="en-US" sz="1800" dirty="0"/>
          </a:p>
        </p:txBody>
      </p:sp>
      <p:sp>
        <p:nvSpPr>
          <p:cNvPr id="18" name="Text 13"/>
          <p:cNvSpPr/>
          <p:nvPr/>
        </p:nvSpPr>
        <p:spPr>
          <a:xfrm>
            <a:off x="8595360" y="3520440"/>
            <a:ext cx="3026664" cy="1188720"/>
          </a:xfrm>
          <a:prstGeom prst="rect">
            <a:avLst/>
          </a:prstGeom>
          <a:noFill/>
          <a:ln/>
        </p:spPr>
        <p:txBody>
          <a:bodyPr wrap="square" lIns="0" tIns="0" rIns="0" bIns="0" rtlCol="0" anchor="ctr"/>
          <a:lstStyle/>
          <a:p>
            <a:pPr indent="0" marL="0">
              <a:buNone/>
            </a:pPr>
            <a:r>
              <a:rPr lang="en-US" sz="1200" dirty="0">
                <a:solidFill>
                  <a:srgbClr val="26304A"/>
                </a:solidFill>
                <a:latin typeface="Calibri" pitchFamily="34" charset="0"/>
                <a:ea typeface="Calibri" pitchFamily="34" charset="-122"/>
                <a:cs typeface="Calibri" pitchFamily="34" charset="-120"/>
              </a:rPr>
              <a:t>Joint governance: student-data protection under Uzbek law, teacher-in-the-loop as a hard rule, and public reporting of results.</a:t>
            </a:r>
            <a:endParaRPr lang="en-US" sz="1200" dirty="0"/>
          </a:p>
        </p:txBody>
      </p:sp>
      <p:sp>
        <p:nvSpPr>
          <p:cNvPr id="19" name="Shape 14"/>
          <p:cNvSpPr/>
          <p:nvPr/>
        </p:nvSpPr>
        <p:spPr>
          <a:xfrm>
            <a:off x="548640" y="5074920"/>
            <a:ext cx="11091672" cy="1051560"/>
          </a:xfrm>
          <a:prstGeom prst="roundRect">
            <a:avLst>
              <a:gd name="adj" fmla="val 8696"/>
            </a:avLst>
          </a:prstGeom>
          <a:solidFill>
            <a:srgbClr val="111A33"/>
          </a:solidFill>
          <a:ln/>
        </p:spPr>
      </p:sp>
      <p:sp>
        <p:nvSpPr>
          <p:cNvPr id="20" name="Text 15"/>
          <p:cNvSpPr/>
          <p:nvPr/>
        </p:nvSpPr>
        <p:spPr>
          <a:xfrm>
            <a:off x="868680" y="5230368"/>
            <a:ext cx="2743200" cy="274320"/>
          </a:xfrm>
          <a:prstGeom prst="rect">
            <a:avLst/>
          </a:prstGeom>
          <a:noFill/>
          <a:ln/>
        </p:spPr>
        <p:txBody>
          <a:bodyPr wrap="square" lIns="0" tIns="0" rIns="0" bIns="0" rtlCol="0" anchor="ctr"/>
          <a:lstStyle/>
          <a:p>
            <a:pPr indent="0" marL="0">
              <a:buNone/>
            </a:pPr>
            <a:r>
              <a:rPr lang="en-US" sz="1100" b="1" spc="200" kern="0" dirty="0">
                <a:solidFill>
                  <a:srgbClr val="8FB0F0"/>
                </a:solidFill>
                <a:latin typeface="Calibri" pitchFamily="34" charset="0"/>
                <a:ea typeface="Calibri" pitchFamily="34" charset="-122"/>
                <a:cs typeface="Calibri" pitchFamily="34" charset="-120"/>
              </a:rPr>
              <a:t>USE OF PILOT FUNDS</a:t>
            </a:r>
            <a:endParaRPr lang="en-US" sz="1100" dirty="0"/>
          </a:p>
        </p:txBody>
      </p:sp>
      <p:sp>
        <p:nvSpPr>
          <p:cNvPr id="21" name="Text 16"/>
          <p:cNvSpPr/>
          <p:nvPr/>
        </p:nvSpPr>
        <p:spPr>
          <a:xfrm>
            <a:off x="352044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45%</a:t>
            </a:r>
            <a:endParaRPr lang="en-US" sz="2400" dirty="0"/>
          </a:p>
        </p:txBody>
      </p:sp>
      <p:sp>
        <p:nvSpPr>
          <p:cNvPr id="22" name="Text 17"/>
          <p:cNvSpPr/>
          <p:nvPr/>
        </p:nvSpPr>
        <p:spPr>
          <a:xfrm>
            <a:off x="438912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Product &amp; AI models</a:t>
            </a:r>
            <a:endParaRPr lang="en-US" sz="1100" dirty="0"/>
          </a:p>
        </p:txBody>
      </p:sp>
      <p:sp>
        <p:nvSpPr>
          <p:cNvPr id="23" name="Text 18"/>
          <p:cNvSpPr/>
          <p:nvPr/>
        </p:nvSpPr>
        <p:spPr>
          <a:xfrm>
            <a:off x="617220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35%</a:t>
            </a:r>
            <a:endParaRPr lang="en-US" sz="2400" dirty="0"/>
          </a:p>
        </p:txBody>
      </p:sp>
      <p:sp>
        <p:nvSpPr>
          <p:cNvPr id="24" name="Text 19"/>
          <p:cNvSpPr/>
          <p:nvPr/>
        </p:nvSpPr>
        <p:spPr>
          <a:xfrm>
            <a:off x="704088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Pilot operations &amp; teacher training</a:t>
            </a:r>
            <a:endParaRPr lang="en-US" sz="1100" dirty="0"/>
          </a:p>
        </p:txBody>
      </p:sp>
      <p:sp>
        <p:nvSpPr>
          <p:cNvPr id="25" name="Text 20"/>
          <p:cNvSpPr/>
          <p:nvPr/>
        </p:nvSpPr>
        <p:spPr>
          <a:xfrm>
            <a:off x="8823960" y="5193792"/>
            <a:ext cx="86868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20%</a:t>
            </a:r>
            <a:endParaRPr lang="en-US" sz="2400" dirty="0"/>
          </a:p>
        </p:txBody>
      </p:sp>
      <p:sp>
        <p:nvSpPr>
          <p:cNvPr id="26" name="Text 21"/>
          <p:cNvSpPr/>
          <p:nvPr/>
        </p:nvSpPr>
        <p:spPr>
          <a:xfrm>
            <a:off x="9692640" y="5138928"/>
            <a:ext cx="1645920" cy="868680"/>
          </a:xfrm>
          <a:prstGeom prst="rect">
            <a:avLst/>
          </a:prstGeom>
          <a:noFill/>
          <a:ln/>
        </p:spPr>
        <p:txBody>
          <a:bodyPr wrap="square" lIns="0" tIns="0" rIns="0" bIns="0" rtlCol="0" anchor="ctr"/>
          <a:lstStyle/>
          <a:p>
            <a:pPr indent="0" marL="0">
              <a:buNone/>
            </a:pPr>
            <a:r>
              <a:rPr lang="en-US" sz="1100" dirty="0">
                <a:solidFill>
                  <a:srgbClr val="D8E4FA"/>
                </a:solidFill>
                <a:latin typeface="Calibri" pitchFamily="34" charset="0"/>
                <a:ea typeface="Calibri" pitchFamily="34" charset="-122"/>
                <a:cs typeface="Calibri" pitchFamily="34" charset="-120"/>
              </a:rPr>
              <a:t>Security, privacy &amp; evaluation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A33"/>
        </a:solidFill>
      </p:bgPr>
    </p:bg>
    <p:spTree>
      <p:nvGrpSpPr>
        <p:cNvPr id="1" name=""/>
        <p:cNvGrpSpPr/>
        <p:nvPr/>
      </p:nvGrpSpPr>
      <p:grpSpPr>
        <a:xfrm>
          <a:off x="0" y="0"/>
          <a:ext cx="0" cy="0"/>
          <a:chOff x="0" y="0"/>
          <a:chExt cx="0" cy="0"/>
        </a:xfrm>
      </p:grpSpPr>
      <p:sp>
        <p:nvSpPr>
          <p:cNvPr id="2" name="Shape 0"/>
          <p:cNvSpPr/>
          <p:nvPr/>
        </p:nvSpPr>
        <p:spPr>
          <a:xfrm>
            <a:off x="9418320" y="-1097280"/>
            <a:ext cx="4114800" cy="4114800"/>
          </a:xfrm>
          <a:prstGeom prst="ellipse">
            <a:avLst/>
          </a:prstGeom>
          <a:solidFill>
            <a:srgbClr val="18244A"/>
          </a:solidFill>
          <a:ln/>
        </p:spPr>
      </p:sp>
      <p:pic>
        <p:nvPicPr>
          <p:cNvPr id="3" name="Image 0" descr="/private/tmp/claude-501/-Users-furb-x-Desktop-My-Projects/d365b27d-a89f-47fc-8734-df20f634a92b/scratchpad/bilimai/icons/pencil-cream.png">    </p:cNvPr>
          <p:cNvPicPr>
            <a:picLocks noChangeAspect="1"/>
          </p:cNvPicPr>
          <p:nvPr/>
        </p:nvPicPr>
        <p:blipFill>
          <a:blip r:embed="rId1"/>
          <a:stretch>
            <a:fillRect/>
          </a:stretch>
        </p:blipFill>
        <p:spPr>
          <a:xfrm>
            <a:off x="10561320" y="91440"/>
            <a:ext cx="822960" cy="822960"/>
          </a:xfrm>
          <a:prstGeom prst="rect">
            <a:avLst/>
          </a:prstGeom>
        </p:spPr>
      </p:pic>
      <p:sp>
        <p:nvSpPr>
          <p:cNvPr id="4" name="Text 1"/>
          <p:cNvSpPr/>
          <p:nvPr/>
        </p:nvSpPr>
        <p:spPr>
          <a:xfrm>
            <a:off x="822960" y="228600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Give teachers back their time.</a:t>
            </a:r>
            <a:endParaRPr lang="en-US" sz="4800" dirty="0"/>
          </a:p>
        </p:txBody>
      </p:sp>
      <p:sp>
        <p:nvSpPr>
          <p:cNvPr id="5" name="Text 2"/>
          <p:cNvSpPr/>
          <p:nvPr/>
        </p:nvSpPr>
        <p:spPr>
          <a:xfrm>
            <a:off x="822960" y="3383280"/>
            <a:ext cx="9601200" cy="1097280"/>
          </a:xfrm>
          <a:prstGeom prst="rect">
            <a:avLst/>
          </a:prstGeom>
          <a:noFill/>
          <a:ln/>
        </p:spPr>
        <p:txBody>
          <a:bodyPr wrap="square" lIns="0" tIns="0" rIns="0" bIns="0" rtlCol="0" anchor="ctr"/>
          <a:lstStyle/>
          <a:p>
            <a:pPr indent="0" marL="0">
              <a:buNone/>
            </a:pPr>
            <a:r>
              <a:rPr lang="en-US" sz="1700" dirty="0">
                <a:solidFill>
                  <a:srgbClr val="D8E4FA"/>
                </a:solidFill>
                <a:latin typeface="Calibri" pitchFamily="34" charset="0"/>
                <a:ea typeface="Calibri" pitchFamily="34" charset="-122"/>
                <a:cs typeface="Calibri" pitchFamily="34" charset="-120"/>
              </a:rPr>
              <a:t>China proved automated grading works at the scale of 60,000 schools. The research says it helps students write better. Uzbekistan’s own strategy calls for it. BilimAI is how it happens here.</a:t>
            </a:r>
            <a:endParaRPr lang="en-US" sz="1700" dirty="0"/>
          </a:p>
        </p:txBody>
      </p:sp>
      <p:sp>
        <p:nvSpPr>
          <p:cNvPr id="6" name="Text 3"/>
          <p:cNvSpPr/>
          <p:nvPr/>
        </p:nvSpPr>
        <p:spPr>
          <a:xfrm>
            <a:off x="822960" y="5212080"/>
            <a:ext cx="45720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Bilim</a:t>
            </a:r>
            <a:pPr indent="0" marL="0">
              <a:buNone/>
            </a:pPr>
            <a:r>
              <a:rPr lang="en-US" sz="3600" b="1" dirty="0">
                <a:solidFill>
                  <a:srgbClr val="5B8BF5"/>
                </a:solidFill>
                <a:latin typeface="Calibri" pitchFamily="34" charset="0"/>
                <a:ea typeface="Calibri" pitchFamily="34" charset="-122"/>
                <a:cs typeface="Calibri" pitchFamily="34" charset="-120"/>
              </a:rPr>
              <a:t>AI</a:t>
            </a:r>
            <a:endParaRPr lang="en-US" sz="3600" dirty="0"/>
          </a:p>
        </p:txBody>
      </p:sp>
      <p:sp>
        <p:nvSpPr>
          <p:cNvPr id="7" name="Text 4"/>
          <p:cNvSpPr/>
          <p:nvPr/>
        </p:nvSpPr>
        <p:spPr>
          <a:xfrm>
            <a:off x="822960" y="5989320"/>
            <a:ext cx="5486400" cy="365760"/>
          </a:xfrm>
          <a:prstGeom prst="rect">
            <a:avLst/>
          </a:prstGeom>
          <a:noFill/>
          <a:ln/>
        </p:spPr>
        <p:txBody>
          <a:bodyPr wrap="square" lIns="0" tIns="0" rIns="0" bIns="0" rtlCol="0" anchor="ctr"/>
          <a:lstStyle/>
          <a:p>
            <a:pPr indent="0" marL="0">
              <a:buNone/>
            </a:pPr>
            <a:r>
              <a:rPr lang="en-US" sz="1300" dirty="0">
                <a:solidFill>
                  <a:srgbClr val="8FA3C8"/>
                </a:solidFill>
                <a:latin typeface="Calibri" pitchFamily="34" charset="0"/>
                <a:ea typeface="Calibri" pitchFamily="34" charset="-122"/>
                <a:cs typeface="Calibri" pitchFamily="34" charset="-120"/>
              </a:rPr>
              <a:t>Tashkent, Uzbekistan · 2026</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SOURCES</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Every number in this deck, cited</a:t>
            </a:r>
            <a:endParaRPr lang="en-US" sz="3400" dirty="0"/>
          </a:p>
        </p:txBody>
      </p:sp>
      <p:sp>
        <p:nvSpPr>
          <p:cNvPr id="4" name="Text 2"/>
          <p:cNvSpPr/>
          <p:nvPr/>
        </p:nvSpPr>
        <p:spPr>
          <a:xfrm>
            <a:off x="548640" y="1691640"/>
            <a:ext cx="5486400" cy="484632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South China Morning Post (2018). “China’s schools are quietly using AI to mark students’ essays” — ~60,000 schools, 120M+ people, 92% human-match. scmp.com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iFLYTEK (2023–24). AI education solutions in 50,000+ schools, 130M+ users. iflytek.com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People’s Daily / China Daily (May 2025). MoE national AI-education curriculum and generative-AI rules for schools.</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TIME (2025). Best Inventions — Squirrel AI adaptive learning, 24M+ students. time.com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(2019). TALIS 2018 Results, Vol. I — 38.8 h week, 20.6 h teaching. oecd.org</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(2025). Results from TALIS 2024 — ~41 h week; marking time up in 16 systems. oecd.org</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UK Dept. for Education (2019). Teacher Workload Survey — 49.5 h term-time week. gov.uk</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OECD TALIS 2024 via Mothership (2025). Singapore: 47 h week, 6.4 h marking.</a:t>
            </a:r>
            <a:endParaRPr lang="en-US" sz="950" dirty="0"/>
          </a:p>
        </p:txBody>
      </p:sp>
      <p:sp>
        <p:nvSpPr>
          <p:cNvPr id="5" name="Text 3"/>
          <p:cNvSpPr/>
          <p:nvPr/>
        </p:nvSpPr>
        <p:spPr>
          <a:xfrm>
            <a:off x="6309360" y="1691640"/>
            <a:ext cx="5486400" cy="4846320"/>
          </a:xfrm>
          <a:prstGeom prst="rect">
            <a:avLst/>
          </a:prstGeom>
          <a:noFill/>
          <a:ln/>
        </p:spPr>
        <p:txBody>
          <a:bodyPr wrap="square" lIns="0" tIns="0" rIns="0" bIns="0" rtlCol="0" anchor="t"/>
          <a:lstStyle/>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Fleckenstein et al. (2023). Frontiers in Artificial Intelligence — automated feedback, g = 0.55 (20 studies, n = 2,828).</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Zhai &amp; Ma (2023). J. of Educational Computing Research — AWE effect on writing, g = 0.861 (26 studies, n = 2,468).</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Hewlett Foundation ASAP / Kaggle (2012). Automated essay scoring benchmark.</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National Statistics Committee of Uzbekistan (2025). 564,900 teachers, 2024/25; +43% vs 2015/16. stat.uz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The Diplomat (2024). 6.5M students, 10,522 schools, 73% multi-shift. thediplomat.com</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Presidential Decree DP-6079 (2020). “Digital Uzbekistan 2030.” lex.uz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Presidential Resolution PQ-358 (2024). National AI Strategy — $1.5B market target. lex.uz</a:t>
            </a:r>
            <a:endParaRPr lang="en-US" sz="950" dirty="0"/>
          </a:p>
          <a:p>
            <a:pPr marL="127000" indent="-127000">
              <a:spcAft>
                <a:spcPts val="600"/>
              </a:spcAft>
              <a:buSzPct val="100000"/>
              <a:buChar char="•"/>
            </a:pPr>
            <a:r>
              <a:rPr lang="en-US" sz="950" dirty="0">
                <a:solidFill>
                  <a:srgbClr val="26304A"/>
                </a:solidFill>
                <a:latin typeface="Calibri" pitchFamily="34" charset="0"/>
                <a:ea typeface="Calibri" pitchFamily="34" charset="-122"/>
                <a:cs typeface="Calibri" pitchFamily="34" charset="-120"/>
              </a:rPr>
              <a:t>Grand View Research (2025). AI-in-education market: $5.88B (2024) → $32.27B (2030). grandviewresearch.com</a:t>
            </a:r>
            <a:endParaRPr lang="en-US" sz="950" dirty="0"/>
          </a:p>
        </p:txBody>
      </p:sp>
      <p:sp>
        <p:nvSpPr>
          <p:cNvPr id="6" name="Text 4"/>
          <p:cNvSpPr/>
          <p:nvPr/>
        </p:nvSpPr>
        <p:spPr>
          <a:xfrm>
            <a:off x="548640" y="6510528"/>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Figures marked “illustrative” or “BilimAI’s model” are our projections, not source data.</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92608"/>
          </a:xfrm>
          <a:prstGeom prst="rect">
            <a:avLst/>
          </a:prstGeom>
          <a:noFill/>
          <a:ln/>
        </p:spPr>
        <p:txBody>
          <a:bodyPr wrap="square" lIns="0" tIns="0" rIns="0" bIns="0" rtlCol="0" anchor="ctr"/>
          <a:lstStyle/>
          <a:p>
            <a:pPr indent="0" marL="0">
              <a:buNone/>
            </a:pPr>
            <a:r>
              <a:rPr lang="en-US" sz="1300" b="1" spc="200" kern="0" dirty="0">
                <a:solidFill>
                  <a:srgbClr val="2158E8"/>
                </a:solidFill>
                <a:latin typeface="Calibri" pitchFamily="34" charset="0"/>
                <a:ea typeface="Calibri" pitchFamily="34" charset="-122"/>
                <a:cs typeface="Calibri" pitchFamily="34" charset="-120"/>
              </a:rPr>
              <a:t>WHERE WE ARE</a:t>
            </a:r>
            <a:endParaRPr lang="en-US" sz="13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400" b="1" dirty="0">
                <a:solidFill>
                  <a:srgbClr val="111A33"/>
                </a:solidFill>
                <a:latin typeface="Calibri" pitchFamily="34" charset="0"/>
                <a:ea typeface="Calibri" pitchFamily="34" charset="-122"/>
                <a:cs typeface="Calibri" pitchFamily="34" charset="-120"/>
              </a:rPr>
              <a:t>A working prototype — measured, not promised</a:t>
            </a:r>
            <a:endParaRPr lang="en-US" sz="3400" dirty="0"/>
          </a:p>
        </p:txBody>
      </p:sp>
      <p:sp>
        <p:nvSpPr>
          <p:cNvPr id="4" name="Text 2"/>
          <p:cNvSpPr/>
          <p:nvPr/>
        </p:nvSpPr>
        <p:spPr>
          <a:xfrm>
            <a:off x="54864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5</a:t>
            </a:r>
            <a:endParaRPr lang="en-US" sz="3000" dirty="0"/>
          </a:p>
        </p:txBody>
      </p:sp>
      <p:sp>
        <p:nvSpPr>
          <p:cNvPr id="5" name="Text 3"/>
          <p:cNvSpPr/>
          <p:nvPr/>
        </p:nvSpPr>
        <p:spPr>
          <a:xfrm>
            <a:off x="54864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assignment types: dictation, math, tests, retelling, open questions</a:t>
            </a:r>
            <a:endParaRPr lang="en-US" sz="1250" dirty="0"/>
          </a:p>
        </p:txBody>
      </p:sp>
      <p:sp>
        <p:nvSpPr>
          <p:cNvPr id="6" name="Text 4"/>
          <p:cNvSpPr/>
          <p:nvPr/>
        </p:nvSpPr>
        <p:spPr>
          <a:xfrm>
            <a:off x="338328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20,000</a:t>
            </a:r>
            <a:endParaRPr lang="en-US" sz="3000" dirty="0"/>
          </a:p>
        </p:txBody>
      </p:sp>
      <p:sp>
        <p:nvSpPr>
          <p:cNvPr id="7" name="Text 5"/>
          <p:cNvSpPr/>
          <p:nvPr/>
        </p:nvSpPr>
        <p:spPr>
          <a:xfrm>
            <a:off x="338328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handwritten notebook lines used in the first training run</a:t>
            </a:r>
            <a:endParaRPr lang="en-US" sz="1250" dirty="0"/>
          </a:p>
        </p:txBody>
      </p:sp>
      <p:sp>
        <p:nvSpPr>
          <p:cNvPr id="8" name="Text 6"/>
          <p:cNvSpPr/>
          <p:nvPr/>
        </p:nvSpPr>
        <p:spPr>
          <a:xfrm>
            <a:off x="6217920" y="1783080"/>
            <a:ext cx="265176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22% → 68%</a:t>
            </a:r>
            <a:endParaRPr lang="en-US" sz="3000" dirty="0"/>
          </a:p>
        </p:txBody>
      </p:sp>
      <p:sp>
        <p:nvSpPr>
          <p:cNvPr id="9" name="Text 7"/>
          <p:cNvSpPr/>
          <p:nvPr/>
        </p:nvSpPr>
        <p:spPr>
          <a:xfrm>
            <a:off x="6217920" y="2441448"/>
            <a:ext cx="265176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letters read correctly on our sealed test set, after one hour of training</a:t>
            </a:r>
            <a:endParaRPr lang="en-US" sz="1250" dirty="0"/>
          </a:p>
        </p:txBody>
      </p:sp>
      <p:sp>
        <p:nvSpPr>
          <p:cNvPr id="10" name="Text 8"/>
          <p:cNvSpPr/>
          <p:nvPr/>
        </p:nvSpPr>
        <p:spPr>
          <a:xfrm>
            <a:off x="9052560" y="1783080"/>
            <a:ext cx="2560320" cy="658368"/>
          </a:xfrm>
          <a:prstGeom prst="rect">
            <a:avLst/>
          </a:prstGeom>
          <a:noFill/>
          <a:ln/>
        </p:spPr>
        <p:txBody>
          <a:bodyPr wrap="square" lIns="0" tIns="0" rIns="0" bIns="0" rtlCol="0" anchor="ctr"/>
          <a:lstStyle/>
          <a:p>
            <a:pPr indent="0" marL="0">
              <a:buNone/>
            </a:pPr>
            <a:r>
              <a:rPr lang="en-US" sz="3000" b="1" dirty="0">
                <a:solidFill>
                  <a:srgbClr val="2158E8"/>
                </a:solidFill>
                <a:latin typeface="Calibri" pitchFamily="34" charset="0"/>
                <a:ea typeface="Calibri" pitchFamily="34" charset="-122"/>
                <a:cs typeface="Calibri" pitchFamily="34" charset="-120"/>
              </a:rPr>
              <a:t>~15 s</a:t>
            </a:r>
            <a:endParaRPr lang="en-US" sz="3000" dirty="0"/>
          </a:p>
        </p:txBody>
      </p:sp>
      <p:sp>
        <p:nvSpPr>
          <p:cNvPr id="11" name="Text 9"/>
          <p:cNvSpPr/>
          <p:nvPr/>
        </p:nvSpPr>
        <p:spPr>
          <a:xfrm>
            <a:off x="9052560" y="2441448"/>
            <a:ext cx="2560320" cy="566928"/>
          </a:xfrm>
          <a:prstGeom prst="rect">
            <a:avLst/>
          </a:prstGeom>
          <a:noFill/>
          <a:ln/>
        </p:spPr>
        <p:txBody>
          <a:bodyPr wrap="square" lIns="0" tIns="0" rIns="0" bIns="0" rtlCol="0" anchor="ctr"/>
          <a:lstStyle/>
          <a:p>
            <a:pPr indent="0" marL="0">
              <a:buNone/>
            </a:pPr>
            <a:r>
              <a:rPr lang="en-US" sz="1250" dirty="0">
                <a:solidFill>
                  <a:srgbClr val="26304A"/>
                </a:solidFill>
                <a:latin typeface="Calibri" pitchFamily="34" charset="0"/>
                <a:ea typeface="Calibri" pitchFamily="34" charset="-122"/>
                <a:cs typeface="Calibri" pitchFamily="34" charset="-120"/>
              </a:rPr>
              <a:t>from a scanned page to a red-marked page with a score card</a:t>
            </a:r>
            <a:endParaRPr lang="en-US" sz="1250" dirty="0"/>
          </a:p>
        </p:txBody>
      </p:sp>
      <p:sp>
        <p:nvSpPr>
          <p:cNvPr id="12" name="Shape 10"/>
          <p:cNvSpPr/>
          <p:nvPr/>
        </p:nvSpPr>
        <p:spPr>
          <a:xfrm>
            <a:off x="548640" y="3154680"/>
            <a:ext cx="6035040" cy="3017520"/>
          </a:xfrm>
          <a:prstGeom prst="roundRect">
            <a:avLst>
              <a:gd name="adj" fmla="val 3636"/>
            </a:avLst>
          </a:prstGeom>
          <a:solidFill>
            <a:srgbClr val="EDF3FC"/>
          </a:solidFill>
          <a:ln/>
        </p:spPr>
      </p:sp>
      <p:sp>
        <p:nvSpPr>
          <p:cNvPr id="16" name="Shape 13"/>
          <p:cNvSpPr/>
          <p:nvPr/>
        </p:nvSpPr>
        <p:spPr>
          <a:xfrm>
            <a:off x="6903720" y="3154680"/>
            <a:ext cx="4736592" cy="3017520"/>
          </a:xfrm>
          <a:prstGeom prst="roundRect">
            <a:avLst>
              <a:gd name="adj" fmla="val 3636"/>
            </a:avLst>
          </a:prstGeom>
          <a:solidFill>
            <a:srgbClr val="111A33"/>
          </a:solidFill>
          <a:ln/>
        </p:spPr>
      </p:sp>
      <p:pic>
        <p:nvPicPr>
          <p:cNvPr id="17" name="Image 0" descr="/private/tmp/claude-501/-Users-furb-x-Desktop-My-Projects/d365b27d-a89f-47fc-8734-df20f634a92b/scratchpad/bilimai/icons/clock-white.png">    </p:cNvPr>
          <p:cNvPicPr>
            <a:picLocks noChangeAspect="1"/>
          </p:cNvPicPr>
          <p:nvPr/>
        </p:nvPicPr>
        <p:blipFill>
          <a:blip r:embed="rId2"/>
          <a:stretch>
            <a:fillRect/>
          </a:stretch>
        </p:blipFill>
        <p:spPr>
          <a:xfrm>
            <a:off x="7223760" y="3474720"/>
            <a:ext cx="457200" cy="457200"/>
          </a:xfrm>
          <a:prstGeom prst="rect">
            <a:avLst/>
          </a:prstGeom>
        </p:spPr>
      </p:pic>
      <p:sp>
        <p:nvSpPr>
          <p:cNvPr id="18" name="Text 14"/>
          <p:cNvSpPr/>
          <p:nvPr/>
        </p:nvSpPr>
        <p:spPr>
          <a:xfrm>
            <a:off x="7223760" y="3977640"/>
            <a:ext cx="41148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Not in scope</a:t>
            </a:r>
            <a:endParaRPr lang="en-US" sz="4400" dirty="0"/>
          </a:p>
        </p:txBody>
      </p:sp>
      <p:sp>
        <p:nvSpPr>
          <p:cNvPr id="19" name="Text 15"/>
          <p:cNvSpPr/>
          <p:nvPr/>
        </p:nvSpPr>
        <p:spPr>
          <a:xfrm>
            <a:off x="7223760" y="4709160"/>
            <a:ext cx="4114800" cy="1280160"/>
          </a:xfrm>
          <a:prstGeom prst="rect">
            <a:avLst/>
          </a:prstGeom>
          <a:noFill/>
          <a:ln/>
        </p:spPr>
        <p:txBody>
          <a:bodyPr wrap="square" lIns="0" tIns="0" rIns="0" bIns="0" rtlCol="0" anchor="ctr"/>
          <a:lstStyle/>
          <a:p>
            <a:pPr indent="0" marL="0">
              <a:buNone/>
            </a:pPr>
            <a:r>
              <a:rPr lang="en-US" sz="1400" dirty="0">
                <a:solidFill>
                  <a:srgbClr val="D8E4FA"/>
                </a:solidFill>
                <a:latin typeface="Calibri" pitchFamily="34" charset="0"/>
                <a:ea typeface="Calibri" pitchFamily="34" charset="-122"/>
                <a:cs typeface="Calibri" pitchFamily="34" charset="-120"/>
              </a:rPr>
              <a:t>Drawings, contour maps, drafting, sketches — about 25 of the 127 assignment types in Uzbek schools. We read and grade what is written; we say plainly what we do not.</a:t>
            </a:r>
            <a:endParaRPr lang="en-US" sz="1400" dirty="0"/>
          </a:p>
        </p:txBody>
      </p:sp>
      <p:sp>
        <p:nvSpPr>
          <p:cNvPr id="20" name="Text 16"/>
          <p:cNvSpPr/>
          <p:nvPr/>
        </p:nvSpPr>
        <p:spPr>
          <a:xfrm>
            <a:off x="548640" y="6455664"/>
            <a:ext cx="1106424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Numbers from our sealed test set: 20 real school-notebook pages, 804 lines. Method, data and code are public.</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2026-08-14T18:48:10Z</dcterms:created>
  <dcterms:modified xsi:type="dcterms:W3CDTF">2026-08-14T18:48:10Z</dcterms:modified>
</cp:coreProperties>
</file>